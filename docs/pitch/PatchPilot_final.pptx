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Default Extension="fntdata" ContentType="application/x-fontdata"/>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60" r:id="rId6"/>
    <p:sldId id="259" r:id="rId5"/>
    <p:sldId id="258" r:id="rId4"/>
    <p:sldId id="261" r:id="rId7"/>
  </p:sldIdLst>
  <p:notesMasterIdLst>
    <p:notesMasterId r:id="rId8"/>
  </p:notesMasterIdLst>
  <p:sldSz cx="12192000" cy="6858000"/>
  <p:notesSz cx="6858000" cy="12192000"/>
  <p:embeddedFontLst>
    <p:embeddedFont>
      <p:font typeface="Inter" panose="02000503000000020004" pitchFamily="34" charset="0"/>
      <p:regular r:id="rId13"/>
      <p:bold r:id="rId14"/>
    </p:embeddedFont>
    <p:embeddedFont>
      <p:font typeface="JetBrains Mono" panose="02000009000000000000" pitchFamily="49" charset="0"/>
      <p:regular r:id="rId15"/>
      <p:bold r:id="rId16"/>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openxmlformats.org/officeDocument/2006/relationships/font" Target="fonts/font1.fntdata"/><Relationship Id="rId14" Type="http://schemas.openxmlformats.org/officeDocument/2006/relationships/font" Target="fonts/font2.fntdata"/><Relationship Id="rId15" Type="http://schemas.openxmlformats.org/officeDocument/2006/relationships/font" Target="fonts/font3.fntdata"/><Relationship Id="rId16" Type="http://schemas.openxmlformats.org/officeDocument/2006/relationships/font" Target="fonts/font4.fntdata"/>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in one breath: triage eats hours before a fix can even start. PatchPilot's answer is a fix you can check: a test that fails before and passes after, and a PR you approve.</a:t>
            </a:r>
          </a:p>
          <a:p>
            <a:r>
              <a:rPr lang="en-US" dirty="0"/>
              <a:t>Introduce the team.</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problem: before anyone can write a fix, someone has to decode the report, reproduce it by hand and find the code responsible. Stripe's 2018 survey puts debugging and maintenance at about 17 hours a week per developer.</a:t>
            </a:r>
          </a:p>
          <a:p>
            <a:r>
              <a:rPr lang="en-US" dirty="0"/>
              <a:t>Right, the solution in one line: paste an issue link, get a proven fix. Four steps: reproduce the bug with a failing test, fix it, verify the test now passes in a fresh sandbox, and you approve before any pull request opens.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system view, kept light on purpose. Read it left to right. The user talks to a UI and an API that never runs repository code. The orchestrator owns state and gates.</a:t>
            </a:r>
          </a:p>
          <a:p>
            <a:r>
              <a:rPr lang="en-US" dirty="0"/>
              <a:t>Anything that runs repository code lives in the untrusted Docker zone, with no credentials and no network after setup. Only the publisher holds a GitHub write token.</a:t>
            </a:r>
          </a:p>
          <a:p>
            <a:r>
              <a:rPr lang="en-US" dirty="0"/>
              <a:t>SupplyGuard is our dependency scanner: it checks the repo's lock file before anything is installed.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run, left to right, and the only place the pipeline appears. Orange dots are AI roles that propose work. Diamonds are code gates that run the tests and decide pass or fail; the AI never writes a status.</a:t>
            </a:r>
          </a:p>
          <a:p>
            <a:r>
              <a:rPr lang="en-US" dirty="0"/>
              <a:t>If Verify fails, the run goes back to Fix: the Fixer gets up to three tries, then one re-diagnosis, then the run ends with a triage report (config/limits.toml: fixer = 3, rediagnose = 1).</a:t>
            </a:r>
          </a:p>
          <a:p>
            <a:r>
              <a:rPr lang="en-US" dirty="0"/>
              <a:t>A human approves the exact diff before anything is published.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live PatchPilot run (about 7 minutes) on a bug we planted in tinycalc, our own small demo repo. Every gate passed, and we checked the fix by hand.</a:t>
            </a:r>
          </a:p>
          <a:p>
            <a:r>
              <a:rPr lang="en-US" dirty="0"/>
              <a:t>Today PatchPilot fixed all 3 planted bugs (2 verified, 1 where the reviewer flagged a behaviour change), and the full path ran twice on the public URL with real GitHub sign-in, opening draft PRs tinycalc #4 and #5.</a:t>
            </a:r>
          </a:p>
          <a:p>
            <a:r>
              <a:rPr lang="en-US" dirty="0"/>
              <a:t>1: the new test fails twice on the original code and passes twice after the fix, in a fresh sandbox.</a:t>
            </a:r>
          </a:p>
          <a:p>
            <a:r>
              <a:rPr lang="en-US" dirty="0"/>
              <a:t>2: the fix also passes a hidden variant of the test that the Fixer never saw, so it can't just special-case the test.</a:t>
            </a:r>
          </a:p>
          <a:p>
            <a:r>
              <a:rPr lang="en-US" dirty="0"/>
              <a:t>3: nothing is published until a human reads and approves this exact diff.</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on screen for Q&amp;A. Left: who it's for. Maintainers get proven PRs, newcomers get explanations, teams come next (a proposal, not a commitment).</a:t>
            </a:r>
          </a:p>
          <a:p>
            <a:r>
              <a:rPr lang="en-US" dirty="0"/>
              <a:t>What sets it apart: other coding agents open a PR and hope. PatchPilot proves the fix with a test that fails before and passes after, or hands back an honest triage report.</a:t>
            </a:r>
          </a:p>
          <a:p>
            <a:r>
              <a:rPr lang="en-US" dirty="0"/>
              <a:t>Right: bugs in, proof out.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Slide-background-1-image-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Slide-background-2-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3B1B0D"/>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59745"/>
            <a:ext cx="10566400" cy="449792"/>
          </a:xfrm>
          <a:prstGeom prst="rect">
            <a:avLst/>
          </a:prstGeom>
          <a:noFill/>
          <a:ln/>
        </p:spPr>
        <p:txBody>
          <a:bodyPr wrap="square" lIns="0" tIns="0" rIns="0" bIns="0" rtlCol="0" anchor="t"/>
          <a:lstStyle>
            <a:lvl1pPr algn="l" indent="0" marL="0">
              <a:lnSpc>
                <a:spcPct val="115000"/>
              </a:lnSpc>
              <a:buNone/>
              <a:defRPr lang="en-US" sz="2800" dirty="0">
                <a:solidFill>
                  <a:srgbClr val="F2EDE8"/>
                </a:solidFill>
                <a:latin typeface="Inter" pitchFamily="34" charset="0"/>
                <a:ea typeface="Inter" pitchFamily="34" charset="-122"/>
                <a:cs typeface="Inter" pitchFamily="34" charset="-120"/>
              </a:defRPr>
            </a:lvl1pPr>
          </a:lstStyle>
          <a:p>
            <a:pPr algn="l" indent="0" marL="0">
              <a:lnSpc>
                <a:spcPct val="115000"/>
              </a:lnSpc>
              <a:buNone/>
            </a:pPr>
            <a:endParaRPr lang="en-US" sz="2800" dirty="0"/>
          </a:p>
        </p:txBody>
      </p:sp>
      <p:sp>
        <p:nvSpPr>
          <p:cNvPr id="3" name="Text Placeholder 2"/>
          <p:cNvSpPr/>
          <p:nvPr>
            <p:ph idx="101" type="body"/>
          </p:nvPr>
        </p:nvSpPr>
        <p:spPr>
          <a:xfrm>
            <a:off x="812800" y="1914337"/>
            <a:ext cx="10566400" cy="4130863"/>
          </a:xfrm>
          <a:prstGeom prst="rect">
            <a:avLst/>
          </a:prstGeom>
          <a:noFill/>
          <a:ln/>
        </p:spPr>
        <p:txBody>
          <a:bodyPr wrap="square" lIns="0" tIns="0" rIns="0" bIns="0" rtlCol="0" anchor="t"/>
          <a:lstStyle>
            <a:lvl1pPr algn="l" indent="0" marL="0">
              <a:lnSpc>
                <a:spcPct val="140000"/>
              </a:lnSpc>
              <a:buNone/>
              <a:defRPr lang="en-US" sz="1600" dirty="0">
                <a:solidFill>
                  <a:srgbClr val="F2EDE8"/>
                </a:solidFill>
                <a:latin typeface="Inter" pitchFamily="34" charset="0"/>
                <a:ea typeface="Inter" pitchFamily="34" charset="-122"/>
                <a:cs typeface="Inter" pitchFamily="34" charset="-120"/>
              </a:defRPr>
            </a:lvl1pPr>
          </a:lstStyle>
          <a:p>
            <a:pPr algn="l" indent="0" marL="0">
              <a:lnSpc>
                <a:spcPct val="140000"/>
              </a:lnSpc>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lide background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p:nvPr>
            <p:ph type="title"/>
          </p:nvPr>
        </p:nvSpPr>
        <p:spPr>
          <a:xfrm>
            <a:off x="812800" y="1159745"/>
            <a:ext cx="10566400" cy="449792"/>
          </a:xfrm>
          <a:prstGeom prst="rect">
            <a:avLst/>
          </a:prstGeom>
          <a:noFill/>
          <a:ln/>
        </p:spPr>
        <p:txBody>
          <a:bodyPr wrap="square" lIns="0" tIns="0" rIns="0" bIns="0" rtlCol="0" anchor="t"/>
          <a:lstStyle>
            <a:lvl1pPr algn="l" indent="0" marL="0">
              <a:lnSpc>
                <a:spcPct val="115000"/>
              </a:lnSpc>
              <a:buNone/>
              <a:defRPr lang="en-US" sz="2800" dirty="0">
                <a:solidFill>
                  <a:srgbClr val="F2EDE8"/>
                </a:solidFill>
                <a:latin typeface="Inter" pitchFamily="34" charset="0"/>
                <a:ea typeface="Inter" pitchFamily="34" charset="-122"/>
                <a:cs typeface="Inter" pitchFamily="34" charset="-120"/>
              </a:defRPr>
            </a:lvl1pPr>
          </a:lstStyle>
          <a:p>
            <a:pPr algn="l" indent="0" marL="0">
              <a:lnSpc>
                <a:spcPct val="115000"/>
              </a:lnSpc>
              <a:buNone/>
            </a:pPr>
            <a:endParaRPr lang="en-US" sz="2800" dirty="0"/>
          </a:p>
        </p:txBody>
      </p:sp>
      <p:sp>
        <p:nvSpPr>
          <p:cNvPr id="3" name="Text Placeholder 2"/>
          <p:cNvSpPr/>
          <p:nvPr>
            <p:ph idx="101" type="body"/>
          </p:nvPr>
        </p:nvSpPr>
        <p:spPr>
          <a:xfrm>
            <a:off x="812800" y="1914337"/>
            <a:ext cx="10566400" cy="4130863"/>
          </a:xfrm>
          <a:prstGeom prst="rect">
            <a:avLst/>
          </a:prstGeom>
          <a:noFill/>
          <a:ln/>
        </p:spPr>
        <p:txBody>
          <a:bodyPr wrap="square" lIns="0" tIns="0" rIns="0" bIns="0" rtlCol="0" anchor="t"/>
          <a:lstStyle>
            <a:lvl1pPr algn="l" indent="0" marL="0">
              <a:lnSpc>
                <a:spcPct val="140000"/>
              </a:lnSpc>
              <a:buNone/>
              <a:defRPr lang="en-US" sz="1600" dirty="0">
                <a:solidFill>
                  <a:srgbClr val="F2EDE8"/>
                </a:solidFill>
                <a:latin typeface="Inter" pitchFamily="34" charset="0"/>
                <a:ea typeface="Inter" pitchFamily="34" charset="-122"/>
                <a:cs typeface="Inter" pitchFamily="34" charset="-120"/>
              </a:defRPr>
            </a:lvl1pPr>
          </a:lstStyle>
          <a:p>
            <a:pPr algn="l" indent="0" marL="0">
              <a:lnSpc>
                <a:spcPct val="140000"/>
              </a:lnSpc>
              <a:buNone/>
            </a:pPr>
            <a:endParaRPr lang="en-US" sz="1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lide background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p:nvPr>
            <p:ph type="title"/>
          </p:nvPr>
        </p:nvSpPr>
        <p:spPr>
          <a:xfrm>
            <a:off x="812800" y="1159745"/>
            <a:ext cx="10566400" cy="449792"/>
          </a:xfrm>
          <a:prstGeom prst="rect">
            <a:avLst/>
          </a:prstGeom>
          <a:noFill/>
          <a:ln/>
        </p:spPr>
        <p:txBody>
          <a:bodyPr wrap="square" lIns="0" tIns="0" rIns="0" bIns="0" rtlCol="0" anchor="t"/>
          <a:lstStyle>
            <a:lvl1pPr algn="l" indent="0" marL="0">
              <a:lnSpc>
                <a:spcPct val="115000"/>
              </a:lnSpc>
              <a:buNone/>
              <a:defRPr lang="en-US" sz="2800" dirty="0">
                <a:solidFill>
                  <a:srgbClr val="F2EDE8"/>
                </a:solidFill>
                <a:latin typeface="Inter" pitchFamily="34" charset="0"/>
                <a:ea typeface="Inter" pitchFamily="34" charset="-122"/>
                <a:cs typeface="Inter" pitchFamily="34" charset="-120"/>
              </a:defRPr>
            </a:lvl1pPr>
          </a:lstStyle>
          <a:p>
            <a:pPr algn="l" indent="0" marL="0">
              <a:lnSpc>
                <a:spcPct val="115000"/>
              </a:lnSpc>
              <a:buNone/>
            </a:pPr>
            <a:endParaRPr lang="en-US" sz="2800" dirty="0"/>
          </a:p>
        </p:txBody>
      </p:sp>
      <p:sp>
        <p:nvSpPr>
          <p:cNvPr id="3" name="Text Placeholder 2"/>
          <p:cNvSpPr/>
          <p:nvPr>
            <p:ph idx="101" type="body"/>
          </p:nvPr>
        </p:nvSpPr>
        <p:spPr>
          <a:xfrm>
            <a:off x="812800" y="1914337"/>
            <a:ext cx="10566400" cy="4130863"/>
          </a:xfrm>
          <a:prstGeom prst="rect">
            <a:avLst/>
          </a:prstGeom>
          <a:noFill/>
          <a:ln/>
        </p:spPr>
        <p:txBody>
          <a:bodyPr wrap="square" lIns="0" tIns="0" rIns="0" bIns="0" rtlCol="0" anchor="t"/>
          <a:lstStyle>
            <a:lvl1pPr algn="l" indent="0" marL="0">
              <a:lnSpc>
                <a:spcPct val="140000"/>
              </a:lnSpc>
              <a:buNone/>
              <a:defRPr lang="en-US" sz="1600" dirty="0">
                <a:solidFill>
                  <a:srgbClr val="F2EDE8"/>
                </a:solidFill>
                <a:latin typeface="Inter" pitchFamily="34" charset="0"/>
                <a:ea typeface="Inter" pitchFamily="34" charset="-122"/>
                <a:cs typeface="Inter"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3B1B0D"/>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59745"/>
            <a:ext cx="10566400" cy="449792"/>
          </a:xfrm>
          <a:prstGeom prst="rect">
            <a:avLst/>
          </a:prstGeom>
          <a:noFill/>
          <a:ln/>
        </p:spPr>
        <p:txBody>
          <a:bodyPr wrap="square" lIns="0" tIns="0" rIns="0" bIns="0" rtlCol="0" anchor="t"/>
          <a:lstStyle>
            <a:lvl1pPr algn="l" indent="0" marL="0">
              <a:lnSpc>
                <a:spcPct val="115000"/>
              </a:lnSpc>
              <a:buNone/>
              <a:defRPr lang="en-US" sz="2800" dirty="0">
                <a:solidFill>
                  <a:srgbClr val="F2EDE8"/>
                </a:solidFill>
                <a:latin typeface="Inter" pitchFamily="34" charset="0"/>
                <a:ea typeface="Inter" pitchFamily="34" charset="-122"/>
                <a:cs typeface="Inter" pitchFamily="34" charset="-120"/>
              </a:defRPr>
            </a:lvl1pPr>
          </a:lstStyle>
          <a:p>
            <a:pPr algn="l" indent="0" marL="0">
              <a:lnSpc>
                <a:spcPct val="115000"/>
              </a:lnSpc>
              <a:buNone/>
            </a:pPr>
            <a:endParaRPr lang="en-US" sz="2800" dirty="0"/>
          </a:p>
        </p:txBody>
      </p:sp>
      <p:sp>
        <p:nvSpPr>
          <p:cNvPr id="3" name="Text Placeholder 2"/>
          <p:cNvSpPr/>
          <p:nvPr>
            <p:ph idx="101" type="body"/>
          </p:nvPr>
        </p:nvSpPr>
        <p:spPr>
          <a:xfrm>
            <a:off x="812800" y="1914337"/>
            <a:ext cx="10566400" cy="4130863"/>
          </a:xfrm>
          <a:prstGeom prst="rect">
            <a:avLst/>
          </a:prstGeom>
          <a:noFill/>
          <a:ln/>
        </p:spPr>
        <p:txBody>
          <a:bodyPr wrap="square" lIns="0" tIns="0" rIns="0" bIns="0" rtlCol="0" anchor="t"/>
          <a:lstStyle>
            <a:lvl1pPr algn="l" indent="0" marL="0">
              <a:lnSpc>
                <a:spcPct val="140000"/>
              </a:lnSpc>
              <a:buNone/>
              <a:defRPr lang="en-US" sz="1600" dirty="0">
                <a:solidFill>
                  <a:srgbClr val="F2EDE8"/>
                </a:solidFill>
                <a:latin typeface="Inter" pitchFamily="34" charset="0"/>
                <a:ea typeface="Inter" pitchFamily="34" charset="-122"/>
                <a:cs typeface="Inter" pitchFamily="34" charset="-120"/>
              </a:defRPr>
            </a:lvl1pPr>
          </a:lstStyle>
          <a:p>
            <a:pPr algn="l" indent="0" marL="0">
              <a:lnSpc>
                <a:spcPct val="140000"/>
              </a:lnSpc>
              <a:buNone/>
            </a:pPr>
            <a:endParaRPr lang="en-US" sz="1600" dirty="0"/>
          </a:p>
        </p:txBody>
      </p:sp>
    </p:spTree>
  </p:cSld>
  <p:clrMap bg1="dk1" tx1="lt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image" Target="../media/image-3-12.png"/><Relationship Id="rId13" Type="http://schemas.openxmlformats.org/officeDocument/2006/relationships/image" Target="../media/image-3-13.png"/><Relationship Id="rId14" Type="http://schemas.openxmlformats.org/officeDocument/2006/relationships/image" Target="../media/image-3-14.png"/><Relationship Id="rId15" Type="http://schemas.openxmlformats.org/officeDocument/2006/relationships/image" Target="../media/image-3-15.png"/><Relationship Id="rId16" Type="http://schemas.openxmlformats.org/officeDocument/2006/relationships/image" Target="../media/image-3-16.png"/><Relationship Id="rId17" Type="http://schemas.openxmlformats.org/officeDocument/2006/relationships/image" Target="../media/image-3-17.png"/><Relationship Id="rId18" Type="http://schemas.openxmlformats.org/officeDocument/2006/relationships/slideLayout" Target="../slideLayouts/slideLayout2.xml"/><Relationship Id="rId1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4.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slideLayout" Target="../slideLayouts/slideLayout4.xml"/><Relationship Id="rId9" Type="http://schemas.openxmlformats.org/officeDocument/2006/relationships/notesSlide" Target="../notesSlides/notesSlide5.xml"/><Relationship Id="rIdShot0" Type="http://schemas.openxmlformats.org/officeDocument/2006/relationships/image" Target="../media/w-run.png"/><Relationship Id="rIdShot1" Type="http://schemas.openxmlformats.org/officeDocument/2006/relationships/image" Target="../media/w-review.png"/></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Orange orb with a check mark, ringed by dotted lines and code lines">    </p:cNvPr>
          <p:cNvPicPr>
            <a:picLocks noChangeAspect="1"/>
          </p:cNvPicPr>
          <p:nvPr/>
        </p:nvPicPr>
        <p:blipFill>
          <a:blip r:embed="rId1"/>
          <a:srcRect l="0" r="0" t="0" b="0"/>
          <a:stretch/>
        </p:blipFill>
        <p:spPr>
          <a:xfrm>
            <a:off x="6400800" y="1066800"/>
            <a:ext cx="4978400" cy="4978400"/>
          </a:xfrm>
          <a:prstGeom prst="rect">
            <a:avLst/>
          </a:prstGeom>
        </p:spPr>
      </p:pic>
      <p:sp>
        <p:nvSpPr>
          <p:cNvPr id="3" name="Text 0"/>
          <p:cNvSpPr/>
          <p:nvPr/>
        </p:nvSpPr>
        <p:spPr>
          <a:xfrm>
            <a:off x="812800" y="812800"/>
            <a:ext cx="10883392" cy="311679"/>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F08A57"/>
                </a:solidFill>
                <a:latin typeface="JetBrains Mono" pitchFamily="49" charset="0"/>
                <a:ea typeface="JetBrains Mono" pitchFamily="49" charset="-122"/>
                <a:cs typeface="JetBrains Mono" pitchFamily="49" charset="-120"/>
              </a:rPr>
              <a:t>[ PS-05 · Bug-fix agent ]</a:t>
            </a:r>
            <a:endParaRPr lang="en-US" sz="1400" dirty="0"/>
          </a:p>
        </p:txBody>
      </p:sp>
      <p:sp>
        <p:nvSpPr>
          <p:cNvPr id="4" name="Text 1"/>
          <p:cNvSpPr/>
          <p:nvPr>
            <p:ph type="title"/>
          </p:nvPr>
        </p:nvSpPr>
        <p:spPr>
          <a:xfrm>
            <a:off x="812800" y="1291620"/>
            <a:ext cx="10883392" cy="1374888"/>
          </a:xfrm>
          <a:prstGeom prst="rect">
            <a:avLst/>
          </a:prstGeom>
          <a:noFill/>
          <a:ln/>
        </p:spPr>
        <p:txBody>
          <a:bodyPr wrap="square" lIns="0" tIns="0" rIns="0" bIns="0" rtlCol="0" anchor="t">
            <a:normAutofit/>
          </a:bodyPr>
          <a:lstStyle/>
          <a:p>
            <a:pPr algn="l" indent="0" marL="0">
              <a:lnSpc>
                <a:spcPts val="9240"/>
              </a:lnSpc>
              <a:buNone/>
            </a:pPr>
            <a:r>
              <a:rPr lang="en-US" sz="8800" b="1" i="0" spc="-200" kern="0" dirty="0">
                <a:solidFill>
                  <a:srgbClr val="F2EDE8"/>
                </a:solidFill>
                <a:latin typeface="Inter" pitchFamily="34" charset="0"/>
                <a:ea typeface="Inter" pitchFamily="34" charset="-122"/>
                <a:cs typeface="Inter" pitchFamily="34" charset="-120"/>
              </a:rPr>
              <a:t>PatchPilot</a:t>
            </a:r>
            <a:endParaRPr lang="en-US" sz="8800" dirty="0"/>
          </a:p>
        </p:txBody>
      </p:sp>
      <p:sp>
        <p:nvSpPr>
          <p:cNvPr id="5" name="Text 2"/>
          <p:cNvSpPr/>
          <p:nvPr/>
        </p:nvSpPr>
        <p:spPr>
          <a:xfrm>
            <a:off x="812800" y="2844309"/>
            <a:ext cx="6540500" cy="1320000"/>
          </a:xfrm>
          <a:prstGeom prst="rect">
            <a:avLst/>
          </a:prstGeom>
          <a:noFill/>
          <a:ln/>
        </p:spPr>
        <p:txBody>
          <a:bodyPr wrap="square" lIns="0" tIns="0" rIns="0" bIns="0" rtlCol="0" anchor="t">
            <a:normAutofit/>
          </a:bodyPr>
          <a:lstStyle/>
          <a:p>
            <a:pPr algn="l" indent="0" marL="0">
              <a:lnSpc>
                <a:spcPts val="3220"/>
              </a:lnSpc>
              <a:buNone/>
            </a:pPr>
            <a:r>
              <a:rPr lang="en-US" sz="2800" dirty="0">
                <a:solidFill>
                  <a:srgbClr val="F2EDE8"/>
                </a:solidFill>
                <a:latin typeface="Inter" pitchFamily="34" charset="0"/>
                <a:ea typeface="Inter" pitchFamily="34" charset="-122"/>
                <a:cs typeface="Inter" pitchFamily="34" charset="-120"/>
              </a:rPr>
              <a:t>Paste a GitHub issue. Get a fix proven by a failing-then-passing test, and a PR you approve.</a:t>
            </a:r>
            <a:endParaRPr lang="en-US" sz="2800" dirty="0"/>
          </a:p>
        </p:txBody>
      </p:sp>
      <p:sp>
        <p:nvSpPr>
          <p:cNvPr id="9" name="Text 6"/>
          <p:cNvSpPr/>
          <p:nvPr/>
        </p:nvSpPr>
        <p:spPr>
          <a:xfrm>
            <a:off x="812800" y="5799856"/>
            <a:ext cx="10883392" cy="270744"/>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89C92"/>
                </a:solidFill>
                <a:latin typeface="JetBrains Mono" pitchFamily="49" charset="0"/>
                <a:ea typeface="JetBrains Mono" pitchFamily="49" charset="-122"/>
                <a:cs typeface="JetBrains Mono" pitchFamily="49" charset="-120"/>
              </a:rPr>
              <a:t>Team · Niranjan Iyer · Swarali Patil · Devansh Narlawar · Sarthak Viche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812800" y="812800"/>
            <a:ext cx="3270250" cy="270744"/>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08A57"/>
                </a:solidFill>
                <a:latin typeface="JetBrains Mono" pitchFamily="49" charset="0"/>
                <a:ea typeface="JetBrains Mono" pitchFamily="49" charset="-122"/>
                <a:cs typeface="JetBrains Mono" pitchFamily="49" charset="-120"/>
              </a:rPr>
              <a:t>[ The problem ]</a:t>
            </a:r>
            <a:endParaRPr lang="en-US" sz="1200" dirty="0"/>
          </a:p>
        </p:txBody>
      </p:sp>
      <p:sp>
        <p:nvSpPr>
          <p:cNvPr id="3" name="Text 1"/>
          <p:cNvSpPr/>
          <p:nvPr/>
        </p:nvSpPr>
        <p:spPr>
          <a:xfrm>
            <a:off x="812800" y="1261345"/>
            <a:ext cx="3270250" cy="1374775"/>
          </a:xfrm>
          <a:prstGeom prst="rect">
            <a:avLst/>
          </a:prstGeom>
          <a:noFill/>
          <a:ln/>
        </p:spPr>
        <p:txBody>
          <a:bodyPr wrap="square" lIns="0" tIns="0" rIns="0" bIns="0" rtlCol="0" anchor="t">
            <a:normAutofit/>
          </a:bodyPr>
          <a:lstStyle/>
          <a:p>
            <a:pPr algn="l" indent="0" marL="0">
              <a:lnSpc>
                <a:spcPts val="3080"/>
              </a:lnSpc>
              <a:buNone/>
            </a:pPr>
            <a:r>
              <a:rPr lang="en-US" sz="2800" b="1" spc="-50" kern="0" dirty="0">
                <a:solidFill>
                  <a:srgbClr val="F2EDE8"/>
                </a:solidFill>
                <a:latin typeface="Inter" pitchFamily="34" charset="0"/>
                <a:ea typeface="Inter" pitchFamily="34" charset="-122"/>
                <a:cs typeface="Inter" pitchFamily="34" charset="-120"/>
              </a:rPr>
              <a:t>Bugs eat hours before any fix begins.</a:t>
            </a:r>
            <a:endParaRPr lang="en-US" sz="2800" dirty="0"/>
          </a:p>
        </p:txBody>
      </p:sp>
      <p:sp>
        <p:nvSpPr>
          <p:cNvPr id="4" name="Shape 2"/>
          <p:cNvSpPr/>
          <p:nvPr/>
        </p:nvSpPr>
        <p:spPr>
          <a:xfrm>
            <a:off x="812800" y="2817095"/>
            <a:ext cx="3175000" cy="0"/>
          </a:xfrm>
          <a:prstGeom prst="line">
            <a:avLst/>
          </a:prstGeom>
          <a:noFill/>
          <a:ln w="6350">
            <a:solidFill>
              <a:srgbClr val="3A2C23"/>
            </a:solidFill>
            <a:prstDash val="solid"/>
          </a:ln>
        </p:spPr>
      </p:sp>
      <p:sp>
        <p:nvSpPr>
          <p:cNvPr id="5" name="Text 3"/>
          <p:cNvSpPr/>
          <p:nvPr/>
        </p:nvSpPr>
        <p:spPr>
          <a:xfrm>
            <a:off x="812800" y="3021957"/>
            <a:ext cx="3270250" cy="301436"/>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C9BDB3"/>
                </a:solidFill>
                <a:latin typeface="Inter" pitchFamily="34" charset="0"/>
                <a:ea typeface="Inter" pitchFamily="34" charset="-122"/>
                <a:cs typeface="Inter" pitchFamily="34" charset="-120"/>
              </a:rPr>
              <a:t>Decode what the reporter meant</a:t>
            </a:r>
            <a:endParaRPr lang="en-US" sz="1400" dirty="0"/>
          </a:p>
        </p:txBody>
      </p:sp>
      <p:sp>
        <p:nvSpPr>
          <p:cNvPr id="6" name="Text 4"/>
          <p:cNvSpPr/>
          <p:nvPr/>
        </p:nvSpPr>
        <p:spPr>
          <a:xfrm>
            <a:off x="812800" y="3424993"/>
            <a:ext cx="3270250" cy="301436"/>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C9BDB3"/>
                </a:solidFill>
                <a:latin typeface="Inter" pitchFamily="34" charset="0"/>
                <a:ea typeface="Inter" pitchFamily="34" charset="-122"/>
                <a:cs typeface="Inter" pitchFamily="34" charset="-120"/>
              </a:rPr>
              <a:t>Reproduce the bug by hand</a:t>
            </a:r>
            <a:endParaRPr lang="en-US" sz="1400" dirty="0"/>
          </a:p>
        </p:txBody>
      </p:sp>
      <p:sp>
        <p:nvSpPr>
          <p:cNvPr id="7" name="Text 5"/>
          <p:cNvSpPr/>
          <p:nvPr/>
        </p:nvSpPr>
        <p:spPr>
          <a:xfrm>
            <a:off x="812800" y="3828030"/>
            <a:ext cx="3270250" cy="301436"/>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C9BDB3"/>
                </a:solidFill>
                <a:latin typeface="Inter" pitchFamily="34" charset="0"/>
                <a:ea typeface="Inter" pitchFamily="34" charset="-122"/>
                <a:cs typeface="Inter" pitchFamily="34" charset="-120"/>
              </a:rPr>
              <a:t>Hunt for the code responsible</a:t>
            </a:r>
            <a:endParaRPr lang="en-US" sz="1400" dirty="0"/>
          </a:p>
        </p:txBody>
      </p:sp>
      <p:sp>
        <p:nvSpPr>
          <p:cNvPr id="43" name="Text 3 copy 43"/>
          <p:cNvSpPr/>
          <p:nvPr/>
        </p:nvSpPr>
        <p:spPr>
          <a:xfrm>
            <a:off x="812800" y="4480000"/>
            <a:ext cx="3270250" cy="560000"/>
          </a:xfrm>
          <a:prstGeom prst="rect">
            <a:avLst/>
          </a:prstGeom>
          <a:noFill/>
          <a:ln/>
        </p:spPr>
        <p:txBody>
          <a:bodyPr wrap="square" lIns="0" tIns="0" rIns="0" bIns="0" rtlCol="0" anchor="t">
            <a:normAutofit/>
          </a:bodyPr>
          <a:lstStyle/>
          <a:p>
            <a:pPr algn="l" indent="0" marL="0">
              <a:lnSpc>
                <a:spcPts val="4000"/>
              </a:lnSpc>
              <a:buNone/>
            </a:pPr>
            <a:r>
              <a:rPr lang="en-US" sz="3600" dirty="0" b="1">
                <a:solidFill>
                  <a:srgbClr val="E8652B"/>
                </a:solidFill>
                <a:latin typeface="Inter" pitchFamily="34" charset="0"/>
                <a:ea typeface="Inter" pitchFamily="34" charset="-122"/>
                <a:cs typeface="Inter" pitchFamily="34" charset="-120"/>
              </a:rPr>
              <a:t>17.3 hrs</a:t>
            </a:r>
            <a:endParaRPr lang="en-US" sz="3600" dirty="0"/>
          </a:p>
        </p:txBody>
      </p:sp>
      <p:sp>
        <p:nvSpPr>
          <p:cNvPr id="44" name="Text 3 copy 44"/>
          <p:cNvSpPr/>
          <p:nvPr/>
        </p:nvSpPr>
        <p:spPr>
          <a:xfrm>
            <a:off x="812800" y="5060000"/>
            <a:ext cx="3100000" cy="560000"/>
          </a:xfrm>
          <a:prstGeom prst="rect">
            <a:avLst/>
          </a:prstGeom>
          <a:noFill/>
          <a:ln/>
        </p:spPr>
        <p:txBody>
          <a:bodyPr wrap="square" lIns="0" tIns="0" rIns="0" bIns="0" rtlCol="0" anchor="t">
            <a:normAutofit/>
          </a:bodyPr>
          <a:lstStyle/>
          <a:p>
            <a:pPr algn="l" indent="0" marL="0">
              <a:lnSpc>
                <a:spcPts val="1600"/>
              </a:lnSpc>
              <a:buNone/>
            </a:pPr>
            <a:r>
              <a:rPr lang="en-US" sz="1200" dirty="0">
                <a:solidFill>
                  <a:srgbClr val="A89C92"/>
                </a:solidFill>
                <a:latin typeface="Inter" pitchFamily="34" charset="0"/>
                <a:ea typeface="Inter" pitchFamily="34" charset="-122"/>
                <a:cs typeface="Inter" pitchFamily="34" charset="-120"/>
              </a:rPr>
              <a:t>a week, on average, that a developer spends on debugging and maintenance.</a:t>
            </a:r>
            <a:endParaRPr lang="en-US" sz="1200" dirty="0"/>
          </a:p>
        </p:txBody>
      </p:sp>
      <p:sp>
        <p:nvSpPr>
          <p:cNvPr id="45" name="Text 0 copy 45"/>
          <p:cNvSpPr/>
          <p:nvPr/>
        </p:nvSpPr>
        <p:spPr>
          <a:xfrm>
            <a:off x="812800" y="5700000"/>
            <a:ext cx="3270250" cy="200000"/>
          </a:xfrm>
          <a:prstGeom prst="rect">
            <a:avLst/>
          </a:prstGeom>
          <a:noFill/>
          <a:ln/>
        </p:spPr>
        <p:txBody>
          <a:bodyPr wrap="square" lIns="0" tIns="0" rIns="0" bIns="0" rtlCol="0" anchor="t">
            <a:normAutofit/>
          </a:bodyPr>
          <a:lstStyle/>
          <a:p>
            <a:pPr algn="l" indent="0" marL="0">
              <a:lnSpc>
                <a:spcPts val="1200"/>
              </a:lnSpc>
              <a:buNone/>
            </a:pPr>
            <a:r>
              <a:rPr lang="en-US" sz="900" dirty="0">
                <a:solidFill>
                  <a:srgbClr val="7A6E65"/>
                </a:solidFill>
                <a:latin typeface="JetBrains Mono" pitchFamily="49" charset="0"/>
                <a:ea typeface="JetBrains Mono" pitchFamily="49" charset="-122"/>
                <a:cs typeface="JetBrains Mono" pitchFamily="49" charset="-120"/>
              </a:rPr>
              <a:t>Source: Stripe, Developer Coefficient, 2018</a:t>
            </a:r>
            <a:endParaRPr lang="en-US" sz="900" dirty="0"/>
          </a:p>
        </p:txBody>
      </p:sp>
      <p:sp>
        <p:nvSpPr>
          <p:cNvPr id="8" name="Text 6"/>
          <p:cNvSpPr/>
          <p:nvPr/>
        </p:nvSpPr>
        <p:spPr>
          <a:xfrm>
            <a:off x="4394200" y="812800"/>
            <a:ext cx="7194550" cy="270744"/>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08A57"/>
                </a:solidFill>
                <a:latin typeface="JetBrains Mono" pitchFamily="49" charset="0"/>
                <a:ea typeface="JetBrains Mono" pitchFamily="49" charset="-122"/>
                <a:cs typeface="JetBrains Mono" pitchFamily="49" charset="-120"/>
              </a:rPr>
              <a:t>[ The solution ]</a:t>
            </a:r>
            <a:endParaRPr lang="en-US" sz="1200" dirty="0"/>
          </a:p>
        </p:txBody>
      </p:sp>
      <p:sp>
        <p:nvSpPr>
          <p:cNvPr id="9" name="Text 7"/>
          <p:cNvSpPr/>
          <p:nvPr/>
        </p:nvSpPr>
        <p:spPr>
          <a:xfrm>
            <a:off x="4394200" y="1235945"/>
            <a:ext cx="7797800" cy="475192"/>
          </a:xfrm>
          <a:prstGeom prst="rect">
            <a:avLst/>
          </a:prstGeom>
          <a:noFill/>
          <a:ln/>
        </p:spPr>
        <p:txBody>
          <a:bodyPr wrap="square" lIns="0" tIns="0" rIns="0" bIns="0" rtlCol="0" anchor="t">
            <a:normAutofit/>
          </a:bodyPr>
          <a:lstStyle/>
          <a:p>
            <a:pPr algn="l" indent="0" marL="0">
              <a:lnSpc>
                <a:spcPts val="3080"/>
              </a:lnSpc>
              <a:buNone/>
            </a:pPr>
            <a:r>
              <a:rPr lang="en-US" sz="2800" b="1" spc="-50" kern="0" dirty="0">
                <a:solidFill>
                  <a:srgbClr val="F2EDE8"/>
                </a:solidFill>
                <a:latin typeface="Inter" pitchFamily="34" charset="0"/>
                <a:ea typeface="Inter" pitchFamily="34" charset="-122"/>
                <a:cs typeface="Inter" pitchFamily="34" charset="-120"/>
              </a:rPr>
              <a:t>Paste an issue link. Get a proven fix.</a:t>
            </a:r>
            <a:endParaRPr lang="en-US" sz="2800" dirty="0"/>
          </a:p>
        </p:txBody>
      </p:sp>
      <p:sp>
        <p:nvSpPr>
          <p:cNvPr id="10" name="Text 8"/>
          <p:cNvSpPr/>
          <p:nvPr/>
        </p:nvSpPr>
        <p:spPr>
          <a:xfrm>
            <a:off x="4394200" y="1863536"/>
            <a:ext cx="7194550" cy="1170517"/>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C9BDB3"/>
                </a:solidFill>
                <a:latin typeface="Inter" pitchFamily="34" charset="0"/>
                <a:ea typeface="Inter" pitchFamily="34" charset="-122"/>
                <a:cs typeface="Inter" pitchFamily="34" charset="-120"/>
              </a:rPr>
              <a:t>PatchPilot reproduces the bug in a locked-down sandbox and writes a small fix. It proves the fix with a test that fails before and passes after, and opens a pull request only when you approve.</a:t>
            </a:r>
            <a:endParaRPr lang="en-US" sz="1400" dirty="0"/>
          </a:p>
        </p:txBody>
      </p:sp>
      <p:sp>
        <p:nvSpPr>
          <p:cNvPr id="11" name="Text 9"/>
          <p:cNvSpPr/>
          <p:nvPr/>
        </p:nvSpPr>
        <p:spPr>
          <a:xfrm>
            <a:off x="4400550" y="3500000"/>
            <a:ext cx="292100" cy="292100"/>
          </a:xfrm>
          <a:custGeom>
            <a:avLst/>
            <a:gdLst/>
            <a:ahLst/>
            <a:cxnLst/>
            <a:rect l="l" t="t" r="r" b="b"/>
            <a:pathLst>
              <a:path w="292100" h="292100">
                <a:moveTo>
                  <a:pt x="146050" y="0"/>
                </a:moveTo>
                <a:lnTo>
                  <a:pt x="146050" y="0"/>
                </a:lnTo>
                <a:arcTo hR="146050" wR="146050" stAng="16200000" swAng="5400000"/>
                <a:lnTo>
                  <a:pt x="292100" y="146050"/>
                </a:lnTo>
                <a:arcTo hR="146050" wR="146050" stAng="0" swAng="5400000"/>
                <a:lnTo>
                  <a:pt x="146050" y="292100"/>
                </a:lnTo>
                <a:arcTo hR="146050" wR="146050" stAng="5400000" swAng="5400000"/>
                <a:lnTo>
                  <a:pt x="0" y="146050"/>
                </a:lnTo>
                <a:arcTo hR="146050" wR="146050" stAng="10800000" swAng="5400000"/>
                <a:close/>
              </a:path>
            </a:pathLst>
          </a:custGeom>
          <a:noFill/>
          <a:ln w="12700">
            <a:solidFill>
              <a:srgbClr val="E8652B"/>
            </a:solidFill>
            <a:prstDash val="solid"/>
          </a:ln>
        </p:spPr>
        <p:txBody>
          <a:bodyPr wrap="square" lIns="5745" tIns="5745" rIns="5745" bIns="5745" rtlCol="0" anchor="ctr">
            <a:normAutofit/>
          </a:bodyPr>
          <a:lstStyle/>
          <a:p>
            <a:pPr algn="ctr" indent="0" marL="0">
              <a:lnSpc>
                <a:spcPts val="1680"/>
              </a:lnSpc>
              <a:buNone/>
            </a:pPr>
            <a:r>
              <a:rPr lang="en-US" sz="1200" dirty="0">
                <a:solidFill>
                  <a:srgbClr val="F08A57"/>
                </a:solidFill>
                <a:latin typeface="JetBrains Mono" pitchFamily="49" charset="0"/>
                <a:ea typeface="JetBrains Mono" pitchFamily="49" charset="-122"/>
                <a:cs typeface="JetBrains Mono" pitchFamily="49" charset="-120"/>
              </a:rPr>
              <a:t>1</a:t>
            </a:r>
            <a:endParaRPr lang="en-US" sz="1200" dirty="0"/>
          </a:p>
        </p:txBody>
      </p:sp>
      <p:sp>
        <p:nvSpPr>
          <p:cNvPr id="12" name="Text 10"/>
          <p:cNvSpPr/>
          <p:nvPr/>
        </p:nvSpPr>
        <p:spPr>
          <a:xfrm>
            <a:off x="4826000" y="3394355"/>
            <a:ext cx="3000000" cy="270782"/>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F2EDE8"/>
                </a:solidFill>
                <a:latin typeface="Inter" pitchFamily="34" charset="0"/>
                <a:ea typeface="Inter" pitchFamily="34" charset="-122"/>
                <a:cs typeface="Inter" pitchFamily="34" charset="-120"/>
              </a:rPr>
              <a:t>Reproduce</a:t>
            </a:r>
            <a:endParaRPr lang="en-US" sz="1400" dirty="0"/>
          </a:p>
        </p:txBody>
      </p:sp>
      <p:sp>
        <p:nvSpPr>
          <p:cNvPr id="13" name="Text 11"/>
          <p:cNvSpPr/>
          <p:nvPr/>
        </p:nvSpPr>
        <p:spPr>
          <a:xfrm>
            <a:off x="4826000" y="3652437"/>
            <a:ext cx="3100000" cy="270744"/>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89C92"/>
                </a:solidFill>
                <a:latin typeface="Inter" pitchFamily="34" charset="0"/>
                <a:ea typeface="Inter" pitchFamily="34" charset="-122"/>
                <a:cs typeface="Inter" pitchFamily="34" charset="-120"/>
              </a:rPr>
              <a:t>A test that fails because of the bug</a:t>
            </a:r>
            <a:endParaRPr lang="en-US" sz="1200" dirty="0"/>
          </a:p>
        </p:txBody>
      </p:sp>
      <p:sp>
        <p:nvSpPr>
          <p:cNvPr id="14" name="Shape 12"/>
          <p:cNvSpPr/>
          <p:nvPr/>
        </p:nvSpPr>
        <p:spPr>
          <a:xfrm>
            <a:off x="4540250" y="3897781"/>
            <a:ext cx="12700" cy="496538"/>
          </a:xfrm>
          <a:prstGeom prst="rect">
            <a:avLst/>
          </a:prstGeom>
          <a:solidFill>
            <a:srgbClr val="5A4435"/>
          </a:solidFill>
          <a:ln/>
        </p:spPr>
      </p:sp>
      <p:sp>
        <p:nvSpPr>
          <p:cNvPr id="15" name="Text 13"/>
          <p:cNvSpPr/>
          <p:nvPr/>
        </p:nvSpPr>
        <p:spPr>
          <a:xfrm>
            <a:off x="4400550" y="4500000"/>
            <a:ext cx="292100" cy="292100"/>
          </a:xfrm>
          <a:custGeom>
            <a:avLst/>
            <a:gdLst/>
            <a:ahLst/>
            <a:cxnLst/>
            <a:rect l="l" t="t" r="r" b="b"/>
            <a:pathLst>
              <a:path w="292100" h="292100">
                <a:moveTo>
                  <a:pt x="146050" y="0"/>
                </a:moveTo>
                <a:lnTo>
                  <a:pt x="146050" y="0"/>
                </a:lnTo>
                <a:arcTo hR="146050" wR="146050" stAng="16200000" swAng="5400000"/>
                <a:lnTo>
                  <a:pt x="292100" y="146050"/>
                </a:lnTo>
                <a:arcTo hR="146050" wR="146050" stAng="0" swAng="5400000"/>
                <a:lnTo>
                  <a:pt x="146050" y="292100"/>
                </a:lnTo>
                <a:arcTo hR="146050" wR="146050" stAng="5400000" swAng="5400000"/>
                <a:lnTo>
                  <a:pt x="0" y="146050"/>
                </a:lnTo>
                <a:arcTo hR="146050" wR="146050" stAng="10800000" swAng="5400000"/>
                <a:close/>
              </a:path>
            </a:pathLst>
          </a:custGeom>
          <a:noFill/>
          <a:ln w="12700">
            <a:solidFill>
              <a:srgbClr val="E8652B"/>
            </a:solidFill>
            <a:prstDash val="solid"/>
          </a:ln>
        </p:spPr>
        <p:txBody>
          <a:bodyPr wrap="square" lIns="5745" tIns="5745" rIns="5745" bIns="5745" rtlCol="0" anchor="ctr">
            <a:normAutofit/>
          </a:bodyPr>
          <a:lstStyle/>
          <a:p>
            <a:pPr algn="ctr" indent="0" marL="0">
              <a:lnSpc>
                <a:spcPts val="1680"/>
              </a:lnSpc>
              <a:buNone/>
            </a:pPr>
            <a:r>
              <a:rPr lang="en-US" sz="1200" dirty="0">
                <a:solidFill>
                  <a:srgbClr val="F08A57"/>
                </a:solidFill>
                <a:latin typeface="JetBrains Mono" pitchFamily="49" charset="0"/>
                <a:ea typeface="JetBrains Mono" pitchFamily="49" charset="-122"/>
                <a:cs typeface="JetBrains Mono" pitchFamily="49" charset="-120"/>
              </a:rPr>
              <a:t>2</a:t>
            </a:r>
            <a:endParaRPr lang="en-US" sz="1200" dirty="0"/>
          </a:p>
        </p:txBody>
      </p:sp>
      <p:sp>
        <p:nvSpPr>
          <p:cNvPr id="16" name="Text 14"/>
          <p:cNvSpPr/>
          <p:nvPr/>
        </p:nvSpPr>
        <p:spPr>
          <a:xfrm>
            <a:off x="4826000" y="4394355"/>
            <a:ext cx="3000000" cy="270782"/>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F2EDE8"/>
                </a:solidFill>
                <a:latin typeface="Inter" pitchFamily="34" charset="0"/>
                <a:ea typeface="Inter" pitchFamily="34" charset="-122"/>
                <a:cs typeface="Inter" pitchFamily="34" charset="-120"/>
              </a:rPr>
              <a:t>Fix</a:t>
            </a:r>
            <a:endParaRPr lang="en-US" sz="1400" dirty="0"/>
          </a:p>
        </p:txBody>
      </p:sp>
      <p:sp>
        <p:nvSpPr>
          <p:cNvPr id="17" name="Text 15"/>
          <p:cNvSpPr/>
          <p:nvPr/>
        </p:nvSpPr>
        <p:spPr>
          <a:xfrm>
            <a:off x="4826000" y="4652437"/>
            <a:ext cx="3100000" cy="270744"/>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89C92"/>
                </a:solidFill>
                <a:latin typeface="Inter" pitchFamily="34" charset="0"/>
                <a:ea typeface="Inter" pitchFamily="34" charset="-122"/>
                <a:cs typeface="Inter" pitchFamily="34" charset="-120"/>
              </a:rPr>
              <a:t>A small, focused change</a:t>
            </a:r>
            <a:endParaRPr lang="en-US" sz="1200" dirty="0"/>
          </a:p>
        </p:txBody>
      </p:sp>
      <p:sp>
        <p:nvSpPr>
          <p:cNvPr id="26" name="Text 24"/>
          <p:cNvSpPr/>
          <p:nvPr/>
        </p:nvSpPr>
        <p:spPr>
          <a:xfrm>
            <a:off x="8045450" y="3500000"/>
            <a:ext cx="292100" cy="292100"/>
          </a:xfrm>
          <a:custGeom>
            <a:avLst/>
            <a:gdLst/>
            <a:ahLst/>
            <a:cxnLst/>
            <a:rect l="l" t="t" r="r" b="b"/>
            <a:pathLst>
              <a:path w="292100" h="292100">
                <a:moveTo>
                  <a:pt x="146050" y="0"/>
                </a:moveTo>
                <a:lnTo>
                  <a:pt x="146050" y="0"/>
                </a:lnTo>
                <a:arcTo hR="146050" wR="146050" stAng="16200000" swAng="5400000"/>
                <a:lnTo>
                  <a:pt x="292100" y="146050"/>
                </a:lnTo>
                <a:arcTo hR="146050" wR="146050" stAng="0" swAng="5400000"/>
                <a:lnTo>
                  <a:pt x="146050" y="292100"/>
                </a:lnTo>
                <a:arcTo hR="146050" wR="146050" stAng="5400000" swAng="5400000"/>
                <a:lnTo>
                  <a:pt x="0" y="146050"/>
                </a:lnTo>
                <a:arcTo hR="146050" wR="146050" stAng="10800000" swAng="5400000"/>
                <a:close/>
              </a:path>
            </a:pathLst>
          </a:custGeom>
          <a:noFill/>
          <a:ln w="12700">
            <a:solidFill>
              <a:srgbClr val="E8652B"/>
            </a:solidFill>
            <a:prstDash val="solid"/>
          </a:ln>
        </p:spPr>
        <p:txBody>
          <a:bodyPr wrap="square" lIns="5745" tIns="5745" rIns="5745" bIns="5745" rtlCol="0" anchor="ctr">
            <a:normAutofit/>
          </a:bodyPr>
          <a:lstStyle/>
          <a:p>
            <a:pPr algn="ctr" indent="0" marL="0">
              <a:lnSpc>
                <a:spcPts val="1680"/>
              </a:lnSpc>
              <a:buNone/>
            </a:pPr>
            <a:r>
              <a:rPr lang="en-US" sz="1200" dirty="0">
                <a:solidFill>
                  <a:srgbClr val="F08A57"/>
                </a:solidFill>
                <a:latin typeface="JetBrains Mono" pitchFamily="49" charset="0"/>
                <a:ea typeface="JetBrains Mono" pitchFamily="49" charset="-122"/>
                <a:cs typeface="JetBrains Mono" pitchFamily="49" charset="-120"/>
              </a:rPr>
              <a:t>3</a:t>
            </a:r>
            <a:endParaRPr lang="en-US" sz="1200" dirty="0"/>
          </a:p>
        </p:txBody>
      </p:sp>
      <p:sp>
        <p:nvSpPr>
          <p:cNvPr id="27" name="Text 25"/>
          <p:cNvSpPr/>
          <p:nvPr/>
        </p:nvSpPr>
        <p:spPr>
          <a:xfrm>
            <a:off x="8470900" y="3394355"/>
            <a:ext cx="3000000" cy="270782"/>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F2EDE8"/>
                </a:solidFill>
                <a:latin typeface="Inter" pitchFamily="34" charset="0"/>
                <a:ea typeface="Inter" pitchFamily="34" charset="-122"/>
                <a:cs typeface="Inter" pitchFamily="34" charset="-120"/>
              </a:rPr>
              <a:t>Verify</a:t>
            </a:r>
            <a:endParaRPr lang="en-US" sz="1400" dirty="0"/>
          </a:p>
        </p:txBody>
      </p:sp>
      <p:sp>
        <p:nvSpPr>
          <p:cNvPr id="28" name="Text 26"/>
          <p:cNvSpPr/>
          <p:nvPr/>
        </p:nvSpPr>
        <p:spPr>
          <a:xfrm>
            <a:off x="8470900" y="3652437"/>
            <a:ext cx="3100000" cy="270744"/>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89C92"/>
                </a:solidFill>
                <a:latin typeface="Inter" pitchFamily="34" charset="0"/>
                <a:ea typeface="Inter" pitchFamily="34" charset="-122"/>
                <a:cs typeface="Inter" pitchFamily="34" charset="-120"/>
              </a:rPr>
              <a:t>The test passes in a fresh sandbox</a:t>
            </a:r>
            <a:endParaRPr lang="en-US" sz="1200" dirty="0"/>
          </a:p>
        </p:txBody>
      </p:sp>
      <p:sp>
        <p:nvSpPr>
          <p:cNvPr id="29" name="Shape 27"/>
          <p:cNvSpPr/>
          <p:nvPr/>
        </p:nvSpPr>
        <p:spPr>
          <a:xfrm>
            <a:off x="8185150" y="3897781"/>
            <a:ext cx="12700" cy="496538"/>
          </a:xfrm>
          <a:prstGeom prst="rect">
            <a:avLst/>
          </a:prstGeom>
          <a:solidFill>
            <a:srgbClr val="5A4435"/>
          </a:solidFill>
          <a:ln/>
        </p:spPr>
      </p:sp>
      <p:sp>
        <p:nvSpPr>
          <p:cNvPr id="38" name="Text 36"/>
          <p:cNvSpPr/>
          <p:nvPr/>
        </p:nvSpPr>
        <p:spPr>
          <a:xfrm>
            <a:off x="8039100" y="4493650"/>
            <a:ext cx="304800" cy="304800"/>
          </a:xfrm>
          <a:custGeom>
            <a:avLst/>
            <a:gdLst/>
            <a:ahLst/>
            <a:cxnLst/>
            <a:rect l="l" t="t" r="r" b="b"/>
            <a:pathLst>
              <a:path w="304800" h="304800">
                <a:moveTo>
                  <a:pt x="152400" y="0"/>
                </a:moveTo>
                <a:lnTo>
                  <a:pt x="152400" y="0"/>
                </a:lnTo>
                <a:arcTo hR="152400" wR="152400" stAng="16200000" swAng="5400000"/>
                <a:lnTo>
                  <a:pt x="304800" y="152400"/>
                </a:lnTo>
                <a:arcTo hR="152400" wR="152400" stAng="0" swAng="5400000"/>
                <a:lnTo>
                  <a:pt x="152400" y="304800"/>
                </a:lnTo>
                <a:arcTo hR="152400" wR="152400" stAng="5400000" swAng="5400000"/>
                <a:lnTo>
                  <a:pt x="0" y="152400"/>
                </a:lnTo>
                <a:arcTo hR="152400" wR="152400" stAng="10800000" swAng="5400000"/>
                <a:close/>
              </a:path>
            </a:pathLst>
          </a:custGeom>
          <a:solidFill>
            <a:srgbClr val="E8652B"/>
          </a:solidFill>
          <a:ln/>
        </p:spPr>
        <p:txBody>
          <a:bodyPr wrap="square" lIns="0" tIns="0" rIns="0" bIns="0" rtlCol="0" anchor="ctr">
            <a:normAutofit/>
          </a:bodyPr>
          <a:lstStyle/>
          <a:p>
            <a:pPr algn="ctr" indent="0" marL="0">
              <a:lnSpc>
                <a:spcPts val="1680"/>
              </a:lnSpc>
              <a:buNone/>
            </a:pPr>
            <a:r>
              <a:rPr lang="en-US" sz="1200" dirty="0">
                <a:solidFill>
                  <a:srgbClr val="140C07"/>
                </a:solidFill>
                <a:latin typeface="JetBrains Mono" pitchFamily="49" charset="0"/>
                <a:ea typeface="JetBrains Mono" pitchFamily="49" charset="-122"/>
                <a:cs typeface="JetBrains Mono" pitchFamily="49" charset="-120"/>
              </a:rPr>
              <a:t>4</a:t>
            </a:r>
            <a:endParaRPr lang="en-US" sz="1200" dirty="0"/>
          </a:p>
        </p:txBody>
      </p:sp>
      <p:sp>
        <p:nvSpPr>
          <p:cNvPr id="39" name="Text 37"/>
          <p:cNvSpPr/>
          <p:nvPr/>
        </p:nvSpPr>
        <p:spPr>
          <a:xfrm>
            <a:off x="8470900" y="4394355"/>
            <a:ext cx="3000000" cy="270782"/>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F2EDE8"/>
                </a:solidFill>
                <a:latin typeface="Inter" pitchFamily="34" charset="0"/>
                <a:ea typeface="Inter" pitchFamily="34" charset="-122"/>
                <a:cs typeface="Inter" pitchFamily="34" charset="-120"/>
              </a:rPr>
              <a:t>You approve</a:t>
            </a:r>
            <a:endParaRPr lang="en-US" sz="1400" dirty="0"/>
          </a:p>
        </p:txBody>
      </p:sp>
      <p:sp>
        <p:nvSpPr>
          <p:cNvPr id="40" name="Text 38"/>
          <p:cNvSpPr/>
          <p:nvPr/>
        </p:nvSpPr>
        <p:spPr>
          <a:xfrm>
            <a:off x="8470900" y="4652437"/>
            <a:ext cx="3100000" cy="270744"/>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89C92"/>
                </a:solidFill>
                <a:latin typeface="Inter" pitchFamily="34" charset="0"/>
                <a:ea typeface="Inter" pitchFamily="34" charset="-122"/>
                <a:cs typeface="Inter" pitchFamily="34" charset="-120"/>
              </a:rPr>
              <a:t>The PR opens only after you say yes</a:t>
            </a:r>
            <a:endParaRPr lang="en-US" sz="1200" dirty="0"/>
          </a:p>
        </p:txBody>
      </p:sp>
      <p:sp>
        <p:nvSpPr>
          <p:cNvPr id="41" name="Text 39"/>
          <p:cNvSpPr/>
          <p:nvPr/>
        </p:nvSpPr>
        <p:spPr>
          <a:xfrm>
            <a:off x="812800" y="6206255"/>
            <a:ext cx="3924300" cy="270744"/>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89C92"/>
                </a:solidFill>
                <a:latin typeface="JetBrains Mono" pitchFamily="49" charset="0"/>
                <a:ea typeface="JetBrains Mono" pitchFamily="49" charset="-122"/>
                <a:cs typeface="JetBrains Mono" pitchFamily="49" charset="-120"/>
              </a:rPr>
              <a:t>PatchPilot</a:t>
            </a:r>
            <a:endParaRPr lang="en-US" sz="1200" dirty="0"/>
          </a:p>
        </p:txBody>
      </p:sp>
      <p:sp>
        <p:nvSpPr>
          <p:cNvPr id="42" name="Text 40"/>
          <p:cNvSpPr/>
          <p:nvPr/>
        </p:nvSpPr>
        <p:spPr>
          <a:xfrm>
            <a:off x="7454900" y="6206255"/>
            <a:ext cx="3924300" cy="270744"/>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A89C92"/>
                </a:solidFill>
                <a:latin typeface="JetBrains Mono" pitchFamily="49" charset="0"/>
                <a:ea typeface="JetBrains Mono" pitchFamily="49" charset="-122"/>
                <a:cs typeface="JetBrains Mono" pitchFamily="49" charset="-120"/>
              </a:rPr>
              <a:t>02 / 06</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BFAF8"/>
        </a:solidFill>
      </p:bgPr>
    </p:bg>
    <p:spTree>
      <p:nvGrpSpPr>
        <p:cNvPr id="1" name=""/>
        <p:cNvGrpSpPr/>
        <p:nvPr/>
      </p:nvGrpSpPr>
      <p:grpSpPr>
        <a:xfrm>
          <a:off x="0" y="0"/>
          <a:ext cx="0" cy="0"/>
          <a:chOff x="0" y="0"/>
          <a:chExt cx="0" cy="0"/>
        </a:xfrm>
      </p:grpSpPr>
      <p:sp>
        <p:nvSpPr>
          <p:cNvPr id="2" name="Text 0"/>
          <p:cNvSpPr/>
          <p:nvPr/>
        </p:nvSpPr>
        <p:spPr>
          <a:xfrm>
            <a:off x="812800" y="812800"/>
            <a:ext cx="10883392" cy="270744"/>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4511E"/>
                </a:solidFill>
                <a:latin typeface="JetBrains Mono" pitchFamily="49" charset="0"/>
                <a:ea typeface="JetBrains Mono" pitchFamily="49" charset="-122"/>
                <a:cs typeface="JetBrains Mono" pitchFamily="49" charset="-120"/>
              </a:rPr>
              <a:t>[ Why it's safe · system view ]</a:t>
            </a:r>
            <a:endParaRPr lang="en-US" sz="1200" dirty="0"/>
          </a:p>
        </p:txBody>
      </p:sp>
      <p:sp>
        <p:nvSpPr>
          <p:cNvPr id="3" name="Text 1"/>
          <p:cNvSpPr/>
          <p:nvPr>
            <p:ph type="title"/>
          </p:nvPr>
        </p:nvSpPr>
        <p:spPr>
          <a:xfrm>
            <a:off x="812800" y="1159745"/>
            <a:ext cx="10883392" cy="475192"/>
          </a:xfrm>
          <a:prstGeom prst="rect">
            <a:avLst/>
          </a:prstGeom>
          <a:noFill/>
          <a:ln/>
        </p:spPr>
        <p:txBody>
          <a:bodyPr wrap="square" lIns="0" tIns="0" rIns="0" bIns="0" rtlCol="0" anchor="t">
            <a:normAutofit/>
          </a:bodyPr>
          <a:lstStyle/>
          <a:p>
            <a:pPr algn="l" indent="0" marL="0">
              <a:lnSpc>
                <a:spcPts val="3080"/>
              </a:lnSpc>
              <a:buNone/>
            </a:pPr>
            <a:r>
              <a:rPr lang="en-US" sz="2800" b="1" i="0" spc="-50" kern="0" dirty="0">
                <a:solidFill>
                  <a:srgbClr val="1B1410"/>
                </a:solidFill>
                <a:latin typeface="Inter" pitchFamily="34" charset="0"/>
                <a:ea typeface="Inter" pitchFamily="34" charset="-122"/>
                <a:cs typeface="Inter" pitchFamily="34" charset="-120"/>
              </a:rPr>
              <a:t>Three zones. One write token.</a:t>
            </a:r>
            <a:endParaRPr lang="en-US" sz="2800" dirty="0"/>
          </a:p>
        </p:txBody>
      </p:sp>
      <p:sp>
        <p:nvSpPr>
          <p:cNvPr id="64" name="Text 6 copy 64"/>
          <p:cNvSpPr/>
          <p:nvPr/>
        </p:nvSpPr>
        <p:spPr>
          <a:xfrm>
            <a:off x="812800" y="1720000"/>
            <a:ext cx="10883392" cy="300000"/>
          </a:xfrm>
          <a:prstGeom prst="rect">
            <a:avLst/>
          </a:prstGeom>
          <a:noFill/>
          <a:ln/>
        </p:spPr>
        <p:txBody>
          <a:bodyPr wrap="square" lIns="0" tIns="0" rIns="0" bIns="0" rtlCol="0" anchor="t">
            <a:normAutofit/>
          </a:bodyPr>
          <a:lstStyle/>
          <a:p>
            <a:pPr algn="l" indent="0" marL="0">
              <a:lnSpc>
                <a:spcPts val="1800"/>
              </a:lnSpc>
              <a:buNone/>
            </a:pPr>
            <a:r>
              <a:rPr lang="en-US" sz="1400" dirty="0">
                <a:solidFill>
                  <a:srgbClr val="4A3E35"/>
                </a:solidFill>
                <a:latin typeface="Inter" pitchFamily="34" charset="0"/>
                <a:ea typeface="Inter" pitchFamily="34" charset="-122"/>
                <a:cs typeface="Inter" pitchFamily="34" charset="-120"/>
              </a:rPr>
              <a:t>SupplyGuard, our own scanner, checks every dependency before anything installs. The AI never holds the write token.</a:t>
            </a:r>
            <a:endParaRPr lang="en-US" sz="1400" dirty="0"/>
          </a:p>
        </p:txBody>
      </p:sp>
      <p:sp>
        <p:nvSpPr>
          <p:cNvPr id="4" name="Text 2"/>
          <p:cNvSpPr/>
          <p:nvPr/>
        </p:nvSpPr>
        <p:spPr>
          <a:xfrm>
            <a:off x="2597150" y="2128286"/>
            <a:ext cx="3352800" cy="3797300"/>
          </a:xfrm>
          <a:prstGeom prst="roundRect">
            <a:avLst>
              <a:gd name="adj" fmla="val 4356"/>
            </a:avLst>
          </a:prstGeom>
          <a:solidFill>
            <a:srgbClr val="F3EEE8"/>
          </a:solidFill>
          <a:ln w="12700">
            <a:solidFill>
              <a:srgbClr val="B7AB9F"/>
            </a:solidFill>
            <a:prstDash val="dash"/>
          </a:ln>
        </p:spPr>
        <p:txBody>
          <a:bodyPr wrap="square" lIns="115369" tIns="51869" rIns="24273" bIns="51869" rtlCol="0" anchor="t">
            <a:normAutofit/>
          </a:bodyPr>
          <a:lstStyle/>
          <a:p>
            <a:pPr algn="l" indent="0" marL="0">
              <a:lnSpc>
                <a:spcPts val="1680"/>
              </a:lnSpc>
              <a:buNone/>
            </a:pPr>
            <a:r>
              <a:rPr lang="en-US" sz="1200" dirty="0">
                <a:solidFill>
                  <a:srgbClr val="4A3E35"/>
                </a:solidFill>
                <a:latin typeface="JetBrains Mono" pitchFamily="49" charset="0"/>
                <a:ea typeface="JetBrains Mono" pitchFamily="49" charset="-122"/>
                <a:cs typeface="JetBrains Mono" pitchFamily="49" charset="-120"/>
              </a:rPr>
              <a:t>TRUSTED</a:t>
            </a:r>
            <a:endParaRPr lang="en-US" sz="1200" dirty="0"/>
          </a:p>
        </p:txBody>
      </p:sp>
      <p:sp>
        <p:nvSpPr>
          <p:cNvPr id="5" name="Text 3"/>
          <p:cNvSpPr/>
          <p:nvPr/>
        </p:nvSpPr>
        <p:spPr>
          <a:xfrm>
            <a:off x="7740650" y="2128286"/>
            <a:ext cx="3632200" cy="1447800"/>
          </a:xfrm>
          <a:prstGeom prst="roundRect">
            <a:avLst>
              <a:gd name="adj" fmla="val 10088"/>
            </a:avLst>
          </a:prstGeom>
          <a:solidFill>
            <a:srgbClr val="FBF1E4"/>
          </a:solidFill>
          <a:ln w="12700">
            <a:solidFill>
              <a:srgbClr val="D3B08A"/>
            </a:solidFill>
            <a:prstDash val="dash"/>
          </a:ln>
        </p:spPr>
        <p:txBody>
          <a:bodyPr wrap="square" lIns="115369" tIns="51869" rIns="15891" bIns="51869" rtlCol="0" anchor="t">
            <a:normAutofit/>
          </a:bodyPr>
          <a:lstStyle/>
          <a:p>
            <a:pPr algn="l" indent="0" marL="0">
              <a:lnSpc>
                <a:spcPts val="1680"/>
              </a:lnSpc>
              <a:buNone/>
            </a:pPr>
            <a:r>
              <a:rPr lang="en-US" sz="1200" dirty="0">
                <a:solidFill>
                  <a:srgbClr val="8A5A25"/>
                </a:solidFill>
                <a:latin typeface="JetBrains Mono" pitchFamily="49" charset="0"/>
                <a:ea typeface="JetBrains Mono" pitchFamily="49" charset="-122"/>
                <a:cs typeface="JetBrains Mono" pitchFamily="49" charset="-120"/>
              </a:rPr>
              <a:t>SEMI-TRUSTED</a:t>
            </a:r>
            <a:endParaRPr lang="en-US" sz="1200" dirty="0"/>
          </a:p>
        </p:txBody>
      </p:sp>
      <p:sp>
        <p:nvSpPr>
          <p:cNvPr id="6" name="Shape 4"/>
          <p:cNvSpPr/>
          <p:nvPr/>
        </p:nvSpPr>
        <p:spPr>
          <a:xfrm>
            <a:off x="7740650" y="3842786"/>
            <a:ext cx="3632200" cy="2082800"/>
          </a:xfrm>
          <a:prstGeom prst="roundRect">
            <a:avLst>
              <a:gd name="adj" fmla="val 7012"/>
            </a:avLst>
          </a:prstGeom>
          <a:solidFill>
            <a:srgbClr val="FDEBDF"/>
          </a:solidFill>
          <a:ln w="12700">
            <a:solidFill>
              <a:srgbClr val="E8652B"/>
            </a:solidFill>
            <a:prstDash val="dash"/>
          </a:ln>
        </p:spPr>
      </p:sp>
      <p:sp>
        <p:nvSpPr>
          <p:cNvPr id="7" name="Text 5"/>
          <p:cNvSpPr/>
          <p:nvPr/>
        </p:nvSpPr>
        <p:spPr>
          <a:xfrm>
            <a:off x="7898795" y="3937431"/>
            <a:ext cx="3415387" cy="270744"/>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2430F"/>
                </a:solidFill>
                <a:latin typeface="JetBrains Mono" pitchFamily="49" charset="0"/>
                <a:ea typeface="JetBrains Mono" pitchFamily="49" charset="-122"/>
                <a:cs typeface="JetBrains Mono" pitchFamily="49" charset="-120"/>
              </a:rPr>
              <a:t>UNTRUSTED</a:t>
            </a:r>
            <a:endParaRPr lang="en-US" sz="1200" dirty="0"/>
          </a:p>
        </p:txBody>
      </p:sp>
      <p:sp>
        <p:nvSpPr>
          <p:cNvPr id="8" name="Text 6"/>
          <p:cNvSpPr/>
          <p:nvPr/>
        </p:nvSpPr>
        <p:spPr>
          <a:xfrm>
            <a:off x="7898795" y="5314853"/>
            <a:ext cx="3415387" cy="516089"/>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3E35"/>
                </a:solidFill>
                <a:latin typeface="Inter" pitchFamily="34" charset="0"/>
                <a:ea typeface="Inter" pitchFamily="34" charset="-122"/>
                <a:cs typeface="Inter" pitchFamily="34" charset="-120"/>
              </a:rPr>
              <a:t>Setup reaches PyPI only. Every later step runs offline.</a:t>
            </a:r>
            <a:endParaRPr lang="en-US" sz="1200" dirty="0"/>
          </a:p>
        </p:txBody>
      </p:sp>
      <p:sp>
        <p:nvSpPr>
          <p:cNvPr id="9" name="Shape 7"/>
          <p:cNvSpPr/>
          <p:nvPr/>
        </p:nvSpPr>
        <p:spPr>
          <a:xfrm>
            <a:off x="819150" y="2572786"/>
            <a:ext cx="1384300" cy="622300"/>
          </a:xfrm>
          <a:prstGeom prst="roundRect">
            <a:avLst>
              <a:gd name="adj" fmla="val 13265"/>
            </a:avLst>
          </a:prstGeom>
          <a:solidFill>
            <a:srgbClr val="FFFFFF"/>
          </a:solidFill>
          <a:ln w="12700">
            <a:solidFill>
              <a:srgbClr val="D6CDC4"/>
            </a:solidFill>
            <a:prstDash val="solid"/>
          </a:ln>
        </p:spPr>
      </p:sp>
      <p:sp>
        <p:nvSpPr>
          <p:cNvPr id="10" name="Text 8"/>
          <p:cNvSpPr/>
          <p:nvPr/>
        </p:nvSpPr>
        <p:spPr>
          <a:xfrm>
            <a:off x="926495" y="2642031"/>
            <a:ext cx="1220410" cy="260955"/>
          </a:xfrm>
          <a:prstGeom prst="rect">
            <a:avLst/>
          </a:prstGeom>
          <a:noFill/>
          <a:ln/>
        </p:spPr>
        <p:txBody>
          <a:bodyPr wrap="square" lIns="0" tIns="0" rIns="0" bIns="0" rtlCol="0" anchor="t">
            <a:normAutofit/>
          </a:bodyPr>
          <a:lstStyle/>
          <a:p>
            <a:pPr algn="l" indent="0" marL="0">
              <a:lnSpc>
                <a:spcPts val="1627"/>
              </a:lnSpc>
              <a:buNone/>
            </a:pPr>
            <a:r>
              <a:rPr lang="en-US" sz="1163" b="1" dirty="0">
                <a:solidFill>
                  <a:srgbClr val="1B1410"/>
                </a:solidFill>
                <a:latin typeface="Inter" pitchFamily="34" charset="0"/>
                <a:ea typeface="Inter" pitchFamily="34" charset="-122"/>
                <a:cs typeface="Inter" pitchFamily="34" charset="-120"/>
              </a:rPr>
              <a:t>React UI</a:t>
            </a:r>
            <a:endParaRPr lang="en-US" sz="1163" dirty="0"/>
          </a:p>
        </p:txBody>
      </p:sp>
      <p:sp>
        <p:nvSpPr>
          <p:cNvPr id="11" name="Text 9"/>
          <p:cNvSpPr/>
          <p:nvPr/>
        </p:nvSpPr>
        <p:spPr>
          <a:xfrm>
            <a:off x="926495" y="2890286"/>
            <a:ext cx="1220410" cy="260955"/>
          </a:xfrm>
          <a:prstGeom prst="rect">
            <a:avLst/>
          </a:prstGeom>
          <a:noFill/>
          <a:ln/>
        </p:spPr>
        <p:txBody>
          <a:bodyPr wrap="square" lIns="0" tIns="0" rIns="0" bIns="0" rtlCol="0" anchor="t">
            <a:normAutofit/>
          </a:bodyPr>
          <a:lstStyle/>
          <a:p>
            <a:pPr algn="l" indent="0" marL="0">
              <a:lnSpc>
                <a:spcPts val="1627"/>
              </a:lnSpc>
              <a:buNone/>
            </a:pPr>
            <a:r>
              <a:rPr lang="en-US" sz="1163" dirty="0">
                <a:solidFill>
                  <a:srgbClr val="6F6257"/>
                </a:solidFill>
                <a:latin typeface="Inter" pitchFamily="34" charset="0"/>
                <a:ea typeface="Inter" pitchFamily="34" charset="-122"/>
                <a:cs typeface="Inter" pitchFamily="34" charset="-120"/>
              </a:rPr>
              <a:t>run timeline</a:t>
            </a:r>
            <a:endParaRPr lang="en-US" sz="1163" dirty="0"/>
          </a:p>
        </p:txBody>
      </p:sp>
      <p:sp>
        <p:nvSpPr>
          <p:cNvPr id="12" name="Shape 10"/>
          <p:cNvSpPr/>
          <p:nvPr/>
        </p:nvSpPr>
        <p:spPr>
          <a:xfrm>
            <a:off x="819150" y="4414286"/>
            <a:ext cx="1384300" cy="1384300"/>
          </a:xfrm>
          <a:prstGeom prst="roundRect">
            <a:avLst>
              <a:gd name="adj" fmla="val 5963"/>
            </a:avLst>
          </a:prstGeom>
          <a:solidFill>
            <a:srgbClr val="FFFFFF"/>
          </a:solidFill>
          <a:ln w="12700">
            <a:solidFill>
              <a:srgbClr val="D6CDC4"/>
            </a:solidFill>
            <a:prstDash val="solid"/>
          </a:ln>
        </p:spPr>
      </p:sp>
      <p:sp>
        <p:nvSpPr>
          <p:cNvPr id="13" name="Text 11"/>
          <p:cNvSpPr/>
          <p:nvPr/>
        </p:nvSpPr>
        <p:spPr>
          <a:xfrm>
            <a:off x="926495" y="4732051"/>
            <a:ext cx="1220410" cy="270744"/>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B1410"/>
                </a:solidFill>
                <a:latin typeface="Inter" pitchFamily="34" charset="0"/>
                <a:ea typeface="Inter" pitchFamily="34" charset="-122"/>
                <a:cs typeface="Inter" pitchFamily="34" charset="-120"/>
              </a:rPr>
              <a:t>GitHub</a:t>
            </a:r>
            <a:endParaRPr lang="en-US" sz="1200" dirty="0"/>
          </a:p>
        </p:txBody>
      </p:sp>
      <p:sp>
        <p:nvSpPr>
          <p:cNvPr id="14" name="Text 12"/>
          <p:cNvSpPr/>
          <p:nvPr/>
        </p:nvSpPr>
        <p:spPr>
          <a:xfrm>
            <a:off x="926495" y="4990096"/>
            <a:ext cx="1220410" cy="516089"/>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F6257"/>
                </a:solidFill>
                <a:latin typeface="Inter" pitchFamily="34" charset="0"/>
                <a:ea typeface="Inter" pitchFamily="34" charset="-122"/>
                <a:cs typeface="Inter" pitchFamily="34" charset="-120"/>
              </a:rPr>
              <a:t>issues and PRs</a:t>
            </a:r>
            <a:endParaRPr lang="en-US" sz="1200" dirty="0"/>
          </a:p>
        </p:txBody>
      </p:sp>
      <p:sp>
        <p:nvSpPr>
          <p:cNvPr id="15" name="Shape 13"/>
          <p:cNvSpPr/>
          <p:nvPr/>
        </p:nvSpPr>
        <p:spPr>
          <a:xfrm>
            <a:off x="2749550" y="2572786"/>
            <a:ext cx="1257300" cy="622300"/>
          </a:xfrm>
          <a:prstGeom prst="roundRect">
            <a:avLst>
              <a:gd name="adj" fmla="val 13265"/>
            </a:avLst>
          </a:prstGeom>
          <a:solidFill>
            <a:srgbClr val="FFFFFF"/>
          </a:solidFill>
          <a:ln w="12700">
            <a:solidFill>
              <a:srgbClr val="D6CDC4"/>
            </a:solidFill>
            <a:prstDash val="solid"/>
          </a:ln>
        </p:spPr>
      </p:sp>
      <p:sp>
        <p:nvSpPr>
          <p:cNvPr id="16" name="Text 14"/>
          <p:cNvSpPr/>
          <p:nvPr/>
        </p:nvSpPr>
        <p:spPr>
          <a:xfrm>
            <a:off x="2856895" y="2642031"/>
            <a:ext cx="1093410" cy="260955"/>
          </a:xfrm>
          <a:prstGeom prst="rect">
            <a:avLst/>
          </a:prstGeom>
          <a:noFill/>
          <a:ln/>
        </p:spPr>
        <p:txBody>
          <a:bodyPr wrap="square" lIns="0" tIns="0" rIns="0" bIns="0" rtlCol="0" anchor="t">
            <a:normAutofit/>
          </a:bodyPr>
          <a:lstStyle/>
          <a:p>
            <a:pPr algn="l" indent="0" marL="0">
              <a:lnSpc>
                <a:spcPts val="1627"/>
              </a:lnSpc>
              <a:buNone/>
            </a:pPr>
            <a:r>
              <a:rPr lang="en-US" sz="1163" b="1" dirty="0">
                <a:solidFill>
                  <a:srgbClr val="1B1410"/>
                </a:solidFill>
                <a:latin typeface="Inter" pitchFamily="34" charset="0"/>
                <a:ea typeface="Inter" pitchFamily="34" charset="-122"/>
                <a:cs typeface="Inter" pitchFamily="34" charset="-120"/>
              </a:rPr>
              <a:t>FastAPI</a:t>
            </a:r>
            <a:endParaRPr lang="en-US" sz="1163" dirty="0"/>
          </a:p>
        </p:txBody>
      </p:sp>
      <p:sp>
        <p:nvSpPr>
          <p:cNvPr id="17" name="Text 15"/>
          <p:cNvSpPr/>
          <p:nvPr/>
        </p:nvSpPr>
        <p:spPr>
          <a:xfrm>
            <a:off x="2856895" y="2890286"/>
            <a:ext cx="1093410" cy="260955"/>
          </a:xfrm>
          <a:prstGeom prst="rect">
            <a:avLst/>
          </a:prstGeom>
          <a:noFill/>
          <a:ln/>
        </p:spPr>
        <p:txBody>
          <a:bodyPr wrap="square" lIns="0" tIns="0" rIns="0" bIns="0" rtlCol="0" anchor="t">
            <a:normAutofit/>
          </a:bodyPr>
          <a:lstStyle/>
          <a:p>
            <a:pPr algn="l" indent="0" marL="0">
              <a:lnSpc>
                <a:spcPts val="1627"/>
              </a:lnSpc>
              <a:buNone/>
            </a:pPr>
            <a:r>
              <a:rPr lang="en-US" sz="1163" dirty="0">
                <a:solidFill>
                  <a:srgbClr val="6F6257"/>
                </a:solidFill>
                <a:latin typeface="Inter" pitchFamily="34" charset="0"/>
                <a:ea typeface="Inter" pitchFamily="34" charset="-122"/>
                <a:cs typeface="Inter" pitchFamily="34" charset="-120"/>
              </a:rPr>
              <a:t>REST + SSE</a:t>
            </a:r>
            <a:endParaRPr lang="en-US" sz="1163" dirty="0"/>
          </a:p>
        </p:txBody>
      </p:sp>
      <p:sp>
        <p:nvSpPr>
          <p:cNvPr id="18" name="Shape 16"/>
          <p:cNvSpPr/>
          <p:nvPr/>
        </p:nvSpPr>
        <p:spPr>
          <a:xfrm>
            <a:off x="2749550" y="3525286"/>
            <a:ext cx="1257300" cy="622300"/>
          </a:xfrm>
          <a:prstGeom prst="roundRect">
            <a:avLst>
              <a:gd name="adj" fmla="val 13265"/>
            </a:avLst>
          </a:prstGeom>
          <a:solidFill>
            <a:srgbClr val="FFFFFF"/>
          </a:solidFill>
          <a:ln w="12700">
            <a:solidFill>
              <a:srgbClr val="D6CDC4"/>
            </a:solidFill>
            <a:prstDash val="solid"/>
          </a:ln>
        </p:spPr>
      </p:sp>
      <p:sp>
        <p:nvSpPr>
          <p:cNvPr id="19" name="Text 17"/>
          <p:cNvSpPr/>
          <p:nvPr/>
        </p:nvSpPr>
        <p:spPr>
          <a:xfrm>
            <a:off x="2856895" y="3594531"/>
            <a:ext cx="1093410" cy="260955"/>
          </a:xfrm>
          <a:prstGeom prst="rect">
            <a:avLst/>
          </a:prstGeom>
          <a:noFill/>
          <a:ln/>
        </p:spPr>
        <p:txBody>
          <a:bodyPr wrap="square" lIns="0" tIns="0" rIns="0" bIns="0" rtlCol="0" anchor="t">
            <a:normAutofit/>
          </a:bodyPr>
          <a:lstStyle/>
          <a:p>
            <a:pPr algn="l" indent="0" marL="0">
              <a:lnSpc>
                <a:spcPts val="1627"/>
              </a:lnSpc>
              <a:buNone/>
            </a:pPr>
            <a:r>
              <a:rPr lang="en-US" sz="1163" b="1" dirty="0">
                <a:solidFill>
                  <a:srgbClr val="1B1410"/>
                </a:solidFill>
                <a:latin typeface="Inter" pitchFamily="34" charset="0"/>
                <a:ea typeface="Inter" pitchFamily="34" charset="-122"/>
                <a:cs typeface="Inter" pitchFamily="34" charset="-120"/>
              </a:rPr>
              <a:t>Job queue</a:t>
            </a:r>
            <a:endParaRPr lang="en-US" sz="1163" dirty="0"/>
          </a:p>
        </p:txBody>
      </p:sp>
      <p:sp>
        <p:nvSpPr>
          <p:cNvPr id="20" name="Text 18"/>
          <p:cNvSpPr/>
          <p:nvPr/>
        </p:nvSpPr>
        <p:spPr>
          <a:xfrm>
            <a:off x="2856895" y="3842786"/>
            <a:ext cx="1093410" cy="260955"/>
          </a:xfrm>
          <a:prstGeom prst="rect">
            <a:avLst/>
          </a:prstGeom>
          <a:noFill/>
          <a:ln/>
        </p:spPr>
        <p:txBody>
          <a:bodyPr wrap="square" lIns="0" tIns="0" rIns="0" bIns="0" rtlCol="0" anchor="t">
            <a:normAutofit/>
          </a:bodyPr>
          <a:lstStyle/>
          <a:p>
            <a:pPr algn="l" indent="0" marL="0">
              <a:lnSpc>
                <a:spcPts val="1627"/>
              </a:lnSpc>
              <a:buNone/>
            </a:pPr>
            <a:r>
              <a:rPr lang="en-US" sz="1163" dirty="0">
                <a:solidFill>
                  <a:srgbClr val="6F6257"/>
                </a:solidFill>
                <a:latin typeface="Inter" pitchFamily="34" charset="0"/>
                <a:ea typeface="Inter" pitchFamily="34" charset="-122"/>
                <a:cs typeface="Inter" pitchFamily="34" charset="-120"/>
              </a:rPr>
              <a:t>async runs</a:t>
            </a:r>
            <a:endParaRPr lang="en-US" sz="1163" dirty="0"/>
          </a:p>
        </p:txBody>
      </p:sp>
      <p:sp>
        <p:nvSpPr>
          <p:cNvPr id="21" name="Shape 19"/>
          <p:cNvSpPr/>
          <p:nvPr/>
        </p:nvSpPr>
        <p:spPr>
          <a:xfrm>
            <a:off x="2749550" y="4414286"/>
            <a:ext cx="1257300" cy="558800"/>
          </a:xfrm>
          <a:prstGeom prst="roundRect">
            <a:avLst>
              <a:gd name="adj" fmla="val 14773"/>
            </a:avLst>
          </a:prstGeom>
          <a:solidFill>
            <a:srgbClr val="FFFFFF"/>
          </a:solidFill>
          <a:ln w="12700">
            <a:solidFill>
              <a:srgbClr val="D6CDC4"/>
            </a:solidFill>
            <a:prstDash val="solid"/>
          </a:ln>
        </p:spPr>
      </p:sp>
      <p:sp>
        <p:nvSpPr>
          <p:cNvPr id="22" name="Text 20"/>
          <p:cNvSpPr/>
          <p:nvPr/>
        </p:nvSpPr>
        <p:spPr>
          <a:xfrm>
            <a:off x="2856895" y="4483531"/>
            <a:ext cx="1093410" cy="229205"/>
          </a:xfrm>
          <a:prstGeom prst="rect">
            <a:avLst/>
          </a:prstGeom>
          <a:noFill/>
          <a:ln/>
        </p:spPr>
        <p:txBody>
          <a:bodyPr wrap="square" lIns="0" tIns="0" rIns="0" bIns="0" rtlCol="0" anchor="t">
            <a:normAutofit/>
          </a:bodyPr>
          <a:lstStyle/>
          <a:p>
            <a:pPr algn="l" indent="0" marL="0">
              <a:lnSpc>
                <a:spcPts val="1412"/>
              </a:lnSpc>
              <a:buNone/>
            </a:pPr>
            <a:r>
              <a:rPr lang="en-US" sz="1009" b="1" dirty="0">
                <a:solidFill>
                  <a:srgbClr val="1B1410"/>
                </a:solidFill>
                <a:latin typeface="Inter" pitchFamily="34" charset="0"/>
                <a:ea typeface="Inter" pitchFamily="34" charset="-122"/>
                <a:cs typeface="Inter" pitchFamily="34" charset="-120"/>
              </a:rPr>
              <a:t>Intake</a:t>
            </a:r>
            <a:endParaRPr lang="en-US" sz="1009" dirty="0"/>
          </a:p>
        </p:txBody>
      </p:sp>
      <p:sp>
        <p:nvSpPr>
          <p:cNvPr id="23" name="Text 21"/>
          <p:cNvSpPr/>
          <p:nvPr/>
        </p:nvSpPr>
        <p:spPr>
          <a:xfrm>
            <a:off x="2856895" y="4700036"/>
            <a:ext cx="1093410" cy="229205"/>
          </a:xfrm>
          <a:prstGeom prst="rect">
            <a:avLst/>
          </a:prstGeom>
          <a:noFill/>
          <a:ln/>
        </p:spPr>
        <p:txBody>
          <a:bodyPr wrap="square" lIns="0" tIns="0" rIns="0" bIns="0" rtlCol="0" anchor="t">
            <a:normAutofit/>
          </a:bodyPr>
          <a:lstStyle/>
          <a:p>
            <a:pPr algn="l" indent="0" marL="0">
              <a:lnSpc>
                <a:spcPts val="1412"/>
              </a:lnSpc>
              <a:buNone/>
            </a:pPr>
            <a:r>
              <a:rPr lang="en-US" sz="1009" dirty="0">
                <a:solidFill>
                  <a:srgbClr val="6F6257"/>
                </a:solidFill>
                <a:latin typeface="Inter" pitchFamily="34" charset="0"/>
                <a:ea typeface="Inter" pitchFamily="34" charset="-122"/>
                <a:cs typeface="Inter" pitchFamily="34" charset="-120"/>
              </a:rPr>
              <a:t>read-only</a:t>
            </a:r>
            <a:endParaRPr lang="en-US" sz="1009" dirty="0"/>
          </a:p>
        </p:txBody>
      </p:sp>
      <p:sp>
        <p:nvSpPr>
          <p:cNvPr id="24" name="Shape 22"/>
          <p:cNvSpPr/>
          <p:nvPr/>
        </p:nvSpPr>
        <p:spPr>
          <a:xfrm>
            <a:off x="2749550" y="5176286"/>
            <a:ext cx="1257300" cy="622300"/>
          </a:xfrm>
          <a:prstGeom prst="roundRect">
            <a:avLst>
              <a:gd name="adj" fmla="val 13265"/>
            </a:avLst>
          </a:prstGeom>
          <a:solidFill>
            <a:srgbClr val="FFFFFF"/>
          </a:solidFill>
          <a:ln w="12700">
            <a:solidFill>
              <a:srgbClr val="D6CDC4"/>
            </a:solidFill>
            <a:prstDash val="solid"/>
          </a:ln>
        </p:spPr>
      </p:sp>
      <p:sp>
        <p:nvSpPr>
          <p:cNvPr id="25" name="Text 23"/>
          <p:cNvSpPr/>
          <p:nvPr/>
        </p:nvSpPr>
        <p:spPr>
          <a:xfrm>
            <a:off x="2856895" y="5245531"/>
            <a:ext cx="1093410" cy="260955"/>
          </a:xfrm>
          <a:prstGeom prst="rect">
            <a:avLst/>
          </a:prstGeom>
          <a:noFill/>
          <a:ln/>
        </p:spPr>
        <p:txBody>
          <a:bodyPr wrap="square" lIns="0" tIns="0" rIns="0" bIns="0" rtlCol="0" anchor="t">
            <a:normAutofit/>
          </a:bodyPr>
          <a:lstStyle/>
          <a:p>
            <a:pPr algn="l" indent="0" marL="0">
              <a:lnSpc>
                <a:spcPts val="1627"/>
              </a:lnSpc>
              <a:buNone/>
            </a:pPr>
            <a:r>
              <a:rPr lang="en-US" sz="1163" b="1" dirty="0">
                <a:solidFill>
                  <a:srgbClr val="1B1410"/>
                </a:solidFill>
                <a:latin typeface="Inter" pitchFamily="34" charset="0"/>
                <a:ea typeface="Inter" pitchFamily="34" charset="-122"/>
                <a:cs typeface="Inter" pitchFamily="34" charset="-120"/>
              </a:rPr>
              <a:t>Publisher</a:t>
            </a:r>
            <a:endParaRPr lang="en-US" sz="1163" dirty="0"/>
          </a:p>
        </p:txBody>
      </p:sp>
      <p:sp>
        <p:nvSpPr>
          <p:cNvPr id="26" name="Text 24"/>
          <p:cNvSpPr/>
          <p:nvPr/>
        </p:nvSpPr>
        <p:spPr>
          <a:xfrm>
            <a:off x="2856895" y="5493786"/>
            <a:ext cx="1093410" cy="260955"/>
          </a:xfrm>
          <a:prstGeom prst="rect">
            <a:avLst/>
          </a:prstGeom>
          <a:noFill/>
          <a:ln/>
        </p:spPr>
        <p:txBody>
          <a:bodyPr wrap="square" lIns="0" tIns="0" rIns="0" bIns="0" rtlCol="0" anchor="t">
            <a:normAutofit/>
          </a:bodyPr>
          <a:lstStyle/>
          <a:p>
            <a:pPr algn="l" indent="0" marL="0">
              <a:lnSpc>
                <a:spcPts val="1627"/>
              </a:lnSpc>
              <a:buNone/>
            </a:pPr>
            <a:r>
              <a:rPr lang="en-US" sz="1163" dirty="0">
                <a:solidFill>
                  <a:srgbClr val="6F6257"/>
                </a:solidFill>
                <a:latin typeface="Inter" pitchFamily="34" charset="0"/>
                <a:ea typeface="Inter" pitchFamily="34" charset="-122"/>
                <a:cs typeface="Inter" pitchFamily="34" charset="-120"/>
              </a:rPr>
              <a:t>write token</a:t>
            </a:r>
            <a:endParaRPr lang="en-US" sz="1163" dirty="0"/>
          </a:p>
        </p:txBody>
      </p:sp>
      <p:sp>
        <p:nvSpPr>
          <p:cNvPr id="27" name="Shape 25"/>
          <p:cNvSpPr/>
          <p:nvPr/>
        </p:nvSpPr>
        <p:spPr>
          <a:xfrm>
            <a:off x="4375150" y="2572786"/>
            <a:ext cx="1384300" cy="1574800"/>
          </a:xfrm>
          <a:prstGeom prst="roundRect">
            <a:avLst>
              <a:gd name="adj" fmla="val 5963"/>
            </a:avLst>
          </a:prstGeom>
          <a:solidFill>
            <a:srgbClr val="FFF1E7"/>
          </a:solidFill>
          <a:ln w="12700">
            <a:solidFill>
              <a:srgbClr val="E8652B"/>
            </a:solidFill>
            <a:prstDash val="solid"/>
          </a:ln>
        </p:spPr>
      </p:sp>
      <p:sp>
        <p:nvSpPr>
          <p:cNvPr id="28" name="Text 26"/>
          <p:cNvSpPr/>
          <p:nvPr/>
        </p:nvSpPr>
        <p:spPr>
          <a:xfrm>
            <a:off x="4482495" y="2850448"/>
            <a:ext cx="1220410" cy="270744"/>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B1410"/>
                </a:solidFill>
                <a:latin typeface="Inter" pitchFamily="34" charset="0"/>
                <a:ea typeface="Inter" pitchFamily="34" charset="-122"/>
                <a:cs typeface="Inter" pitchFamily="34" charset="-120"/>
              </a:rPr>
              <a:t>Orchestrator</a:t>
            </a:r>
            <a:endParaRPr lang="en-US" sz="1200" dirty="0"/>
          </a:p>
        </p:txBody>
      </p:sp>
      <p:sp>
        <p:nvSpPr>
          <p:cNvPr id="29" name="Text 27"/>
          <p:cNvSpPr/>
          <p:nvPr/>
        </p:nvSpPr>
        <p:spPr>
          <a:xfrm>
            <a:off x="4482495" y="3108493"/>
            <a:ext cx="1220410" cy="270744"/>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F6257"/>
                </a:solidFill>
                <a:latin typeface="Inter" pitchFamily="34" charset="0"/>
                <a:ea typeface="Inter" pitchFamily="34" charset="-122"/>
                <a:cs typeface="Inter" pitchFamily="34" charset="-120"/>
              </a:rPr>
              <a:t>LangGraph</a:t>
            </a:r>
            <a:endParaRPr lang="en-US" sz="1200" dirty="0"/>
          </a:p>
        </p:txBody>
      </p:sp>
      <p:sp>
        <p:nvSpPr>
          <p:cNvPr id="30" name="Text 28"/>
          <p:cNvSpPr/>
          <p:nvPr/>
        </p:nvSpPr>
        <p:spPr>
          <a:xfrm>
            <a:off x="4482495" y="3366536"/>
            <a:ext cx="1220410" cy="270744"/>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F6257"/>
                </a:solidFill>
                <a:latin typeface="Inter" pitchFamily="34" charset="0"/>
                <a:ea typeface="Inter" pitchFamily="34" charset="-122"/>
                <a:cs typeface="Inter" pitchFamily="34" charset="-120"/>
              </a:rPr>
              <a:t>7 gates</a:t>
            </a:r>
            <a:endParaRPr lang="en-US" sz="1200" dirty="0"/>
          </a:p>
        </p:txBody>
      </p:sp>
      <p:sp>
        <p:nvSpPr>
          <p:cNvPr id="31" name="Text 29"/>
          <p:cNvSpPr/>
          <p:nvPr/>
        </p:nvSpPr>
        <p:spPr>
          <a:xfrm>
            <a:off x="4482495" y="3624581"/>
            <a:ext cx="1220410" cy="270744"/>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F6257"/>
                </a:solidFill>
                <a:latin typeface="Inter" pitchFamily="34" charset="0"/>
                <a:ea typeface="Inter" pitchFamily="34" charset="-122"/>
                <a:cs typeface="Inter" pitchFamily="34" charset="-120"/>
              </a:rPr>
              <a:t>Human gate</a:t>
            </a:r>
            <a:endParaRPr lang="en-US" sz="1200" dirty="0"/>
          </a:p>
        </p:txBody>
      </p:sp>
      <p:sp>
        <p:nvSpPr>
          <p:cNvPr id="32" name="Shape 30"/>
          <p:cNvSpPr/>
          <p:nvPr/>
        </p:nvSpPr>
        <p:spPr>
          <a:xfrm>
            <a:off x="4375150" y="4414286"/>
            <a:ext cx="1193800" cy="558800"/>
          </a:xfrm>
          <a:prstGeom prst="roundRect">
            <a:avLst>
              <a:gd name="adj" fmla="val 14773"/>
            </a:avLst>
          </a:prstGeom>
          <a:solidFill>
            <a:srgbClr val="FFFFFF"/>
          </a:solidFill>
          <a:ln w="12700">
            <a:solidFill>
              <a:srgbClr val="D6CDC4"/>
            </a:solidFill>
            <a:prstDash val="solid"/>
          </a:ln>
        </p:spPr>
      </p:sp>
      <p:sp>
        <p:nvSpPr>
          <p:cNvPr id="33" name="Text 31"/>
          <p:cNvSpPr/>
          <p:nvPr/>
        </p:nvSpPr>
        <p:spPr>
          <a:xfrm>
            <a:off x="4469795" y="4483531"/>
            <a:ext cx="1092805" cy="297165"/>
          </a:xfrm>
          <a:prstGeom prst="rect">
            <a:avLst/>
          </a:prstGeom>
          <a:noFill/>
          <a:ln/>
        </p:spPr>
        <p:txBody>
          <a:bodyPr wrap="square" lIns="0" tIns="0" rIns="0" bIns="0" rtlCol="0" anchor="t">
            <a:normAutofit/>
          </a:bodyPr>
          <a:lstStyle/>
          <a:p>
            <a:pPr algn="l" indent="0" marL="0">
              <a:lnSpc>
                <a:spcPts val="1523"/>
              </a:lnSpc>
              <a:buNone/>
            </a:pPr>
            <a:r>
              <a:rPr lang="en-US" sz="1088" b="1" dirty="0">
                <a:solidFill>
                  <a:srgbClr val="1B1410"/>
                </a:solidFill>
                <a:latin typeface="Inter" pitchFamily="34" charset="0"/>
                <a:ea typeface="Inter" pitchFamily="34" charset="-122"/>
                <a:cs typeface="Inter" pitchFamily="34" charset="-120"/>
              </a:rPr>
              <a:t>SupplyGuard</a:t>
            </a:r>
            <a:endParaRPr lang="en-US" sz="1088" dirty="0"/>
          </a:p>
        </p:txBody>
      </p:sp>
      <p:sp>
        <p:nvSpPr>
          <p:cNvPr id="34" name="Text 32"/>
          <p:cNvSpPr/>
          <p:nvPr/>
        </p:nvSpPr>
        <p:spPr>
          <a:xfrm>
            <a:off x="4469795" y="4767996"/>
            <a:ext cx="1055310" cy="180000"/>
          </a:xfrm>
          <a:prstGeom prst="rect">
            <a:avLst/>
          </a:prstGeom>
          <a:noFill/>
          <a:ln/>
        </p:spPr>
        <p:txBody>
          <a:bodyPr wrap="square" lIns="0" tIns="0" rIns="0" bIns="0" rtlCol="0" anchor="t">
            <a:normAutofit/>
          </a:bodyPr>
          <a:lstStyle/>
          <a:p>
            <a:pPr algn="l" indent="0" marL="0">
              <a:lnSpc>
                <a:spcPts val="1000"/>
              </a:lnSpc>
              <a:buNone/>
            </a:pPr>
            <a:r>
              <a:rPr lang="en-US" sz="800" dirty="0">
                <a:solidFill>
                  <a:srgbClr val="6F6257"/>
                </a:solidFill>
                <a:latin typeface="Inter" pitchFamily="34" charset="0"/>
                <a:ea typeface="Inter" pitchFamily="34" charset="-122"/>
                <a:cs typeface="Inter" pitchFamily="34" charset="-120"/>
              </a:rPr>
              <a:t>dependency scanner</a:t>
            </a:r>
            <a:endParaRPr lang="en-US" sz="800" dirty="0"/>
          </a:p>
        </p:txBody>
      </p:sp>
      <p:sp>
        <p:nvSpPr>
          <p:cNvPr id="35" name="Shape 33"/>
          <p:cNvSpPr/>
          <p:nvPr/>
        </p:nvSpPr>
        <p:spPr>
          <a:xfrm>
            <a:off x="4375150" y="5176286"/>
            <a:ext cx="1384300" cy="622300"/>
          </a:xfrm>
          <a:prstGeom prst="roundRect">
            <a:avLst>
              <a:gd name="adj" fmla="val 13265"/>
            </a:avLst>
          </a:prstGeom>
          <a:solidFill>
            <a:srgbClr val="FFFFFF"/>
          </a:solidFill>
          <a:ln w="12700">
            <a:solidFill>
              <a:srgbClr val="D6CDC4"/>
            </a:solidFill>
            <a:prstDash val="solid"/>
          </a:ln>
        </p:spPr>
      </p:sp>
      <p:sp>
        <p:nvSpPr>
          <p:cNvPr id="36" name="Text 34"/>
          <p:cNvSpPr/>
          <p:nvPr/>
        </p:nvSpPr>
        <p:spPr>
          <a:xfrm>
            <a:off x="4482495" y="5245531"/>
            <a:ext cx="1220410" cy="260955"/>
          </a:xfrm>
          <a:prstGeom prst="rect">
            <a:avLst/>
          </a:prstGeom>
          <a:noFill/>
          <a:ln/>
        </p:spPr>
        <p:txBody>
          <a:bodyPr wrap="square" lIns="0" tIns="0" rIns="0" bIns="0" rtlCol="0" anchor="t">
            <a:normAutofit/>
          </a:bodyPr>
          <a:lstStyle/>
          <a:p>
            <a:pPr algn="l" indent="0" marL="0">
              <a:lnSpc>
                <a:spcPts val="1627"/>
              </a:lnSpc>
              <a:buNone/>
            </a:pPr>
            <a:r>
              <a:rPr lang="en-US" sz="1163" b="1" dirty="0">
                <a:solidFill>
                  <a:srgbClr val="1B1410"/>
                </a:solidFill>
                <a:latin typeface="Inter" pitchFamily="34" charset="0"/>
                <a:ea typeface="Inter" pitchFamily="34" charset="-122"/>
                <a:cs typeface="Inter" pitchFamily="34" charset="-120"/>
              </a:rPr>
              <a:t>State store</a:t>
            </a:r>
            <a:endParaRPr lang="en-US" sz="1163" dirty="0"/>
          </a:p>
        </p:txBody>
      </p:sp>
      <p:sp>
        <p:nvSpPr>
          <p:cNvPr id="37" name="Text 35"/>
          <p:cNvSpPr/>
          <p:nvPr/>
        </p:nvSpPr>
        <p:spPr>
          <a:xfrm>
            <a:off x="4482495" y="5493786"/>
            <a:ext cx="1220410" cy="260955"/>
          </a:xfrm>
          <a:prstGeom prst="rect">
            <a:avLst/>
          </a:prstGeom>
          <a:noFill/>
          <a:ln/>
        </p:spPr>
        <p:txBody>
          <a:bodyPr wrap="square" lIns="0" tIns="0" rIns="0" bIns="0" rtlCol="0" anchor="t">
            <a:normAutofit/>
          </a:bodyPr>
          <a:lstStyle/>
          <a:p>
            <a:pPr algn="l" indent="0" marL="0">
              <a:lnSpc>
                <a:spcPts val="1627"/>
              </a:lnSpc>
              <a:buNone/>
            </a:pPr>
            <a:r>
              <a:rPr lang="en-US" sz="1163" dirty="0">
                <a:solidFill>
                  <a:srgbClr val="6F6257"/>
                </a:solidFill>
                <a:latin typeface="Inter" pitchFamily="34" charset="0"/>
                <a:ea typeface="Inter" pitchFamily="34" charset="-122"/>
                <a:cs typeface="Inter" pitchFamily="34" charset="-120"/>
              </a:rPr>
              <a:t>SQLite</a:t>
            </a:r>
            <a:endParaRPr lang="en-US" sz="1163" dirty="0"/>
          </a:p>
        </p:txBody>
      </p:sp>
      <p:sp>
        <p:nvSpPr>
          <p:cNvPr id="38" name="Shape 36"/>
          <p:cNvSpPr/>
          <p:nvPr/>
        </p:nvSpPr>
        <p:spPr>
          <a:xfrm>
            <a:off x="7893050" y="2572786"/>
            <a:ext cx="3327400" cy="812800"/>
          </a:xfrm>
          <a:prstGeom prst="roundRect">
            <a:avLst>
              <a:gd name="adj" fmla="val 10156"/>
            </a:avLst>
          </a:prstGeom>
          <a:solidFill>
            <a:srgbClr val="FFFFFF"/>
          </a:solidFill>
          <a:ln w="12700">
            <a:solidFill>
              <a:srgbClr val="D6CDC4"/>
            </a:solidFill>
            <a:prstDash val="solid"/>
          </a:ln>
        </p:spPr>
      </p:sp>
      <p:sp>
        <p:nvSpPr>
          <p:cNvPr id="39" name="Text 37"/>
          <p:cNvSpPr/>
          <p:nvPr/>
        </p:nvSpPr>
        <p:spPr>
          <a:xfrm>
            <a:off x="8000395" y="2642031"/>
            <a:ext cx="3206091" cy="245911"/>
          </a:xfrm>
          <a:prstGeom prst="rect">
            <a:avLst/>
          </a:prstGeom>
          <a:noFill/>
          <a:ln/>
        </p:spPr>
        <p:txBody>
          <a:bodyPr wrap="square" lIns="0" tIns="0" rIns="0" bIns="0" rtlCol="0" anchor="t">
            <a:normAutofit/>
          </a:bodyPr>
          <a:lstStyle/>
          <a:p>
            <a:pPr algn="l" indent="0" marL="0">
              <a:lnSpc>
                <a:spcPts val="1538"/>
              </a:lnSpc>
              <a:buNone/>
            </a:pPr>
            <a:r>
              <a:rPr lang="en-US" sz="1099" b="1" dirty="0">
                <a:solidFill>
                  <a:srgbClr val="1B1410"/>
                </a:solidFill>
                <a:latin typeface="Inter" pitchFamily="34" charset="0"/>
                <a:ea typeface="Inter" pitchFamily="34" charset="-122"/>
                <a:cs typeface="Inter" pitchFamily="34" charset="-120"/>
              </a:rPr>
              <a:t>LLM gateway</a:t>
            </a:r>
            <a:endParaRPr lang="en-US" sz="1099" dirty="0"/>
          </a:p>
        </p:txBody>
      </p:sp>
      <p:sp>
        <p:nvSpPr>
          <p:cNvPr id="40" name="Text 38"/>
          <p:cNvSpPr/>
          <p:nvPr/>
        </p:nvSpPr>
        <p:spPr>
          <a:xfrm>
            <a:off x="8000395" y="2875243"/>
            <a:ext cx="3206091" cy="466498"/>
          </a:xfrm>
          <a:prstGeom prst="rect">
            <a:avLst/>
          </a:prstGeom>
          <a:noFill/>
          <a:ln/>
        </p:spPr>
        <p:txBody>
          <a:bodyPr wrap="square" lIns="0" tIns="0" rIns="0" bIns="0" rtlCol="0" anchor="t">
            <a:normAutofit/>
          </a:bodyPr>
          <a:lstStyle/>
          <a:p>
            <a:pPr algn="l" indent="0" marL="0">
              <a:lnSpc>
                <a:spcPts val="1507"/>
              </a:lnSpc>
              <a:buNone/>
            </a:pPr>
            <a:r>
              <a:rPr lang="en-US" sz="1076" dirty="0">
                <a:solidFill>
                  <a:srgbClr val="6F6257"/>
                </a:solidFill>
                <a:latin typeface="Inter" pitchFamily="34" charset="0"/>
                <a:ea typeface="Inter" pitchFamily="34" charset="-122"/>
                <a:cs typeface="Inter" pitchFamily="34" charset="-120"/>
              </a:rPr>
              <a:t>LiteLLM: Groq, then Nebius, then Gemini by quota. Budgets and logs.</a:t>
            </a:r>
            <a:endParaRPr lang="en-US" sz="1076" dirty="0"/>
          </a:p>
        </p:txBody>
      </p:sp>
      <p:sp>
        <p:nvSpPr>
          <p:cNvPr id="41" name="Shape 39"/>
          <p:cNvSpPr/>
          <p:nvPr/>
        </p:nvSpPr>
        <p:spPr>
          <a:xfrm>
            <a:off x="7893050" y="4223786"/>
            <a:ext cx="3327400" cy="812800"/>
          </a:xfrm>
          <a:prstGeom prst="roundRect">
            <a:avLst>
              <a:gd name="adj" fmla="val 10156"/>
            </a:avLst>
          </a:prstGeom>
          <a:solidFill>
            <a:srgbClr val="FFFFFF"/>
          </a:solidFill>
          <a:ln w="12700">
            <a:solidFill>
              <a:srgbClr val="D6CDC4"/>
            </a:solidFill>
            <a:prstDash val="solid"/>
          </a:ln>
        </p:spPr>
      </p:sp>
      <p:sp>
        <p:nvSpPr>
          <p:cNvPr id="42" name="Text 40"/>
          <p:cNvSpPr/>
          <p:nvPr/>
        </p:nvSpPr>
        <p:spPr>
          <a:xfrm>
            <a:off x="8000395" y="4293031"/>
            <a:ext cx="3206091" cy="245911"/>
          </a:xfrm>
          <a:prstGeom prst="rect">
            <a:avLst/>
          </a:prstGeom>
          <a:noFill/>
          <a:ln/>
        </p:spPr>
        <p:txBody>
          <a:bodyPr wrap="square" lIns="0" tIns="0" rIns="0" bIns="0" rtlCol="0" anchor="t">
            <a:normAutofit/>
          </a:bodyPr>
          <a:lstStyle/>
          <a:p>
            <a:pPr algn="l" indent="0" marL="0">
              <a:lnSpc>
                <a:spcPts val="1538"/>
              </a:lnSpc>
              <a:buNone/>
            </a:pPr>
            <a:r>
              <a:rPr lang="en-US" sz="1099" b="1" dirty="0">
                <a:solidFill>
                  <a:srgbClr val="1B1410"/>
                </a:solidFill>
                <a:latin typeface="Inter" pitchFamily="34" charset="0"/>
                <a:ea typeface="Inter" pitchFamily="34" charset="-122"/>
                <a:cs typeface="Inter" pitchFamily="34" charset="-120"/>
              </a:rPr>
              <a:t>Docker sandbox</a:t>
            </a:r>
            <a:endParaRPr lang="en-US" sz="1099" dirty="0"/>
          </a:p>
        </p:txBody>
      </p:sp>
      <p:sp>
        <p:nvSpPr>
          <p:cNvPr id="43" name="Text 41"/>
          <p:cNvSpPr/>
          <p:nvPr/>
        </p:nvSpPr>
        <p:spPr>
          <a:xfrm>
            <a:off x="8000395" y="4526243"/>
            <a:ext cx="3206091" cy="466498"/>
          </a:xfrm>
          <a:prstGeom prst="rect">
            <a:avLst/>
          </a:prstGeom>
          <a:noFill/>
          <a:ln/>
        </p:spPr>
        <p:txBody>
          <a:bodyPr wrap="square" lIns="0" tIns="0" rIns="0" bIns="0" rtlCol="0" anchor="t">
            <a:normAutofit/>
          </a:bodyPr>
          <a:lstStyle/>
          <a:p>
            <a:pPr algn="l" indent="0" marL="0">
              <a:lnSpc>
                <a:spcPts val="1507"/>
              </a:lnSpc>
              <a:buNone/>
            </a:pPr>
            <a:r>
              <a:rPr lang="en-US" sz="1076" dirty="0">
                <a:solidFill>
                  <a:srgbClr val="6F6257"/>
                </a:solidFill>
                <a:latin typeface="Inter" pitchFamily="34" charset="0"/>
                <a:ea typeface="Inter" pitchFamily="34" charset="-122"/>
                <a:cs typeface="Inter" pitchFamily="34" charset="-120"/>
              </a:rPr>
              <a:t>One container per step, deleted after the run.</a:t>
            </a:r>
            <a:endParaRPr lang="en-US" sz="1076" dirty="0"/>
          </a:p>
        </p:txBody>
      </p:sp>
      <p:pic>
        <p:nvPicPr>
          <p:cNvPr id="44" name="Image 0" descr="connector">    </p:cNvPr>
          <p:cNvPicPr>
            <a:picLocks noChangeAspect="1"/>
          </p:cNvPicPr>
          <p:nvPr/>
        </p:nvPicPr>
        <p:blipFill>
          <a:blip r:embed="rId1"/>
          <a:srcRect l="0" r="0" t="0" b="0"/>
          <a:stretch/>
        </p:blipFill>
        <p:spPr>
          <a:xfrm>
            <a:off x="2171700" y="2845836"/>
            <a:ext cx="609600" cy="76200"/>
          </a:xfrm>
          <a:prstGeom prst="rect">
            <a:avLst/>
          </a:prstGeom>
        </p:spPr>
      </p:pic>
      <p:pic>
        <p:nvPicPr>
          <p:cNvPr id="45" name="Image 1" descr="connector">    </p:cNvPr>
          <p:cNvPicPr>
            <a:picLocks noChangeAspect="1"/>
          </p:cNvPicPr>
          <p:nvPr/>
        </p:nvPicPr>
        <p:blipFill>
          <a:blip r:embed="rId2"/>
          <a:srcRect l="0" r="0" t="0" b="0"/>
          <a:stretch/>
        </p:blipFill>
        <p:spPr>
          <a:xfrm>
            <a:off x="3340100" y="3163336"/>
            <a:ext cx="76200" cy="393700"/>
          </a:xfrm>
          <a:prstGeom prst="rect">
            <a:avLst/>
          </a:prstGeom>
        </p:spPr>
      </p:pic>
      <p:pic>
        <p:nvPicPr>
          <p:cNvPr id="46" name="Image 2" descr="connector">    </p:cNvPr>
          <p:cNvPicPr>
            <a:picLocks noChangeAspect="1"/>
          </p:cNvPicPr>
          <p:nvPr/>
        </p:nvPicPr>
        <p:blipFill>
          <a:blip r:embed="rId3"/>
          <a:srcRect l="0" r="0" t="0" b="0"/>
          <a:stretch/>
        </p:blipFill>
        <p:spPr>
          <a:xfrm>
            <a:off x="3975100" y="3798336"/>
            <a:ext cx="431800" cy="76200"/>
          </a:xfrm>
          <a:prstGeom prst="rect">
            <a:avLst/>
          </a:prstGeom>
        </p:spPr>
      </p:pic>
      <p:pic>
        <p:nvPicPr>
          <p:cNvPr id="47" name="Image 3" descr="connector">    </p:cNvPr>
          <p:cNvPicPr>
            <a:picLocks noChangeAspect="1"/>
          </p:cNvPicPr>
          <p:nvPr/>
        </p:nvPicPr>
        <p:blipFill>
          <a:blip r:embed="rId4"/>
          <a:srcRect l="0" r="0" t="0" b="0"/>
          <a:stretch/>
        </p:blipFill>
        <p:spPr>
          <a:xfrm>
            <a:off x="2171700" y="4655586"/>
            <a:ext cx="609600" cy="76200"/>
          </a:xfrm>
          <a:prstGeom prst="rect">
            <a:avLst/>
          </a:prstGeom>
        </p:spPr>
      </p:pic>
      <p:pic>
        <p:nvPicPr>
          <p:cNvPr id="48" name="Image 4" descr="connector">    </p:cNvPr>
          <p:cNvPicPr>
            <a:picLocks noChangeAspect="1"/>
          </p:cNvPicPr>
          <p:nvPr/>
        </p:nvPicPr>
        <p:blipFill>
          <a:blip r:embed="rId5"/>
          <a:srcRect l="0" r="0" t="0" b="0"/>
          <a:stretch/>
        </p:blipFill>
        <p:spPr>
          <a:xfrm>
            <a:off x="3975100" y="3988836"/>
            <a:ext cx="431800" cy="742950"/>
          </a:xfrm>
          <a:prstGeom prst="rect">
            <a:avLst/>
          </a:prstGeom>
        </p:spPr>
      </p:pic>
      <p:pic>
        <p:nvPicPr>
          <p:cNvPr id="49" name="Image 5" descr="connector">    </p:cNvPr>
          <p:cNvPicPr>
            <a:picLocks noChangeAspect="1"/>
          </p:cNvPicPr>
          <p:nvPr/>
        </p:nvPicPr>
        <p:blipFill>
          <a:blip r:embed="rId6"/>
          <a:srcRect l="0" r="0" t="0" b="0"/>
          <a:stretch/>
        </p:blipFill>
        <p:spPr>
          <a:xfrm>
            <a:off x="2171700" y="5449336"/>
            <a:ext cx="609600" cy="76200"/>
          </a:xfrm>
          <a:prstGeom prst="rect">
            <a:avLst/>
          </a:prstGeom>
        </p:spPr>
      </p:pic>
      <p:pic>
        <p:nvPicPr>
          <p:cNvPr id="50" name="Image 6" descr="connector">    </p:cNvPr>
          <p:cNvPicPr>
            <a:picLocks noChangeAspect="1"/>
          </p:cNvPicPr>
          <p:nvPr/>
        </p:nvPicPr>
        <p:blipFill>
          <a:blip r:embed="rId7"/>
          <a:srcRect l="0" r="0" t="0" b="0"/>
          <a:stretch/>
        </p:blipFill>
        <p:spPr>
          <a:xfrm>
            <a:off x="4933950" y="4115836"/>
            <a:ext cx="76200" cy="330200"/>
          </a:xfrm>
          <a:prstGeom prst="rect">
            <a:avLst/>
          </a:prstGeom>
        </p:spPr>
      </p:pic>
      <p:pic>
        <p:nvPicPr>
          <p:cNvPr id="52" name="Image 8" descr="connector">    </p:cNvPr>
          <p:cNvPicPr>
            <a:picLocks noChangeAspect="1"/>
          </p:cNvPicPr>
          <p:nvPr/>
        </p:nvPicPr>
        <p:blipFill>
          <a:blip r:embed="rId9"/>
          <a:srcRect l="0" r="0" t="0" b="0"/>
          <a:stretch/>
        </p:blipFill>
        <p:spPr>
          <a:xfrm>
            <a:off x="5715000" y="2928386"/>
            <a:ext cx="2222500" cy="101600"/>
          </a:xfrm>
          <a:prstGeom prst="rect">
            <a:avLst/>
          </a:prstGeom>
        </p:spPr>
      </p:pic>
      <p:pic>
        <p:nvPicPr>
          <p:cNvPr id="53" name="Image 9" descr="connector">    </p:cNvPr>
          <p:cNvPicPr>
            <a:picLocks noChangeAspect="1"/>
          </p:cNvPicPr>
          <p:nvPr/>
        </p:nvPicPr>
        <p:blipFill>
          <a:blip r:embed="rId10"/>
          <a:srcRect l="0" r="0" t="0" b="0"/>
          <a:stretch/>
        </p:blipFill>
        <p:spPr>
          <a:xfrm>
            <a:off x="5715000" y="3658636"/>
            <a:ext cx="2222500" cy="1022350"/>
          </a:xfrm>
          <a:prstGeom prst="rect">
            <a:avLst/>
          </a:prstGeom>
        </p:spPr>
      </p:pic>
      <p:sp>
        <p:nvSpPr>
          <p:cNvPr id="54" name="Text 42"/>
          <p:cNvSpPr/>
          <p:nvPr/>
        </p:nvSpPr>
        <p:spPr>
          <a:xfrm>
            <a:off x="7482986" y="812800"/>
            <a:ext cx="1178416" cy="270744"/>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F6257"/>
                </a:solidFill>
                <a:latin typeface="JetBrains Mono" pitchFamily="49" charset="0"/>
                <a:ea typeface="JetBrains Mono" pitchFamily="49" charset="-122"/>
                <a:cs typeface="JetBrains Mono" pitchFamily="49" charset="-120"/>
              </a:rPr>
              <a:t>Built with</a:t>
            </a:r>
            <a:endParaRPr lang="en-US" sz="1200" dirty="0"/>
          </a:p>
        </p:txBody>
      </p:sp>
      <p:pic>
        <p:nvPicPr>
          <p:cNvPr id="55" name="Image 10" descr="React">    </p:cNvPr>
          <p:cNvPicPr>
            <a:picLocks noChangeAspect="1"/>
          </p:cNvPicPr>
          <p:nvPr/>
        </p:nvPicPr>
        <p:blipFill>
          <a:blip r:embed="rId11"/>
          <a:srcRect l="0" r="0" t="0" b="0"/>
          <a:stretch/>
        </p:blipFill>
        <p:spPr>
          <a:xfrm>
            <a:off x="7621587" y="1110000"/>
            <a:ext cx="279400" cy="279400"/>
          </a:xfrm>
          <a:prstGeom prst="rect">
            <a:avLst/>
          </a:prstGeom>
        </p:spPr>
      </p:pic>
      <p:sp>
        <p:nvSpPr>
          <p:cNvPr id="65" name="Text 42 copy 65"/>
          <p:cNvSpPr/>
          <p:nvPr/>
        </p:nvSpPr>
        <p:spPr>
          <a:xfrm>
            <a:off x="7482986" y="1420000"/>
            <a:ext cx="556602" cy="170000"/>
          </a:xfrm>
          <a:prstGeom prst="rect">
            <a:avLst/>
          </a:prstGeom>
          <a:noFill/>
          <a:ln/>
        </p:spPr>
        <p:txBody>
          <a:bodyPr wrap="square" lIns="0" tIns="0" rIns="0" bIns="0" rtlCol="0" anchor="t">
            <a:normAutofit/>
          </a:bodyPr>
          <a:lstStyle/>
          <a:p>
            <a:pPr algn="ctr" indent="0" marL="0">
              <a:lnSpc>
                <a:spcPts val="900"/>
              </a:lnSpc>
              <a:buNone/>
            </a:pPr>
            <a:r>
              <a:rPr lang="en-US" sz="720" dirty="0">
                <a:solidFill>
                  <a:srgbClr val="6F6257"/>
                </a:solidFill>
                <a:latin typeface="JetBrains Mono" pitchFamily="49" charset="0"/>
                <a:ea typeface="JetBrains Mono" pitchFamily="49" charset="-122"/>
                <a:cs typeface="JetBrains Mono" pitchFamily="49" charset="-120"/>
              </a:rPr>
              <a:t>React</a:t>
            </a:r>
            <a:endParaRPr lang="en-US" sz="720" dirty="0"/>
          </a:p>
        </p:txBody>
      </p:sp>
      <p:pic>
        <p:nvPicPr>
          <p:cNvPr id="57" name="Image 12" descr="FastAPI">    </p:cNvPr>
          <p:cNvPicPr>
            <a:picLocks noChangeAspect="1"/>
          </p:cNvPicPr>
          <p:nvPr/>
        </p:nvPicPr>
        <p:blipFill>
          <a:blip r:embed="rId13"/>
          <a:srcRect l="0" r="0" t="0" b="0"/>
          <a:stretch/>
        </p:blipFill>
        <p:spPr>
          <a:xfrm>
            <a:off x="8178189" y="1110000"/>
            <a:ext cx="279400" cy="279400"/>
          </a:xfrm>
          <a:prstGeom prst="rect">
            <a:avLst/>
          </a:prstGeom>
        </p:spPr>
      </p:pic>
      <p:sp>
        <p:nvSpPr>
          <p:cNvPr id="66" name="Text 42 copy 66"/>
          <p:cNvSpPr/>
          <p:nvPr/>
        </p:nvSpPr>
        <p:spPr>
          <a:xfrm>
            <a:off x="8039588" y="1420000"/>
            <a:ext cx="556602" cy="170000"/>
          </a:xfrm>
          <a:prstGeom prst="rect">
            <a:avLst/>
          </a:prstGeom>
          <a:noFill/>
          <a:ln/>
        </p:spPr>
        <p:txBody>
          <a:bodyPr wrap="square" lIns="0" tIns="0" rIns="0" bIns="0" rtlCol="0" anchor="t">
            <a:normAutofit/>
          </a:bodyPr>
          <a:lstStyle/>
          <a:p>
            <a:pPr algn="ctr" indent="0" marL="0">
              <a:lnSpc>
                <a:spcPts val="900"/>
              </a:lnSpc>
              <a:buNone/>
            </a:pPr>
            <a:r>
              <a:rPr lang="en-US" sz="720" dirty="0">
                <a:solidFill>
                  <a:srgbClr val="6F6257"/>
                </a:solidFill>
                <a:latin typeface="JetBrains Mono" pitchFamily="49" charset="0"/>
                <a:ea typeface="JetBrains Mono" pitchFamily="49" charset="-122"/>
                <a:cs typeface="JetBrains Mono" pitchFamily="49" charset="-120"/>
              </a:rPr>
              <a:t>FastAPI</a:t>
            </a:r>
            <a:endParaRPr lang="en-US" sz="720" dirty="0"/>
          </a:p>
        </p:txBody>
      </p:sp>
      <p:sp>
        <p:nvSpPr>
          <p:cNvPr id="67" name="Text 42 copy 67"/>
          <p:cNvSpPr/>
          <p:nvPr/>
        </p:nvSpPr>
        <p:spPr>
          <a:xfrm>
            <a:off x="8734791" y="1110000"/>
            <a:ext cx="279400" cy="279400"/>
          </a:xfrm>
          <a:prstGeom prst="roundRect">
            <a:avLst/>
          </a:prstGeom>
          <a:solidFill>
            <a:srgbClr val="1B1410"/>
          </a:solidFill>
          <a:ln>
            <a:noFill/>
          </a:ln>
        </p:spPr>
        <p:txBody>
          <a:bodyPr wrap="none" lIns="0" tIns="0" rIns="0" bIns="0" rtlCol="0" anchor="ctr">
            <a:normAutofit/>
          </a:bodyPr>
          <a:lstStyle/>
          <a:p>
            <a:pPr algn="ctr" indent="0" marL="0">
              <a:lnSpc>
                <a:spcPts val="1020"/>
              </a:lnSpc>
              <a:buNone/>
            </a:pPr>
            <a:r>
              <a:rPr lang="en-US" sz="850" dirty="0" b="1">
                <a:solidFill>
                  <a:srgbClr val="F3EEE8"/>
                </a:solidFill>
                <a:latin typeface="Inter" pitchFamily="34" charset="0"/>
                <a:ea typeface="Inter" pitchFamily="34" charset="-122"/>
                <a:cs typeface="Inter" pitchFamily="34" charset="-120"/>
              </a:rPr>
              <a:t>LG</a:t>
            </a:r>
            <a:endParaRPr lang="en-US" sz="850" dirty="0"/>
          </a:p>
        </p:txBody>
      </p:sp>
      <p:sp>
        <p:nvSpPr>
          <p:cNvPr id="68" name="Text 42 copy 68"/>
          <p:cNvSpPr/>
          <p:nvPr/>
        </p:nvSpPr>
        <p:spPr>
          <a:xfrm>
            <a:off x="8596190" y="1420000"/>
            <a:ext cx="556602" cy="170000"/>
          </a:xfrm>
          <a:prstGeom prst="rect">
            <a:avLst/>
          </a:prstGeom>
          <a:noFill/>
          <a:ln/>
        </p:spPr>
        <p:txBody>
          <a:bodyPr wrap="square" lIns="0" tIns="0" rIns="0" bIns="0" rtlCol="0" anchor="t">
            <a:normAutofit/>
          </a:bodyPr>
          <a:lstStyle/>
          <a:p>
            <a:pPr algn="ctr" indent="0" marL="0">
              <a:lnSpc>
                <a:spcPts val="900"/>
              </a:lnSpc>
              <a:buNone/>
            </a:pPr>
            <a:r>
              <a:rPr lang="en-US" sz="720" dirty="0">
                <a:solidFill>
                  <a:srgbClr val="6F6257"/>
                </a:solidFill>
                <a:latin typeface="JetBrains Mono" pitchFamily="49" charset="0"/>
                <a:ea typeface="JetBrains Mono" pitchFamily="49" charset="-122"/>
                <a:cs typeface="JetBrains Mono" pitchFamily="49" charset="-120"/>
              </a:rPr>
              <a:t>LangGraph</a:t>
            </a:r>
            <a:endParaRPr lang="en-US" sz="720" dirty="0"/>
          </a:p>
        </p:txBody>
      </p:sp>
      <p:sp>
        <p:nvSpPr>
          <p:cNvPr id="69" name="Text 42 copy 69"/>
          <p:cNvSpPr/>
          <p:nvPr/>
        </p:nvSpPr>
        <p:spPr>
          <a:xfrm>
            <a:off x="9291393" y="1110000"/>
            <a:ext cx="279400" cy="279400"/>
          </a:xfrm>
          <a:prstGeom prst="roundRect">
            <a:avLst/>
          </a:prstGeom>
          <a:solidFill>
            <a:srgbClr val="1B1410"/>
          </a:solidFill>
          <a:ln>
            <a:noFill/>
          </a:ln>
        </p:spPr>
        <p:txBody>
          <a:bodyPr wrap="none" lIns="0" tIns="0" rIns="0" bIns="0" rtlCol="0" anchor="ctr">
            <a:normAutofit/>
          </a:bodyPr>
          <a:lstStyle/>
          <a:p>
            <a:pPr algn="ctr" indent="0" marL="0">
              <a:lnSpc>
                <a:spcPts val="1020"/>
              </a:lnSpc>
              <a:buNone/>
            </a:pPr>
            <a:r>
              <a:rPr lang="en-US" sz="850" dirty="0" b="1">
                <a:solidFill>
                  <a:srgbClr val="F3EEE8"/>
                </a:solidFill>
                <a:latin typeface="Inter" pitchFamily="34" charset="0"/>
                <a:ea typeface="Inter" pitchFamily="34" charset="-122"/>
                <a:cs typeface="Inter" pitchFamily="34" charset="-120"/>
              </a:rPr>
              <a:t>LL</a:t>
            </a:r>
            <a:endParaRPr lang="en-US" sz="850" dirty="0"/>
          </a:p>
        </p:txBody>
      </p:sp>
      <p:sp>
        <p:nvSpPr>
          <p:cNvPr id="70" name="Text 42 copy 70"/>
          <p:cNvSpPr/>
          <p:nvPr/>
        </p:nvSpPr>
        <p:spPr>
          <a:xfrm>
            <a:off x="9152792" y="1420000"/>
            <a:ext cx="556602" cy="170000"/>
          </a:xfrm>
          <a:prstGeom prst="rect">
            <a:avLst/>
          </a:prstGeom>
          <a:noFill/>
          <a:ln/>
        </p:spPr>
        <p:txBody>
          <a:bodyPr wrap="square" lIns="0" tIns="0" rIns="0" bIns="0" rtlCol="0" anchor="t">
            <a:normAutofit/>
          </a:bodyPr>
          <a:lstStyle/>
          <a:p>
            <a:pPr algn="ctr" indent="0" marL="0">
              <a:lnSpc>
                <a:spcPts val="900"/>
              </a:lnSpc>
              <a:buNone/>
            </a:pPr>
            <a:r>
              <a:rPr lang="en-US" sz="720" dirty="0">
                <a:solidFill>
                  <a:srgbClr val="6F6257"/>
                </a:solidFill>
                <a:latin typeface="JetBrains Mono" pitchFamily="49" charset="0"/>
                <a:ea typeface="JetBrains Mono" pitchFamily="49" charset="-122"/>
                <a:cs typeface="JetBrains Mono" pitchFamily="49" charset="-120"/>
              </a:rPr>
              <a:t>LiteLLM</a:t>
            </a:r>
            <a:endParaRPr lang="en-US" sz="720" dirty="0"/>
          </a:p>
        </p:txBody>
      </p:sp>
      <p:pic>
        <p:nvPicPr>
          <p:cNvPr id="58" name="Image 13" descr="Python">    </p:cNvPr>
          <p:cNvPicPr>
            <a:picLocks noChangeAspect="1"/>
          </p:cNvPicPr>
          <p:nvPr/>
        </p:nvPicPr>
        <p:blipFill>
          <a:blip r:embed="rId14"/>
          <a:srcRect l="0" r="0" t="0" b="0"/>
          <a:stretch/>
        </p:blipFill>
        <p:spPr>
          <a:xfrm>
            <a:off x="9847995" y="1110000"/>
            <a:ext cx="279400" cy="279400"/>
          </a:xfrm>
          <a:prstGeom prst="rect">
            <a:avLst/>
          </a:prstGeom>
        </p:spPr>
      </p:pic>
      <p:sp>
        <p:nvSpPr>
          <p:cNvPr id="71" name="Text 42 copy 71"/>
          <p:cNvSpPr/>
          <p:nvPr/>
        </p:nvSpPr>
        <p:spPr>
          <a:xfrm>
            <a:off x="9709394" y="1420000"/>
            <a:ext cx="556602" cy="170000"/>
          </a:xfrm>
          <a:prstGeom prst="rect">
            <a:avLst/>
          </a:prstGeom>
          <a:noFill/>
          <a:ln/>
        </p:spPr>
        <p:txBody>
          <a:bodyPr wrap="square" lIns="0" tIns="0" rIns="0" bIns="0" rtlCol="0" anchor="t">
            <a:normAutofit/>
          </a:bodyPr>
          <a:lstStyle/>
          <a:p>
            <a:pPr algn="ctr" indent="0" marL="0">
              <a:lnSpc>
                <a:spcPts val="900"/>
              </a:lnSpc>
              <a:buNone/>
            </a:pPr>
            <a:r>
              <a:rPr lang="en-US" sz="720" dirty="0">
                <a:solidFill>
                  <a:srgbClr val="6F6257"/>
                </a:solidFill>
                <a:latin typeface="JetBrains Mono" pitchFamily="49" charset="0"/>
                <a:ea typeface="JetBrains Mono" pitchFamily="49" charset="-122"/>
                <a:cs typeface="JetBrains Mono" pitchFamily="49" charset="-120"/>
              </a:rPr>
              <a:t>Python</a:t>
            </a:r>
            <a:endParaRPr lang="en-US" sz="720" dirty="0"/>
          </a:p>
        </p:txBody>
      </p:sp>
      <p:pic>
        <p:nvPicPr>
          <p:cNvPr id="59" name="Image 14" descr="Docker">    </p:cNvPr>
          <p:cNvPicPr>
            <a:picLocks noChangeAspect="1"/>
          </p:cNvPicPr>
          <p:nvPr/>
        </p:nvPicPr>
        <p:blipFill>
          <a:blip r:embed="rId15"/>
          <a:srcRect l="0" r="0" t="0" b="0"/>
          <a:stretch/>
        </p:blipFill>
        <p:spPr>
          <a:xfrm>
            <a:off x="10404597" y="1110000"/>
            <a:ext cx="279400" cy="279400"/>
          </a:xfrm>
          <a:prstGeom prst="rect">
            <a:avLst/>
          </a:prstGeom>
        </p:spPr>
      </p:pic>
      <p:sp>
        <p:nvSpPr>
          <p:cNvPr id="72" name="Text 42 copy 72"/>
          <p:cNvSpPr/>
          <p:nvPr/>
        </p:nvSpPr>
        <p:spPr>
          <a:xfrm>
            <a:off x="10265996" y="1420000"/>
            <a:ext cx="556602" cy="170000"/>
          </a:xfrm>
          <a:prstGeom prst="rect">
            <a:avLst/>
          </a:prstGeom>
          <a:noFill/>
          <a:ln/>
        </p:spPr>
        <p:txBody>
          <a:bodyPr wrap="square" lIns="0" tIns="0" rIns="0" bIns="0" rtlCol="0" anchor="t">
            <a:normAutofit/>
          </a:bodyPr>
          <a:lstStyle/>
          <a:p>
            <a:pPr algn="ctr" indent="0" marL="0">
              <a:lnSpc>
                <a:spcPts val="900"/>
              </a:lnSpc>
              <a:buNone/>
            </a:pPr>
            <a:r>
              <a:rPr lang="en-US" sz="720" dirty="0">
                <a:solidFill>
                  <a:srgbClr val="6F6257"/>
                </a:solidFill>
                <a:latin typeface="JetBrains Mono" pitchFamily="49" charset="0"/>
                <a:ea typeface="JetBrains Mono" pitchFamily="49" charset="-122"/>
                <a:cs typeface="JetBrains Mono" pitchFamily="49" charset="-120"/>
              </a:rPr>
              <a:t>Docker</a:t>
            </a:r>
            <a:endParaRPr lang="en-US" sz="720" dirty="0"/>
          </a:p>
        </p:txBody>
      </p:sp>
      <p:pic>
        <p:nvPicPr>
          <p:cNvPr id="61" name="Image 16" descr="GitHub">    </p:cNvPr>
          <p:cNvPicPr>
            <a:picLocks noChangeAspect="1"/>
          </p:cNvPicPr>
          <p:nvPr/>
        </p:nvPicPr>
        <p:blipFill>
          <a:blip r:embed="rId17"/>
          <a:srcRect l="0" r="0" t="0" b="0"/>
          <a:stretch/>
        </p:blipFill>
        <p:spPr>
          <a:xfrm>
            <a:off x="10961199" y="1110000"/>
            <a:ext cx="279400" cy="279400"/>
          </a:xfrm>
          <a:prstGeom prst="rect">
            <a:avLst/>
          </a:prstGeom>
        </p:spPr>
      </p:pic>
      <p:sp>
        <p:nvSpPr>
          <p:cNvPr id="73" name="Text 42 copy 73"/>
          <p:cNvSpPr/>
          <p:nvPr/>
        </p:nvSpPr>
        <p:spPr>
          <a:xfrm>
            <a:off x="10822598" y="1420000"/>
            <a:ext cx="556602" cy="170000"/>
          </a:xfrm>
          <a:prstGeom prst="rect">
            <a:avLst/>
          </a:prstGeom>
          <a:noFill/>
          <a:ln/>
        </p:spPr>
        <p:txBody>
          <a:bodyPr wrap="square" lIns="0" tIns="0" rIns="0" bIns="0" rtlCol="0" anchor="t">
            <a:normAutofit/>
          </a:bodyPr>
          <a:lstStyle/>
          <a:p>
            <a:pPr algn="ctr" indent="0" marL="0">
              <a:lnSpc>
                <a:spcPts val="900"/>
              </a:lnSpc>
              <a:buNone/>
            </a:pPr>
            <a:r>
              <a:rPr lang="en-US" sz="720" dirty="0">
                <a:solidFill>
                  <a:srgbClr val="6F6257"/>
                </a:solidFill>
                <a:latin typeface="JetBrains Mono" pitchFamily="49" charset="0"/>
                <a:ea typeface="JetBrains Mono" pitchFamily="49" charset="-122"/>
                <a:cs typeface="JetBrains Mono" pitchFamily="49" charset="-120"/>
              </a:rPr>
              <a:t>GitHub</a:t>
            </a:r>
            <a:endParaRPr lang="en-US" sz="720" dirty="0"/>
          </a:p>
        </p:txBody>
      </p:sp>
      <p:sp>
        <p:nvSpPr>
          <p:cNvPr id="62" name="Text 43"/>
          <p:cNvSpPr/>
          <p:nvPr/>
        </p:nvSpPr>
        <p:spPr>
          <a:xfrm>
            <a:off x="812800" y="6206255"/>
            <a:ext cx="3924300" cy="270744"/>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F6257"/>
                </a:solidFill>
                <a:latin typeface="JetBrains Mono" pitchFamily="49" charset="0"/>
                <a:ea typeface="JetBrains Mono" pitchFamily="49" charset="-122"/>
                <a:cs typeface="JetBrains Mono" pitchFamily="49" charset="-120"/>
              </a:rPr>
              <a:t>PatchPilot</a:t>
            </a:r>
            <a:endParaRPr lang="en-US" sz="1200" dirty="0"/>
          </a:p>
        </p:txBody>
      </p:sp>
      <p:sp>
        <p:nvSpPr>
          <p:cNvPr id="63" name="Text 44"/>
          <p:cNvSpPr/>
          <p:nvPr/>
        </p:nvSpPr>
        <p:spPr>
          <a:xfrm>
            <a:off x="7454900" y="6206255"/>
            <a:ext cx="3924300" cy="270744"/>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F6257"/>
                </a:solidFill>
                <a:latin typeface="JetBrains Mono" pitchFamily="49" charset="0"/>
                <a:ea typeface="JetBrains Mono" pitchFamily="49" charset="-122"/>
                <a:cs typeface="JetBrains Mono" pitchFamily="49" charset="-120"/>
              </a:rPr>
              <a:t>05 / 06</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812800" y="812800"/>
            <a:ext cx="10883392" cy="270744"/>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08A57"/>
                </a:solidFill>
                <a:latin typeface="JetBrains Mono" pitchFamily="49" charset="0"/>
                <a:ea typeface="JetBrains Mono" pitchFamily="49" charset="-122"/>
                <a:cs typeface="JetBrains Mono" pitchFamily="49" charset="-120"/>
              </a:rPr>
              <a:t>[ Agent orchestration ]</a:t>
            </a:r>
            <a:endParaRPr lang="en-US" sz="1200" dirty="0"/>
          </a:p>
        </p:txBody>
      </p:sp>
      <p:sp>
        <p:nvSpPr>
          <p:cNvPr id="3" name="Text 1"/>
          <p:cNvSpPr/>
          <p:nvPr>
            <p:ph type="title"/>
          </p:nvPr>
        </p:nvSpPr>
        <p:spPr>
          <a:xfrm>
            <a:off x="812800" y="1159745"/>
            <a:ext cx="10883392" cy="475192"/>
          </a:xfrm>
          <a:prstGeom prst="rect">
            <a:avLst/>
          </a:prstGeom>
          <a:noFill/>
          <a:ln/>
        </p:spPr>
        <p:txBody>
          <a:bodyPr wrap="square" lIns="0" tIns="0" rIns="0" bIns="0" rtlCol="0" anchor="t">
            <a:normAutofit/>
          </a:bodyPr>
          <a:lstStyle/>
          <a:p>
            <a:pPr algn="l" indent="0" marL="0">
              <a:lnSpc>
                <a:spcPts val="3080"/>
              </a:lnSpc>
              <a:buNone/>
            </a:pPr>
            <a:r>
              <a:rPr lang="en-US" sz="2800" b="1" i="0" spc="-50" kern="0" dirty="0">
                <a:solidFill>
                  <a:srgbClr val="F2EDE8"/>
                </a:solidFill>
                <a:latin typeface="Inter" pitchFamily="34" charset="0"/>
                <a:ea typeface="Inter" pitchFamily="34" charset="-122"/>
                <a:cs typeface="Inter" pitchFamily="34" charset="-120"/>
              </a:rPr>
              <a:t>Five AI roles. Seven code gates.</a:t>
            </a:r>
            <a:endParaRPr lang="en-US" sz="2800" dirty="0"/>
          </a:p>
        </p:txBody>
      </p:sp>
      <p:pic>
        <p:nvPicPr>
          <p:cNvPr id="4" name="Image 0" descr="One run as a horizontal line of ten stages, AI roles above, gates below, with a retry loop from Verify back to Fix">    </p:cNvPr>
          <p:cNvPicPr>
            <a:picLocks noChangeAspect="1"/>
          </p:cNvPicPr>
          <p:nvPr/>
        </p:nvPicPr>
        <p:blipFill>
          <a:blip r:embed="rId1"/>
          <a:srcRect l="-11" r="-11" t="0" b="0"/>
          <a:stretch/>
        </p:blipFill>
        <p:spPr>
          <a:xfrm>
            <a:off x="812800" y="1761936"/>
            <a:ext cx="10566400" cy="3683000"/>
          </a:xfrm>
          <a:prstGeom prst="rect">
            <a:avLst/>
          </a:prstGeom>
        </p:spPr>
      </p:pic>
      <p:pic>
        <p:nvPicPr>
          <p:cNvPr id="5" name="Image 1" descr="AI role marker">    </p:cNvPr>
          <p:cNvPicPr>
            <a:picLocks noChangeAspect="1"/>
          </p:cNvPicPr>
          <p:nvPr/>
        </p:nvPicPr>
        <p:blipFill>
          <a:blip r:embed="rId2"/>
          <a:srcRect l="0" r="0" t="0" b="0"/>
          <a:stretch/>
        </p:blipFill>
        <p:spPr>
          <a:xfrm>
            <a:off x="812800" y="1909990"/>
            <a:ext cx="152400" cy="152400"/>
          </a:xfrm>
          <a:prstGeom prst="rect">
            <a:avLst/>
          </a:prstGeom>
        </p:spPr>
      </p:pic>
      <p:sp>
        <p:nvSpPr>
          <p:cNvPr id="6" name="Text 2"/>
          <p:cNvSpPr/>
          <p:nvPr/>
        </p:nvSpPr>
        <p:spPr>
          <a:xfrm>
            <a:off x="1041400" y="1863536"/>
            <a:ext cx="1068388" cy="270744"/>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89C92"/>
                </a:solidFill>
                <a:latin typeface="Inter" pitchFamily="34" charset="0"/>
                <a:ea typeface="Inter" pitchFamily="34" charset="-122"/>
                <a:cs typeface="Inter" pitchFamily="34" charset="-120"/>
              </a:rPr>
              <a:t>AI proposes</a:t>
            </a:r>
            <a:endParaRPr lang="en-US" sz="1200" dirty="0"/>
          </a:p>
        </p:txBody>
      </p:sp>
      <p:pic>
        <p:nvPicPr>
          <p:cNvPr id="7" name="Image 2" descr="Gate marker">    </p:cNvPr>
          <p:cNvPicPr>
            <a:picLocks noChangeAspect="1"/>
          </p:cNvPicPr>
          <p:nvPr/>
        </p:nvPicPr>
        <p:blipFill>
          <a:blip r:embed="rId3"/>
          <a:srcRect l="0" r="0" t="0" b="0"/>
          <a:stretch/>
        </p:blipFill>
        <p:spPr>
          <a:xfrm>
            <a:off x="2109788" y="1909990"/>
            <a:ext cx="152400" cy="152400"/>
          </a:xfrm>
          <a:prstGeom prst="rect">
            <a:avLst/>
          </a:prstGeom>
        </p:spPr>
      </p:pic>
      <p:sp>
        <p:nvSpPr>
          <p:cNvPr id="8" name="Text 3"/>
          <p:cNvSpPr/>
          <p:nvPr/>
        </p:nvSpPr>
        <p:spPr>
          <a:xfrm>
            <a:off x="2338388" y="1863536"/>
            <a:ext cx="1374911" cy="270744"/>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89C92"/>
                </a:solidFill>
                <a:latin typeface="Inter" pitchFamily="34" charset="0"/>
                <a:ea typeface="Inter" pitchFamily="34" charset="-122"/>
                <a:cs typeface="Inter" pitchFamily="34" charset="-120"/>
              </a:rPr>
              <a:t>Code decides</a:t>
            </a:r>
            <a:endParaRPr lang="en-US" sz="1200" dirty="0"/>
          </a:p>
        </p:txBody>
      </p:sp>
      <p:sp>
        <p:nvSpPr>
          <p:cNvPr id="9" name="Text 4"/>
          <p:cNvSpPr/>
          <p:nvPr/>
        </p:nvSpPr>
        <p:spPr>
          <a:xfrm>
            <a:off x="3933300" y="1952436"/>
            <a:ext cx="4300000" cy="270744"/>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F08A57"/>
                </a:solidFill>
                <a:latin typeface="JetBrains Mono" pitchFamily="49" charset="0"/>
                <a:ea typeface="JetBrains Mono" pitchFamily="49" charset="-122"/>
                <a:cs typeface="JetBrains Mono" pitchFamily="49" charset="-120"/>
              </a:rPr>
              <a:t>fails? back to Fix: 3 tries, then re-diagnose</a:t>
            </a:r>
            <a:endParaRPr lang="en-US" sz="1200" dirty="0"/>
          </a:p>
        </p:txBody>
      </p:sp>
      <p:sp>
        <p:nvSpPr>
          <p:cNvPr id="10" name="Text 5"/>
          <p:cNvSpPr/>
          <p:nvPr/>
        </p:nvSpPr>
        <p:spPr>
          <a:xfrm>
            <a:off x="2952750" y="2706574"/>
            <a:ext cx="1003300" cy="446012"/>
          </a:xfrm>
          <a:prstGeom prst="rect">
            <a:avLst/>
          </a:prstGeom>
          <a:noFill/>
          <a:ln/>
        </p:spPr>
        <p:txBody>
          <a:bodyPr wrap="square" lIns="0" tIns="0" rIns="0" bIns="0" rtlCol="0" anchor="b">
            <a:normAutofit/>
          </a:bodyPr>
          <a:lstStyle/>
          <a:p>
            <a:pPr algn="ctr" indent="0" marL="0">
              <a:lnSpc>
                <a:spcPts val="1440"/>
              </a:lnSpc>
              <a:buNone/>
            </a:pPr>
            <a:r>
              <a:rPr lang="en-US" sz="1200" b="1" dirty="0">
                <a:solidFill>
                  <a:srgbClr val="F2EDE8"/>
                </a:solidFill>
                <a:latin typeface="Inter" pitchFamily="34" charset="0"/>
                <a:ea typeface="Inter" pitchFamily="34" charset="-122"/>
                <a:cs typeface="Inter" pitchFamily="34" charset="-120"/>
              </a:rPr>
              <a:t>Test</a:t>
            </a:r>
            <a:endParaRPr lang="en-US" sz="1200" dirty="0"/>
          </a:p>
          <a:p>
            <a:pPr algn="ctr" indent="0" marL="0">
              <a:lnSpc>
                <a:spcPts val="1440"/>
              </a:lnSpc>
              <a:buNone/>
            </a:pPr>
            <a:r>
              <a:rPr lang="en-US" sz="1200" b="1" dirty="0">
                <a:solidFill>
                  <a:srgbClr val="F2EDE8"/>
                </a:solidFill>
                <a:latin typeface="Inter" pitchFamily="34" charset="0"/>
                <a:ea typeface="Inter" pitchFamily="34" charset="-122"/>
                <a:cs typeface="Inter" pitchFamily="34" charset="-120"/>
              </a:rPr>
              <a:t>designer</a:t>
            </a:r>
            <a:endParaRPr lang="en-US" sz="1200" dirty="0"/>
          </a:p>
        </p:txBody>
      </p:sp>
      <p:sp>
        <p:nvSpPr>
          <p:cNvPr id="11" name="Text 6"/>
          <p:cNvSpPr/>
          <p:nvPr/>
        </p:nvSpPr>
        <p:spPr>
          <a:xfrm>
            <a:off x="3956088" y="2706574"/>
            <a:ext cx="1109965" cy="446012"/>
          </a:xfrm>
          <a:prstGeom prst="rect">
            <a:avLst/>
          </a:prstGeom>
          <a:noFill/>
          <a:ln/>
        </p:spPr>
        <p:txBody>
          <a:bodyPr wrap="square" lIns="0" tIns="0" rIns="0" bIns="0" rtlCol="0" anchor="b">
            <a:normAutofit/>
          </a:bodyPr>
          <a:lstStyle/>
          <a:p>
            <a:pPr algn="ctr" indent="0" marL="0">
              <a:lnSpc>
                <a:spcPts val="1440"/>
              </a:lnSpc>
              <a:buNone/>
            </a:pPr>
            <a:r>
              <a:rPr lang="en-US" sz="1200" b="1" dirty="0">
                <a:solidFill>
                  <a:srgbClr val="F2EDE8"/>
                </a:solidFill>
                <a:latin typeface="Inter" pitchFamily="34" charset="0"/>
                <a:ea typeface="Inter" pitchFamily="34" charset="-122"/>
                <a:cs typeface="Inter" pitchFamily="34" charset="-120"/>
              </a:rPr>
              <a:t>Investigator</a:t>
            </a:r>
            <a:endParaRPr lang="en-US" sz="1200" dirty="0"/>
          </a:p>
        </p:txBody>
      </p:sp>
      <p:sp>
        <p:nvSpPr>
          <p:cNvPr id="12" name="Text 7"/>
          <p:cNvSpPr/>
          <p:nvPr/>
        </p:nvSpPr>
        <p:spPr>
          <a:xfrm>
            <a:off x="5066053" y="2706574"/>
            <a:ext cx="1003300" cy="446012"/>
          </a:xfrm>
          <a:prstGeom prst="rect">
            <a:avLst/>
          </a:prstGeom>
          <a:noFill/>
          <a:ln/>
        </p:spPr>
        <p:txBody>
          <a:bodyPr wrap="square" lIns="0" tIns="0" rIns="0" bIns="0" rtlCol="0" anchor="b">
            <a:normAutofit/>
          </a:bodyPr>
          <a:lstStyle/>
          <a:p>
            <a:pPr algn="ctr" indent="0" marL="0">
              <a:lnSpc>
                <a:spcPts val="1440"/>
              </a:lnSpc>
              <a:buNone/>
            </a:pPr>
            <a:r>
              <a:rPr lang="en-US" sz="1200" b="1" dirty="0">
                <a:solidFill>
                  <a:srgbClr val="F2EDE8"/>
                </a:solidFill>
                <a:latin typeface="Inter" pitchFamily="34" charset="0"/>
                <a:ea typeface="Inter" pitchFamily="34" charset="-122"/>
                <a:cs typeface="Inter" pitchFamily="34" charset="-120"/>
              </a:rPr>
              <a:t>Fixer</a:t>
            </a:r>
            <a:endParaRPr lang="en-US" sz="1200" dirty="0"/>
          </a:p>
        </p:txBody>
      </p:sp>
      <p:sp>
        <p:nvSpPr>
          <p:cNvPr id="13" name="Text 8"/>
          <p:cNvSpPr/>
          <p:nvPr/>
        </p:nvSpPr>
        <p:spPr>
          <a:xfrm>
            <a:off x="7179318" y="2706574"/>
            <a:ext cx="1003300" cy="446012"/>
          </a:xfrm>
          <a:prstGeom prst="rect">
            <a:avLst/>
          </a:prstGeom>
          <a:noFill/>
          <a:ln/>
        </p:spPr>
        <p:txBody>
          <a:bodyPr wrap="square" lIns="0" tIns="0" rIns="0" bIns="0" rtlCol="0" anchor="b">
            <a:normAutofit/>
          </a:bodyPr>
          <a:lstStyle/>
          <a:p>
            <a:pPr algn="ctr" indent="0" marL="0">
              <a:lnSpc>
                <a:spcPts val="1440"/>
              </a:lnSpc>
              <a:buNone/>
            </a:pPr>
            <a:r>
              <a:rPr lang="en-US" sz="1200" b="1" dirty="0">
                <a:solidFill>
                  <a:srgbClr val="F2EDE8"/>
                </a:solidFill>
                <a:latin typeface="Inter" pitchFamily="34" charset="0"/>
                <a:ea typeface="Inter" pitchFamily="34" charset="-122"/>
                <a:cs typeface="Inter" pitchFamily="34" charset="-120"/>
              </a:rPr>
              <a:t>Reviewer</a:t>
            </a:r>
            <a:endParaRPr lang="en-US" sz="1200" dirty="0"/>
          </a:p>
        </p:txBody>
      </p:sp>
      <p:sp>
        <p:nvSpPr>
          <p:cNvPr id="14" name="Text 9"/>
          <p:cNvSpPr/>
          <p:nvPr/>
        </p:nvSpPr>
        <p:spPr>
          <a:xfrm>
            <a:off x="8235950" y="2706574"/>
            <a:ext cx="1003300" cy="446012"/>
          </a:xfrm>
          <a:prstGeom prst="rect">
            <a:avLst/>
          </a:prstGeom>
          <a:noFill/>
          <a:ln/>
        </p:spPr>
        <p:txBody>
          <a:bodyPr wrap="square" lIns="0" tIns="0" rIns="0" bIns="0" rtlCol="0" anchor="b">
            <a:normAutofit/>
          </a:bodyPr>
          <a:lstStyle/>
          <a:p>
            <a:pPr algn="ctr" indent="0" marL="0">
              <a:lnSpc>
                <a:spcPts val="1440"/>
              </a:lnSpc>
              <a:buNone/>
            </a:pPr>
            <a:r>
              <a:rPr lang="en-US" sz="1200" b="1" dirty="0">
                <a:solidFill>
                  <a:srgbClr val="F2EDE8"/>
                </a:solidFill>
                <a:latin typeface="Inter" pitchFamily="34" charset="0"/>
                <a:ea typeface="Inter" pitchFamily="34" charset="-122"/>
                <a:cs typeface="Inter" pitchFamily="34" charset="-120"/>
              </a:rPr>
              <a:t>Explainer</a:t>
            </a:r>
            <a:endParaRPr lang="en-US" sz="1200" dirty="0"/>
          </a:p>
        </p:txBody>
      </p:sp>
      <p:sp>
        <p:nvSpPr>
          <p:cNvPr id="15" name="Text 10"/>
          <p:cNvSpPr/>
          <p:nvPr/>
        </p:nvSpPr>
        <p:spPr>
          <a:xfrm>
            <a:off x="787400" y="3806636"/>
            <a:ext cx="1107433" cy="270744"/>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F2EDE8"/>
                </a:solidFill>
                <a:latin typeface="Inter" pitchFamily="34" charset="0"/>
                <a:ea typeface="Inter" pitchFamily="34" charset="-122"/>
                <a:cs typeface="Inter" pitchFamily="34" charset="-120"/>
              </a:rPr>
              <a:t>Intake</a:t>
            </a:r>
            <a:endParaRPr lang="en-US" sz="1200" dirty="0"/>
          </a:p>
        </p:txBody>
      </p:sp>
      <p:sp>
        <p:nvSpPr>
          <p:cNvPr id="16" name="Text 11"/>
          <p:cNvSpPr/>
          <p:nvPr/>
        </p:nvSpPr>
        <p:spPr>
          <a:xfrm>
            <a:off x="1844032" y="3806636"/>
            <a:ext cx="1107470" cy="270744"/>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F2EDE8"/>
                </a:solidFill>
                <a:latin typeface="Inter" pitchFamily="34" charset="0"/>
                <a:ea typeface="Inter" pitchFamily="34" charset="-122"/>
                <a:cs typeface="Inter" pitchFamily="34" charset="-120"/>
              </a:rPr>
              <a:t>Setup</a:t>
            </a:r>
            <a:endParaRPr lang="en-US" sz="1200" dirty="0"/>
          </a:p>
        </p:txBody>
      </p:sp>
      <p:sp>
        <p:nvSpPr>
          <p:cNvPr id="17" name="Text 12"/>
          <p:cNvSpPr/>
          <p:nvPr/>
        </p:nvSpPr>
        <p:spPr>
          <a:xfrm>
            <a:off x="2900703" y="3806636"/>
            <a:ext cx="1107433" cy="270744"/>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F2EDE8"/>
                </a:solidFill>
                <a:latin typeface="Inter" pitchFamily="34" charset="0"/>
                <a:ea typeface="Inter" pitchFamily="34" charset="-122"/>
                <a:cs typeface="Inter" pitchFamily="34" charset="-120"/>
              </a:rPr>
              <a:t>Reproduce</a:t>
            </a:r>
            <a:endParaRPr lang="en-US" sz="1200" dirty="0"/>
          </a:p>
        </p:txBody>
      </p:sp>
      <p:sp>
        <p:nvSpPr>
          <p:cNvPr id="18" name="Text 13"/>
          <p:cNvSpPr/>
          <p:nvPr/>
        </p:nvSpPr>
        <p:spPr>
          <a:xfrm>
            <a:off x="3957335" y="3806636"/>
            <a:ext cx="1107470" cy="270744"/>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F2EDE8"/>
                </a:solidFill>
                <a:latin typeface="Inter" pitchFamily="34" charset="0"/>
                <a:ea typeface="Inter" pitchFamily="34" charset="-122"/>
                <a:cs typeface="Inter" pitchFamily="34" charset="-120"/>
              </a:rPr>
              <a:t>Diagnose</a:t>
            </a:r>
            <a:endParaRPr lang="en-US" sz="1200" dirty="0"/>
          </a:p>
        </p:txBody>
      </p:sp>
      <p:sp>
        <p:nvSpPr>
          <p:cNvPr id="19" name="Text 14"/>
          <p:cNvSpPr/>
          <p:nvPr/>
        </p:nvSpPr>
        <p:spPr>
          <a:xfrm>
            <a:off x="5014006" y="3806636"/>
            <a:ext cx="1107433" cy="270744"/>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F2EDE8"/>
                </a:solidFill>
                <a:latin typeface="Inter" pitchFamily="34" charset="0"/>
                <a:ea typeface="Inter" pitchFamily="34" charset="-122"/>
                <a:cs typeface="Inter" pitchFamily="34" charset="-120"/>
              </a:rPr>
              <a:t>Fix</a:t>
            </a:r>
            <a:endParaRPr lang="en-US" sz="1200" dirty="0"/>
          </a:p>
        </p:txBody>
      </p:sp>
      <p:sp>
        <p:nvSpPr>
          <p:cNvPr id="20" name="Text 15"/>
          <p:cNvSpPr/>
          <p:nvPr/>
        </p:nvSpPr>
        <p:spPr>
          <a:xfrm>
            <a:off x="6070638" y="3806636"/>
            <a:ext cx="1107433" cy="270744"/>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F2EDE8"/>
                </a:solidFill>
                <a:latin typeface="Inter" pitchFamily="34" charset="0"/>
                <a:ea typeface="Inter" pitchFamily="34" charset="-122"/>
                <a:cs typeface="Inter" pitchFamily="34" charset="-120"/>
              </a:rPr>
              <a:t>Verify</a:t>
            </a:r>
            <a:endParaRPr lang="en-US" sz="1200" dirty="0"/>
          </a:p>
        </p:txBody>
      </p:sp>
      <p:sp>
        <p:nvSpPr>
          <p:cNvPr id="21" name="Text 16"/>
          <p:cNvSpPr/>
          <p:nvPr/>
        </p:nvSpPr>
        <p:spPr>
          <a:xfrm>
            <a:off x="7127270" y="3806636"/>
            <a:ext cx="1107433" cy="270744"/>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F2EDE8"/>
                </a:solidFill>
                <a:latin typeface="Inter" pitchFamily="34" charset="0"/>
                <a:ea typeface="Inter" pitchFamily="34" charset="-122"/>
                <a:cs typeface="Inter" pitchFamily="34" charset="-120"/>
              </a:rPr>
              <a:t>Review</a:t>
            </a:r>
            <a:endParaRPr lang="en-US" sz="1200" dirty="0"/>
          </a:p>
        </p:txBody>
      </p:sp>
      <p:sp>
        <p:nvSpPr>
          <p:cNvPr id="22" name="Text 17"/>
          <p:cNvSpPr/>
          <p:nvPr/>
        </p:nvSpPr>
        <p:spPr>
          <a:xfrm>
            <a:off x="8183903" y="3806636"/>
            <a:ext cx="1107433" cy="270744"/>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F2EDE8"/>
                </a:solidFill>
                <a:latin typeface="Inter" pitchFamily="34" charset="0"/>
                <a:ea typeface="Inter" pitchFamily="34" charset="-122"/>
                <a:cs typeface="Inter" pitchFamily="34" charset="-120"/>
              </a:rPr>
              <a:t>Report</a:t>
            </a:r>
            <a:endParaRPr lang="en-US" sz="1200" dirty="0"/>
          </a:p>
        </p:txBody>
      </p:sp>
      <p:sp>
        <p:nvSpPr>
          <p:cNvPr id="23" name="Text 18"/>
          <p:cNvSpPr/>
          <p:nvPr/>
        </p:nvSpPr>
        <p:spPr>
          <a:xfrm>
            <a:off x="9240535" y="3806636"/>
            <a:ext cx="1107433" cy="270744"/>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F2EDE8"/>
                </a:solidFill>
                <a:latin typeface="Inter" pitchFamily="34" charset="0"/>
                <a:ea typeface="Inter" pitchFamily="34" charset="-122"/>
                <a:cs typeface="Inter" pitchFamily="34" charset="-120"/>
              </a:rPr>
              <a:t>Approve</a:t>
            </a:r>
            <a:endParaRPr lang="en-US" sz="1200" dirty="0"/>
          </a:p>
        </p:txBody>
      </p:sp>
      <p:sp>
        <p:nvSpPr>
          <p:cNvPr id="24" name="Text 19"/>
          <p:cNvSpPr/>
          <p:nvPr/>
        </p:nvSpPr>
        <p:spPr>
          <a:xfrm>
            <a:off x="10297168" y="3806636"/>
            <a:ext cx="1107433" cy="270744"/>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F2EDE8"/>
                </a:solidFill>
                <a:latin typeface="Inter" pitchFamily="34" charset="0"/>
                <a:ea typeface="Inter" pitchFamily="34" charset="-122"/>
                <a:cs typeface="Inter" pitchFamily="34" charset="-120"/>
              </a:rPr>
              <a:t>Publish</a:t>
            </a:r>
            <a:endParaRPr lang="en-US" sz="1200" dirty="0"/>
          </a:p>
        </p:txBody>
      </p:sp>
      <p:sp>
        <p:nvSpPr>
          <p:cNvPr id="25" name="Text 20"/>
          <p:cNvSpPr/>
          <p:nvPr/>
        </p:nvSpPr>
        <p:spPr>
          <a:xfrm>
            <a:off x="839447" y="4428936"/>
            <a:ext cx="1003300" cy="253244"/>
          </a:xfrm>
          <a:prstGeom prst="rect">
            <a:avLst/>
          </a:prstGeom>
          <a:noFill/>
          <a:ln/>
        </p:spPr>
        <p:txBody>
          <a:bodyPr wrap="square" lIns="0" tIns="0" rIns="0" bIns="0" rtlCol="0" anchor="t">
            <a:normAutofit/>
          </a:bodyPr>
          <a:lstStyle/>
          <a:p>
            <a:pPr algn="ctr" indent="0" marL="0">
              <a:lnSpc>
                <a:spcPts val="1560"/>
              </a:lnSpc>
              <a:buNone/>
            </a:pPr>
            <a:r>
              <a:rPr lang="en-US" sz="1200" dirty="0">
                <a:solidFill>
                  <a:srgbClr val="C9BDB3"/>
                </a:solidFill>
                <a:latin typeface="Inter" pitchFamily="34" charset="0"/>
                <a:ea typeface="Inter" pitchFamily="34" charset="-122"/>
                <a:cs typeface="Inter" pitchFamily="34" charset="-120"/>
              </a:rPr>
              <a:t>Eligible?</a:t>
            </a:r>
            <a:endParaRPr lang="en-US" sz="1200" dirty="0"/>
          </a:p>
        </p:txBody>
      </p:sp>
      <p:sp>
        <p:nvSpPr>
          <p:cNvPr id="26" name="Text 21"/>
          <p:cNvSpPr/>
          <p:nvPr/>
        </p:nvSpPr>
        <p:spPr>
          <a:xfrm>
            <a:off x="1896118" y="4428936"/>
            <a:ext cx="1003300" cy="481088"/>
          </a:xfrm>
          <a:prstGeom prst="rect">
            <a:avLst/>
          </a:prstGeom>
          <a:noFill/>
          <a:ln/>
        </p:spPr>
        <p:txBody>
          <a:bodyPr wrap="square" lIns="0" tIns="0" rIns="0" bIns="0" rtlCol="0" anchor="t">
            <a:normAutofit/>
          </a:bodyPr>
          <a:lstStyle/>
          <a:p>
            <a:pPr algn="ctr" indent="0" marL="0">
              <a:lnSpc>
                <a:spcPts val="1560"/>
              </a:lnSpc>
              <a:buNone/>
            </a:pPr>
            <a:r>
              <a:rPr lang="en-US" sz="1200" dirty="0">
                <a:solidFill>
                  <a:srgbClr val="C9BDB3"/>
                </a:solidFill>
                <a:latin typeface="Inter" pitchFamily="34" charset="0"/>
                <a:ea typeface="Inter" pitchFamily="34" charset="-122"/>
                <a:cs typeface="Inter" pitchFamily="34" charset="-120"/>
              </a:rPr>
              <a:t>Scan, then install</a:t>
            </a:r>
            <a:endParaRPr lang="en-US" sz="1200" dirty="0"/>
          </a:p>
        </p:txBody>
      </p:sp>
      <p:sp>
        <p:nvSpPr>
          <p:cNvPr id="27" name="Text 22"/>
          <p:cNvSpPr/>
          <p:nvPr/>
        </p:nvSpPr>
        <p:spPr>
          <a:xfrm>
            <a:off x="2952750" y="4428936"/>
            <a:ext cx="1003300" cy="253244"/>
          </a:xfrm>
          <a:prstGeom prst="rect">
            <a:avLst/>
          </a:prstGeom>
          <a:noFill/>
          <a:ln/>
        </p:spPr>
        <p:txBody>
          <a:bodyPr wrap="square" lIns="0" tIns="0" rIns="0" bIns="0" rtlCol="0" anchor="t">
            <a:normAutofit/>
          </a:bodyPr>
          <a:lstStyle/>
          <a:p>
            <a:pPr algn="ctr" indent="0" marL="0">
              <a:lnSpc>
                <a:spcPts val="1560"/>
              </a:lnSpc>
              <a:buNone/>
            </a:pPr>
            <a:r>
              <a:rPr lang="en-US" sz="1200" dirty="0">
                <a:solidFill>
                  <a:srgbClr val="C9BDB3"/>
                </a:solidFill>
                <a:latin typeface="Inter" pitchFamily="34" charset="0"/>
                <a:ea typeface="Inter" pitchFamily="34" charset="-122"/>
                <a:cs typeface="Inter" pitchFamily="34" charset="-120"/>
              </a:rPr>
              <a:t>Fails 2 of 2</a:t>
            </a:r>
            <a:endParaRPr lang="en-US" sz="1200" dirty="0"/>
          </a:p>
        </p:txBody>
      </p:sp>
      <p:sp>
        <p:nvSpPr>
          <p:cNvPr id="28" name="Text 23"/>
          <p:cNvSpPr/>
          <p:nvPr/>
        </p:nvSpPr>
        <p:spPr>
          <a:xfrm>
            <a:off x="5066053" y="4428936"/>
            <a:ext cx="1003300" cy="253244"/>
          </a:xfrm>
          <a:prstGeom prst="rect">
            <a:avLst/>
          </a:prstGeom>
          <a:noFill/>
          <a:ln/>
        </p:spPr>
        <p:txBody>
          <a:bodyPr wrap="square" lIns="0" tIns="0" rIns="0" bIns="0" rtlCol="0" anchor="t">
            <a:normAutofit/>
          </a:bodyPr>
          <a:lstStyle/>
          <a:p>
            <a:pPr algn="ctr" indent="0" marL="0">
              <a:lnSpc>
                <a:spcPts val="1560"/>
              </a:lnSpc>
              <a:buNone/>
            </a:pPr>
            <a:r>
              <a:rPr lang="en-US" sz="1200" dirty="0">
                <a:solidFill>
                  <a:srgbClr val="C9BDB3"/>
                </a:solidFill>
                <a:latin typeface="Inter" pitchFamily="34" charset="0"/>
                <a:ea typeface="Inter" pitchFamily="34" charset="-122"/>
                <a:cs typeface="Inter" pitchFamily="34" charset="-120"/>
              </a:rPr>
              <a:t>Diff rules</a:t>
            </a:r>
            <a:endParaRPr lang="en-US" sz="1200" dirty="0"/>
          </a:p>
        </p:txBody>
      </p:sp>
      <p:sp>
        <p:nvSpPr>
          <p:cNvPr id="29" name="Text 24"/>
          <p:cNvSpPr/>
          <p:nvPr/>
        </p:nvSpPr>
        <p:spPr>
          <a:xfrm>
            <a:off x="6122685" y="4428936"/>
            <a:ext cx="1003300" cy="481088"/>
          </a:xfrm>
          <a:prstGeom prst="rect">
            <a:avLst/>
          </a:prstGeom>
          <a:noFill/>
          <a:ln/>
        </p:spPr>
        <p:txBody>
          <a:bodyPr wrap="square" lIns="0" tIns="0" rIns="0" bIns="0" rtlCol="0" anchor="t">
            <a:normAutofit/>
          </a:bodyPr>
          <a:lstStyle/>
          <a:p>
            <a:pPr algn="ctr" indent="0" marL="0">
              <a:lnSpc>
                <a:spcPts val="1560"/>
              </a:lnSpc>
              <a:buNone/>
            </a:pPr>
            <a:r>
              <a:rPr lang="en-US" sz="1200" dirty="0">
                <a:solidFill>
                  <a:srgbClr val="C9BDB3"/>
                </a:solidFill>
                <a:latin typeface="Inter" pitchFamily="34" charset="0"/>
                <a:ea typeface="Inter" pitchFamily="34" charset="-122"/>
                <a:cs typeface="Inter" pitchFamily="34" charset="-120"/>
              </a:rPr>
              <a:t>Passes 2 of 2</a:t>
            </a:r>
            <a:endParaRPr lang="en-US" sz="1200" dirty="0"/>
          </a:p>
        </p:txBody>
      </p:sp>
      <p:sp>
        <p:nvSpPr>
          <p:cNvPr id="30" name="Text 25"/>
          <p:cNvSpPr/>
          <p:nvPr/>
        </p:nvSpPr>
        <p:spPr>
          <a:xfrm>
            <a:off x="8235950" y="4428936"/>
            <a:ext cx="1003300" cy="481088"/>
          </a:xfrm>
          <a:prstGeom prst="rect">
            <a:avLst/>
          </a:prstGeom>
          <a:noFill/>
          <a:ln/>
        </p:spPr>
        <p:txBody>
          <a:bodyPr wrap="square" lIns="0" tIns="0" rIns="0" bIns="0" rtlCol="0" anchor="t">
            <a:normAutofit/>
          </a:bodyPr>
          <a:lstStyle/>
          <a:p>
            <a:pPr algn="ctr" indent="0" marL="0">
              <a:lnSpc>
                <a:spcPts val="1560"/>
              </a:lnSpc>
              <a:buNone/>
            </a:pPr>
            <a:r>
              <a:rPr lang="en-US" sz="1200" dirty="0">
                <a:solidFill>
                  <a:srgbClr val="C9BDB3"/>
                </a:solidFill>
                <a:latin typeface="Inter" pitchFamily="34" charset="0"/>
                <a:ea typeface="Inter" pitchFamily="34" charset="-122"/>
                <a:cs typeface="Inter" pitchFamily="34" charset="-120"/>
              </a:rPr>
              <a:t>Claims match logs</a:t>
            </a:r>
            <a:endParaRPr lang="en-US" sz="1200" dirty="0"/>
          </a:p>
        </p:txBody>
      </p:sp>
      <p:sp>
        <p:nvSpPr>
          <p:cNvPr id="31" name="Text 26"/>
          <p:cNvSpPr/>
          <p:nvPr/>
        </p:nvSpPr>
        <p:spPr>
          <a:xfrm>
            <a:off x="9292582" y="4428936"/>
            <a:ext cx="1003300" cy="708932"/>
          </a:xfrm>
          <a:prstGeom prst="rect">
            <a:avLst/>
          </a:prstGeom>
          <a:noFill/>
          <a:ln/>
        </p:spPr>
        <p:txBody>
          <a:bodyPr wrap="square" lIns="0" tIns="0" rIns="0" bIns="0" rtlCol="0" anchor="t">
            <a:normAutofit/>
          </a:bodyPr>
          <a:lstStyle/>
          <a:p>
            <a:pPr algn="ctr" indent="0" marL="0">
              <a:lnSpc>
                <a:spcPts val="1560"/>
              </a:lnSpc>
              <a:buNone/>
            </a:pPr>
            <a:r>
              <a:rPr lang="en-US" sz="1200" dirty="0">
                <a:solidFill>
                  <a:srgbClr val="F08A57"/>
                </a:solidFill>
                <a:latin typeface="Inter" pitchFamily="34" charset="0"/>
                <a:ea typeface="Inter" pitchFamily="34" charset="-122"/>
                <a:cs typeface="Inter" pitchFamily="34" charset="-120"/>
              </a:rPr>
              <a:t>You approve the diff</a:t>
            </a:r>
            <a:endParaRPr lang="en-US" sz="1200" dirty="0"/>
          </a:p>
        </p:txBody>
      </p:sp>
      <p:sp>
        <p:nvSpPr>
          <p:cNvPr id="32" name="Text 27"/>
          <p:cNvSpPr/>
          <p:nvPr/>
        </p:nvSpPr>
        <p:spPr>
          <a:xfrm>
            <a:off x="812800" y="5190936"/>
            <a:ext cx="10883392" cy="270744"/>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08A57"/>
                </a:solidFill>
                <a:latin typeface="JetBrains Mono" pitchFamily="49" charset="0"/>
                <a:ea typeface="JetBrains Mono" pitchFamily="49" charset="-122"/>
                <a:cs typeface="JetBrains Mono" pitchFamily="49" charset="-120"/>
              </a:rPr>
              <a:t>If a fix still can't be proven, the run ends with a triage report. Never a fake fix.</a:t>
            </a:r>
            <a:endParaRPr lang="en-US" sz="1200" dirty="0"/>
          </a:p>
        </p:txBody>
      </p:sp>
      <p:sp>
        <p:nvSpPr>
          <p:cNvPr id="33" name="Text 28"/>
          <p:cNvSpPr/>
          <p:nvPr/>
        </p:nvSpPr>
        <p:spPr>
          <a:xfrm>
            <a:off x="812800" y="6206257"/>
            <a:ext cx="3924300" cy="270744"/>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89C92"/>
                </a:solidFill>
                <a:latin typeface="JetBrains Mono" pitchFamily="49" charset="0"/>
                <a:ea typeface="JetBrains Mono" pitchFamily="49" charset="-122"/>
                <a:cs typeface="JetBrains Mono" pitchFamily="49" charset="-120"/>
              </a:rPr>
              <a:t>PatchPilot</a:t>
            </a:r>
            <a:endParaRPr lang="en-US" sz="1200" dirty="0"/>
          </a:p>
        </p:txBody>
      </p:sp>
      <p:sp>
        <p:nvSpPr>
          <p:cNvPr id="34" name="Text 29"/>
          <p:cNvSpPr/>
          <p:nvPr/>
        </p:nvSpPr>
        <p:spPr>
          <a:xfrm>
            <a:off x="7454900" y="6206257"/>
            <a:ext cx="3924300" cy="270744"/>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A89C92"/>
                </a:solidFill>
                <a:latin typeface="JetBrains Mono" pitchFamily="49" charset="0"/>
                <a:ea typeface="JetBrains Mono" pitchFamily="49" charset="-122"/>
                <a:cs typeface="JetBrains Mono" pitchFamily="49" charset="-120"/>
              </a:rPr>
              <a:t>04 / 06</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812800" y="812800"/>
            <a:ext cx="10883392" cy="270744"/>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08A57"/>
                </a:solidFill>
                <a:latin typeface="JetBrains Mono" pitchFamily="49" charset="0"/>
                <a:ea typeface="JetBrains Mono" pitchFamily="49" charset="-122"/>
                <a:cs typeface="JetBrains Mono" pitchFamily="49" charset="-120"/>
              </a:rPr>
              <a:t>[ The product ]</a:t>
            </a:r>
            <a:endParaRPr lang="en-US" sz="1200" dirty="0"/>
          </a:p>
        </p:txBody>
      </p:sp>
      <p:sp>
        <p:nvSpPr>
          <p:cNvPr id="3" name="Text 1"/>
          <p:cNvSpPr/>
          <p:nvPr>
            <p:ph type="title"/>
          </p:nvPr>
        </p:nvSpPr>
        <p:spPr>
          <a:xfrm>
            <a:off x="812800" y="1159746"/>
            <a:ext cx="10883392" cy="475192"/>
          </a:xfrm>
          <a:prstGeom prst="rect">
            <a:avLst/>
          </a:prstGeom>
          <a:noFill/>
          <a:ln/>
        </p:spPr>
        <p:txBody>
          <a:bodyPr wrap="square" lIns="0" tIns="0" rIns="0" bIns="0" rtlCol="0" anchor="t">
            <a:normAutofit/>
          </a:bodyPr>
          <a:lstStyle/>
          <a:p>
            <a:pPr algn="l" indent="0" marL="0">
              <a:lnSpc>
                <a:spcPts val="3080"/>
              </a:lnSpc>
              <a:buNone/>
            </a:pPr>
            <a:r>
              <a:rPr lang="en-US" sz="2800" b="1" i="0" spc="-50" kern="0" dirty="0">
                <a:solidFill>
                  <a:srgbClr val="F2EDE8"/>
                </a:solidFill>
                <a:latin typeface="Inter" pitchFamily="34" charset="0"/>
                <a:ea typeface="Inter" pitchFamily="34" charset="-122"/>
                <a:cs typeface="Inter" pitchFamily="34" charset="-120"/>
              </a:rPr>
              <a:t>One link in. One proven PR out.</a:t>
            </a:r>
            <a:endParaRPr lang="en-US" sz="2800" dirty="0"/>
          </a:p>
        </p:txBody>
      </p:sp>
      <p:pic>
        <p:nvPicPr>
          <p:cNvPr id="42" name="Image 0 copy 42" descr="PatchPilot run page from live run 7b57e1fb: the new test fails twice on the original code and passes twice after the fix, and the fix passes a hidden test variant">    </p:cNvPr>
          <p:cNvPicPr>
            <a:picLocks noChangeAspect="1"/>
          </p:cNvPicPr>
          <p:nvPr/>
        </p:nvPicPr>
        <p:blipFill>
          <a:blip r:embed="rIdShot0"/>
          <a:srcRect l="0" r="0" t="0" b="0"/>
          <a:stretch/>
        </p:blipFill>
        <p:spPr>
          <a:xfrm>
            <a:off x="812800" y="2300000"/>
            <a:ext cx="3289173" cy="3000000"/>
          </a:xfrm>
          <a:prstGeom prst="roundRect">
            <a:avLst>
              <a:gd name="adj" fmla="val 2500"/>
            </a:avLst>
          </a:prstGeom>
          <a:ln w="9525">
            <a:solidFill>
              <a:srgbClr val="3A2C23"/>
            </a:solidFill>
          </a:ln>
        </p:spPr>
      </p:pic>
      <p:pic>
        <p:nvPicPr>
          <p:cNvPr id="43" name="Image 0 copy 43" descr="The exact change from the same run: a new test and a 2-line fix, waiting for approval">    </p:cNvPr>
          <p:cNvPicPr>
            <a:picLocks noChangeAspect="1"/>
          </p:cNvPicPr>
          <p:nvPr/>
        </p:nvPicPr>
        <p:blipFill>
          <a:blip r:embed="rIdShot1"/>
          <a:srcRect l="0" r="0" t="0" b="0"/>
          <a:stretch/>
        </p:blipFill>
        <p:spPr>
          <a:xfrm>
            <a:off x="4351973" y="2300000"/>
            <a:ext cx="3555555" cy="3000000"/>
          </a:xfrm>
          <a:prstGeom prst="roundRect">
            <a:avLst>
              <a:gd name="adj" fmla="val 2500"/>
            </a:avLst>
          </a:prstGeom>
          <a:ln w="9525">
            <a:solidFill>
              <a:srgbClr val="3A2C23"/>
            </a:solidFill>
          </a:ln>
        </p:spPr>
      </p:pic>
      <p:sp>
        <p:nvSpPr>
          <p:cNvPr id="8" name="Text 5"/>
          <p:cNvSpPr/>
          <p:nvPr/>
        </p:nvSpPr>
        <p:spPr>
          <a:xfrm>
            <a:off x="812800" y="1970000"/>
            <a:ext cx="7600000" cy="230000"/>
          </a:xfrm>
          <a:prstGeom prst="rect">
            <a:avLst/>
          </a:prstGeom>
          <a:noFill/>
          <a:ln/>
        </p:spPr>
        <p:txBody>
          <a:bodyPr wrap="square" lIns="0" tIns="0" rIns="0" bIns="0" rtlCol="0" anchor="t">
            <a:normAutofit/>
          </a:bodyPr>
          <a:lstStyle/>
          <a:p>
            <a:pPr algn="l" indent="0" marL="0">
              <a:lnSpc>
                <a:spcPts val="1400"/>
              </a:lnSpc>
              <a:buNone/>
            </a:pPr>
            <a:r>
              <a:rPr lang="en-US" sz="1100" dirty="0">
                <a:solidFill>
                  <a:srgbClr val="A89C92"/>
                </a:solidFill>
                <a:latin typeface="JetBrains Mono" pitchFamily="49" charset="0"/>
                <a:ea typeface="JetBrains Mono" pitchFamily="49" charset="-122"/>
                <a:cs typeface="JetBrains Mono" pitchFamily="49" charset="-120"/>
              </a:rPr>
              <a:t>Live run · a planted bug in our demo repo (tinycalc #1), fixed and verified</a:t>
            </a:r>
            <a:endParaRPr lang="en-US" sz="1100" dirty="0"/>
          </a:p>
        </p:txBody>
      </p:sp>
      <p:sp>
        <p:nvSpPr>
          <p:cNvPr id="44" name="Text 5 copy 44"/>
          <p:cNvSpPr/>
          <p:nvPr/>
        </p:nvSpPr>
        <p:spPr>
          <a:xfrm>
            <a:off x="3739622" y="3179000"/>
            <a:ext cx="330000" cy="330000"/>
          </a:xfrm>
          <a:prstGeom prst="ellipse">
            <a:avLst/>
          </a:prstGeom>
          <a:solidFill>
            <a:srgbClr val="E8652B"/>
          </a:solidFill>
          <a:ln w="19050">
            <a:solidFill>
              <a:srgbClr val="0E0B09"/>
            </a:solidFill>
          </a:ln>
        </p:spPr>
        <p:txBody>
          <a:bodyPr wrap="none" lIns="0" tIns="0" rIns="0" bIns="0" rtlCol="0" anchor="ctr">
            <a:normAutofit/>
          </a:bodyPr>
          <a:lstStyle/>
          <a:p>
            <a:pPr algn="ctr" indent="0" marL="0">
              <a:lnSpc>
                <a:spcPts val="1560"/>
              </a:lnSpc>
              <a:buNone/>
            </a:pPr>
            <a:r>
              <a:rPr lang="en-US" sz="1300" dirty="0" b="1">
                <a:solidFill>
                  <a:srgbClr val="F2EDE8"/>
                </a:solidFill>
                <a:latin typeface="Inter" pitchFamily="34" charset="0"/>
                <a:ea typeface="Inter" pitchFamily="34" charset="-122"/>
                <a:cs typeface="Inter" pitchFamily="34" charset="-120"/>
              </a:rPr>
              <a:t>1</a:t>
            </a:r>
            <a:endParaRPr lang="en-US" sz="1300" dirty="0"/>
          </a:p>
        </p:txBody>
      </p:sp>
      <p:sp>
        <p:nvSpPr>
          <p:cNvPr id="45" name="Text 5 copy 45"/>
          <p:cNvSpPr/>
          <p:nvPr/>
        </p:nvSpPr>
        <p:spPr>
          <a:xfrm>
            <a:off x="3877767" y="4415000"/>
            <a:ext cx="330000" cy="330000"/>
          </a:xfrm>
          <a:prstGeom prst="ellipse">
            <a:avLst/>
          </a:prstGeom>
          <a:solidFill>
            <a:srgbClr val="E8652B"/>
          </a:solidFill>
          <a:ln w="19050">
            <a:solidFill>
              <a:srgbClr val="0E0B09"/>
            </a:solidFill>
          </a:ln>
        </p:spPr>
        <p:txBody>
          <a:bodyPr wrap="none" lIns="0" tIns="0" rIns="0" bIns="0" rtlCol="0" anchor="ctr">
            <a:normAutofit/>
          </a:bodyPr>
          <a:lstStyle/>
          <a:p>
            <a:pPr algn="ctr" indent="0" marL="0">
              <a:lnSpc>
                <a:spcPts val="1560"/>
              </a:lnSpc>
              <a:buNone/>
            </a:pPr>
            <a:r>
              <a:rPr lang="en-US" sz="1300" dirty="0" b="1">
                <a:solidFill>
                  <a:srgbClr val="F2EDE8"/>
                </a:solidFill>
                <a:latin typeface="Inter" pitchFamily="34" charset="0"/>
                <a:ea typeface="Inter" pitchFamily="34" charset="-122"/>
                <a:cs typeface="Inter" pitchFamily="34" charset="-120"/>
              </a:rPr>
              <a:t>2</a:t>
            </a:r>
            <a:endParaRPr lang="en-US" sz="1300" dirty="0"/>
          </a:p>
        </p:txBody>
      </p:sp>
      <p:sp>
        <p:nvSpPr>
          <p:cNvPr id="46" name="Text 5 copy 46"/>
          <p:cNvSpPr/>
          <p:nvPr/>
        </p:nvSpPr>
        <p:spPr>
          <a:xfrm>
            <a:off x="7678528" y="2180000"/>
            <a:ext cx="330000" cy="330000"/>
          </a:xfrm>
          <a:prstGeom prst="ellipse">
            <a:avLst/>
          </a:prstGeom>
          <a:solidFill>
            <a:srgbClr val="E8652B"/>
          </a:solidFill>
          <a:ln w="19050">
            <a:solidFill>
              <a:srgbClr val="0E0B09"/>
            </a:solidFill>
          </a:ln>
        </p:spPr>
        <p:txBody>
          <a:bodyPr wrap="none" lIns="0" tIns="0" rIns="0" bIns="0" rtlCol="0" anchor="ctr">
            <a:normAutofit/>
          </a:bodyPr>
          <a:lstStyle/>
          <a:p>
            <a:pPr algn="ctr" indent="0" marL="0">
              <a:lnSpc>
                <a:spcPts val="1560"/>
              </a:lnSpc>
              <a:buNone/>
            </a:pPr>
            <a:r>
              <a:rPr lang="en-US" sz="1300" dirty="0" b="1">
                <a:solidFill>
                  <a:srgbClr val="F2EDE8"/>
                </a:solidFill>
                <a:latin typeface="Inter" pitchFamily="34" charset="0"/>
                <a:ea typeface="Inter" pitchFamily="34" charset="-122"/>
                <a:cs typeface="Inter" pitchFamily="34" charset="-120"/>
              </a:rPr>
              <a:t>3</a:t>
            </a:r>
            <a:endParaRPr lang="en-US" sz="1300" dirty="0"/>
          </a:p>
        </p:txBody>
      </p:sp>
      <p:sp>
        <p:nvSpPr>
          <p:cNvPr id="47" name="Text 5 copy 47"/>
          <p:cNvSpPr/>
          <p:nvPr/>
        </p:nvSpPr>
        <p:spPr>
          <a:xfrm>
            <a:off x="8287528" y="2320000"/>
            <a:ext cx="330000" cy="330000"/>
          </a:xfrm>
          <a:prstGeom prst="ellipse">
            <a:avLst/>
          </a:prstGeom>
          <a:solidFill>
            <a:srgbClr val="E8652B"/>
          </a:solidFill>
          <a:ln w="19050">
            <a:solidFill>
              <a:srgbClr val="0E0B09"/>
            </a:solidFill>
          </a:ln>
        </p:spPr>
        <p:txBody>
          <a:bodyPr wrap="none" lIns="0" tIns="0" rIns="0" bIns="0" rtlCol="0" anchor="ctr">
            <a:normAutofit/>
          </a:bodyPr>
          <a:lstStyle/>
          <a:p>
            <a:pPr algn="ctr" indent="0" marL="0">
              <a:lnSpc>
                <a:spcPts val="1560"/>
              </a:lnSpc>
              <a:buNone/>
            </a:pPr>
            <a:r>
              <a:rPr lang="en-US" sz="1300" dirty="0" b="1">
                <a:solidFill>
                  <a:srgbClr val="F2EDE8"/>
                </a:solidFill>
                <a:latin typeface="Inter" pitchFamily="34" charset="0"/>
                <a:ea typeface="Inter" pitchFamily="34" charset="-122"/>
                <a:cs typeface="Inter" pitchFamily="34" charset="-120"/>
              </a:rPr>
              <a:t>1</a:t>
            </a:r>
            <a:endParaRPr lang="en-US" sz="1300" dirty="0"/>
          </a:p>
        </p:txBody>
      </p:sp>
      <p:sp>
        <p:nvSpPr>
          <p:cNvPr id="48" name="Text 5 copy 48"/>
          <p:cNvSpPr/>
          <p:nvPr/>
        </p:nvSpPr>
        <p:spPr>
          <a:xfrm>
            <a:off x="8757528" y="2300000"/>
            <a:ext cx="2621672" cy="624200"/>
          </a:xfrm>
          <a:prstGeom prst="rect">
            <a:avLst/>
          </a:prstGeom>
          <a:noFill/>
          <a:ln/>
        </p:spPr>
        <p:txBody>
          <a:bodyPr wrap="square" lIns="0" tIns="0" rIns="0" bIns="0" rtlCol="0" anchor="t">
            <a:normAutofit/>
          </a:bodyPr>
          <a:lstStyle/>
          <a:p>
            <a:pPr algn="l" indent="0" marL="0">
              <a:lnSpc>
                <a:spcPts val="2300"/>
              </a:lnSpc>
              <a:buNone/>
            </a:pPr>
            <a:r>
              <a:rPr lang="en-US" sz="1800" dirty="0" b="0">
                <a:solidFill>
                  <a:srgbClr val="F2EDE8"/>
                </a:solidFill>
                <a:latin typeface="Inter" pitchFamily="34" charset="0"/>
                <a:ea typeface="Inter" pitchFamily="34" charset="-122"/>
                <a:cs typeface="Inter" pitchFamily="34" charset="-120"/>
              </a:rPr>
              <a:t>Fails 2/2 before. Passes 2/2 after.</a:t>
            </a:r>
            <a:endParaRPr lang="en-US" sz="1800" dirty="0"/>
          </a:p>
        </p:txBody>
      </p:sp>
      <p:sp>
        <p:nvSpPr>
          <p:cNvPr id="49" name="Text 5 copy 49"/>
          <p:cNvSpPr/>
          <p:nvPr/>
        </p:nvSpPr>
        <p:spPr>
          <a:xfrm>
            <a:off x="8287528" y="3154200"/>
            <a:ext cx="330000" cy="330000"/>
          </a:xfrm>
          <a:prstGeom prst="ellipse">
            <a:avLst/>
          </a:prstGeom>
          <a:solidFill>
            <a:srgbClr val="E8652B"/>
          </a:solidFill>
          <a:ln w="19050">
            <a:solidFill>
              <a:srgbClr val="0E0B09"/>
            </a:solidFill>
          </a:ln>
        </p:spPr>
        <p:txBody>
          <a:bodyPr wrap="none" lIns="0" tIns="0" rIns="0" bIns="0" rtlCol="0" anchor="ctr">
            <a:normAutofit/>
          </a:bodyPr>
          <a:lstStyle/>
          <a:p>
            <a:pPr algn="ctr" indent="0" marL="0">
              <a:lnSpc>
                <a:spcPts val="1560"/>
              </a:lnSpc>
              <a:buNone/>
            </a:pPr>
            <a:r>
              <a:rPr lang="en-US" sz="1300" dirty="0" b="1">
                <a:solidFill>
                  <a:srgbClr val="F2EDE8"/>
                </a:solidFill>
                <a:latin typeface="Inter" pitchFamily="34" charset="0"/>
                <a:ea typeface="Inter" pitchFamily="34" charset="-122"/>
                <a:cs typeface="Inter" pitchFamily="34" charset="-120"/>
              </a:rPr>
              <a:t>2</a:t>
            </a:r>
            <a:endParaRPr lang="en-US" sz="1300" dirty="0"/>
          </a:p>
        </p:txBody>
      </p:sp>
      <p:sp>
        <p:nvSpPr>
          <p:cNvPr id="50" name="Text 5 copy 50"/>
          <p:cNvSpPr/>
          <p:nvPr/>
        </p:nvSpPr>
        <p:spPr>
          <a:xfrm>
            <a:off x="8757528" y="3134200"/>
            <a:ext cx="2621672" cy="916300"/>
          </a:xfrm>
          <a:prstGeom prst="rect">
            <a:avLst/>
          </a:prstGeom>
          <a:noFill/>
          <a:ln/>
        </p:spPr>
        <p:txBody>
          <a:bodyPr wrap="square" lIns="0" tIns="0" rIns="0" bIns="0" rtlCol="0" anchor="t">
            <a:normAutofit/>
          </a:bodyPr>
          <a:lstStyle/>
          <a:p>
            <a:pPr algn="l" indent="0" marL="0">
              <a:lnSpc>
                <a:spcPts val="2300"/>
              </a:lnSpc>
              <a:buNone/>
            </a:pPr>
            <a:r>
              <a:rPr lang="en-US" sz="1800" dirty="0" b="0">
                <a:solidFill>
                  <a:srgbClr val="F2EDE8"/>
                </a:solidFill>
                <a:latin typeface="Inter" pitchFamily="34" charset="0"/>
                <a:ea typeface="Inter" pitchFamily="34" charset="-122"/>
                <a:cs typeface="Inter" pitchFamily="34" charset="-120"/>
              </a:rPr>
              <a:t>Also passes a hidden test the fixer never saw.</a:t>
            </a:r>
            <a:endParaRPr lang="en-US" sz="1800" dirty="0"/>
          </a:p>
        </p:txBody>
      </p:sp>
      <p:sp>
        <p:nvSpPr>
          <p:cNvPr id="51" name="Text 5 copy 51"/>
          <p:cNvSpPr/>
          <p:nvPr/>
        </p:nvSpPr>
        <p:spPr>
          <a:xfrm>
            <a:off x="8287528" y="4280500"/>
            <a:ext cx="330000" cy="330000"/>
          </a:xfrm>
          <a:prstGeom prst="ellipse">
            <a:avLst/>
          </a:prstGeom>
          <a:solidFill>
            <a:srgbClr val="E8652B"/>
          </a:solidFill>
          <a:ln w="19050">
            <a:solidFill>
              <a:srgbClr val="0E0B09"/>
            </a:solidFill>
          </a:ln>
        </p:spPr>
        <p:txBody>
          <a:bodyPr wrap="none" lIns="0" tIns="0" rIns="0" bIns="0" rtlCol="0" anchor="ctr">
            <a:normAutofit/>
          </a:bodyPr>
          <a:lstStyle/>
          <a:p>
            <a:pPr algn="ctr" indent="0" marL="0">
              <a:lnSpc>
                <a:spcPts val="1560"/>
              </a:lnSpc>
              <a:buNone/>
            </a:pPr>
            <a:r>
              <a:rPr lang="en-US" sz="1300" dirty="0" b="1">
                <a:solidFill>
                  <a:srgbClr val="F2EDE8"/>
                </a:solidFill>
                <a:latin typeface="Inter" pitchFamily="34" charset="0"/>
                <a:ea typeface="Inter" pitchFamily="34" charset="-122"/>
                <a:cs typeface="Inter" pitchFamily="34" charset="-120"/>
              </a:rPr>
              <a:t>3</a:t>
            </a:r>
            <a:endParaRPr lang="en-US" sz="1300" dirty="0"/>
          </a:p>
        </p:txBody>
      </p:sp>
      <p:sp>
        <p:nvSpPr>
          <p:cNvPr id="52" name="Text 5 copy 52"/>
          <p:cNvSpPr/>
          <p:nvPr/>
        </p:nvSpPr>
        <p:spPr>
          <a:xfrm>
            <a:off x="8757528" y="4260500"/>
            <a:ext cx="2621672" cy="916300"/>
          </a:xfrm>
          <a:prstGeom prst="rect">
            <a:avLst/>
          </a:prstGeom>
          <a:noFill/>
          <a:ln/>
        </p:spPr>
        <p:txBody>
          <a:bodyPr wrap="square" lIns="0" tIns="0" rIns="0" bIns="0" rtlCol="0" anchor="t">
            <a:normAutofit/>
          </a:bodyPr>
          <a:lstStyle/>
          <a:p>
            <a:pPr algn="l" indent="0" marL="0">
              <a:lnSpc>
                <a:spcPts val="2300"/>
              </a:lnSpc>
              <a:buNone/>
            </a:pPr>
            <a:r>
              <a:rPr lang="en-US" sz="1800" dirty="0" b="0">
                <a:solidFill>
                  <a:srgbClr val="F2EDE8"/>
                </a:solidFill>
                <a:latin typeface="Inter" pitchFamily="34" charset="0"/>
                <a:ea typeface="Inter" pitchFamily="34" charset="-122"/>
                <a:cs typeface="Inter" pitchFamily="34" charset="-120"/>
              </a:rPr>
              <a:t>You approve this exact diff. Nothing ships without you.</a:t>
            </a:r>
            <a:endParaRPr lang="en-US" sz="1800" dirty="0"/>
          </a:p>
        </p:txBody>
      </p:sp>
      <p:sp>
        <p:nvSpPr>
          <p:cNvPr id="53" name="Text 5 copy 53"/>
          <p:cNvSpPr/>
          <p:nvPr/>
        </p:nvSpPr>
        <p:spPr>
          <a:xfrm>
            <a:off x="812800" y="5500000"/>
            <a:ext cx="10566400" cy="300000"/>
          </a:xfrm>
          <a:prstGeom prst="rect">
            <a:avLst/>
          </a:prstGeom>
          <a:noFill/>
          <a:ln/>
        </p:spPr>
        <p:txBody>
          <a:bodyPr wrap="square" lIns="0" tIns="0" rIns="0" bIns="0" rtlCol="0" anchor="t">
            <a:normAutofit/>
          </a:bodyPr>
          <a:lstStyle/>
          <a:p>
            <a:pPr algn="l" indent="0" marL="0">
              <a:lnSpc>
                <a:spcPts val="1400"/>
              </a:lnSpc>
              <a:buNone/>
            </a:pPr>
            <a:r>
              <a:rPr lang="en-US" sz="1100" dirty="0">
                <a:solidFill>
                  <a:srgbClr val="E8652B"/>
                </a:solidFill>
                <a:latin typeface="JetBrains Mono" pitchFamily="49" charset="0"/>
                <a:ea typeface="JetBrains Mono" pitchFamily="49" charset="-122"/>
                <a:cs typeface="JetBrains Mono" pitchFamily="49" charset="-120"/>
              </a:rPr>
              <a:t>Live today: 3 of 3 planted bugs fixed, 2-7 min each  ·  2 real draft PRs opened (tinycalc #4, #5)</a:t>
            </a:r>
            <a:endParaRPr lang="en-US" sz="1100" dirty="0"/>
          </a:p>
        </p:txBody>
      </p:sp>
      <p:sp>
        <p:nvSpPr>
          <p:cNvPr id="40" name="Text 31"/>
          <p:cNvSpPr/>
          <p:nvPr/>
        </p:nvSpPr>
        <p:spPr>
          <a:xfrm>
            <a:off x="812800" y="6206257"/>
            <a:ext cx="3924300" cy="270744"/>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89C92"/>
                </a:solidFill>
                <a:latin typeface="JetBrains Mono" pitchFamily="49" charset="0"/>
                <a:ea typeface="JetBrains Mono" pitchFamily="49" charset="-122"/>
                <a:cs typeface="JetBrains Mono" pitchFamily="49" charset="-120"/>
              </a:rPr>
              <a:t>PatchPilot</a:t>
            </a:r>
            <a:endParaRPr lang="en-US" sz="1200" dirty="0"/>
          </a:p>
        </p:txBody>
      </p:sp>
      <p:sp>
        <p:nvSpPr>
          <p:cNvPr id="41" name="Text 32"/>
          <p:cNvSpPr/>
          <p:nvPr/>
        </p:nvSpPr>
        <p:spPr>
          <a:xfrm>
            <a:off x="7454900" y="6206257"/>
            <a:ext cx="3924300" cy="270744"/>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A89C92"/>
                </a:solidFill>
                <a:latin typeface="JetBrains Mono" pitchFamily="49" charset="0"/>
                <a:ea typeface="JetBrains Mono" pitchFamily="49" charset="-122"/>
                <a:cs typeface="JetBrains Mono" pitchFamily="49" charset="-120"/>
              </a:rPr>
              <a:t>03 / 06</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0B09"/>
        </a:solidFill>
      </p:bgPr>
    </p:bg>
    <p:spTree>
      <p:nvGrpSpPr>
        <p:cNvPr id="1" name=""/>
        <p:cNvGrpSpPr/>
        <p:nvPr/>
      </p:nvGrpSpPr>
      <p:grpSpPr>
        <a:xfrm>
          <a:off x="0" y="0"/>
          <a:ext cx="0" cy="0"/>
          <a:chOff x="0" y="0"/>
          <a:chExt cx="0" cy="0"/>
        </a:xfrm>
      </p:grpSpPr>
      <p:sp>
        <p:nvSpPr>
          <p:cNvPr id="2" name="Shape 0"/>
          <p:cNvSpPr/>
          <p:nvPr/>
        </p:nvSpPr>
        <p:spPr>
          <a:xfrm>
            <a:off x="6096000" y="0"/>
            <a:ext cx="6096000" cy="6858000"/>
          </a:xfrm>
          <a:prstGeom prst="rect">
            <a:avLst/>
          </a:prstGeom>
          <a:gradFill rotWithShape="1">
            <a:gsLst>
              <a:gs pos="0">
                <a:srgbClr val="E8652B"/>
              </a:gs>
              <a:gs pos="100000">
                <a:srgbClr val="F7955A"/>
              </a:gs>
            </a:gsLst>
            <a:lin ang="0" scaled="0"/>
          </a:gradFill>
          <a:ln/>
        </p:spPr>
      </p:sp>
      <p:sp>
        <p:nvSpPr>
          <p:cNvPr id="3" name="Text 1"/>
          <p:cNvSpPr/>
          <p:nvPr/>
        </p:nvSpPr>
        <p:spPr>
          <a:xfrm>
            <a:off x="812800" y="812800"/>
            <a:ext cx="5023104" cy="254680"/>
          </a:xfrm>
          <a:prstGeom prst="rect">
            <a:avLst/>
          </a:prstGeom>
          <a:noFill/>
          <a:ln/>
        </p:spPr>
        <p:txBody>
          <a:bodyPr wrap="square" lIns="0" tIns="0" rIns="0" bIns="0" rtlCol="0" anchor="t">
            <a:normAutofit/>
          </a:bodyPr>
          <a:lstStyle/>
          <a:p>
            <a:pPr algn="l" indent="0" marL="0">
              <a:lnSpc>
                <a:spcPts val="1585"/>
              </a:lnSpc>
              <a:buNone/>
            </a:pPr>
            <a:r>
              <a:rPr lang="en-US" sz="1133" dirty="0">
                <a:solidFill>
                  <a:srgbClr val="F08A57"/>
                </a:solidFill>
                <a:latin typeface="JetBrains Mono" pitchFamily="49" charset="0"/>
                <a:ea typeface="JetBrains Mono" pitchFamily="49" charset="-122"/>
                <a:cs typeface="JetBrains Mono" pitchFamily="49" charset="-120"/>
              </a:rPr>
              <a:t>[ Who it's for ]</a:t>
            </a:r>
            <a:endParaRPr lang="en-US" sz="1133" dirty="0"/>
          </a:p>
        </p:txBody>
      </p:sp>
      <p:sp>
        <p:nvSpPr>
          <p:cNvPr id="4" name="Text 2"/>
          <p:cNvSpPr/>
          <p:nvPr/>
        </p:nvSpPr>
        <p:spPr>
          <a:xfrm>
            <a:off x="812800" y="1143682"/>
            <a:ext cx="5689600" cy="866133"/>
          </a:xfrm>
          <a:prstGeom prst="rect">
            <a:avLst/>
          </a:prstGeom>
          <a:noFill/>
          <a:ln/>
        </p:spPr>
        <p:txBody>
          <a:bodyPr wrap="square" lIns="0" tIns="0" rIns="0" bIns="0" rtlCol="0" anchor="t">
            <a:normAutofit/>
          </a:bodyPr>
          <a:lstStyle/>
          <a:p>
            <a:pPr algn="l" indent="0" marL="0">
              <a:lnSpc>
                <a:spcPts val="2916"/>
              </a:lnSpc>
              <a:buNone/>
            </a:pPr>
            <a:r>
              <a:rPr lang="en-US" sz="2651" b="1" spc="-50" kern="0" dirty="0">
                <a:solidFill>
                  <a:srgbClr val="F2EDE8"/>
                </a:solidFill>
                <a:latin typeface="Inter" pitchFamily="34" charset="0"/>
                <a:ea typeface="Inter" pitchFamily="34" charset="-122"/>
                <a:cs typeface="Inter" pitchFamily="34" charset="-120"/>
              </a:rPr>
              <a:t>Who gets time back.</a:t>
            </a:r>
            <a:endParaRPr lang="en-US" sz="2651" dirty="0"/>
          </a:p>
        </p:txBody>
      </p:sp>
      <p:sp>
        <p:nvSpPr>
          <p:cNvPr id="5" name="Shape 3"/>
          <p:cNvSpPr/>
          <p:nvPr/>
        </p:nvSpPr>
        <p:spPr>
          <a:xfrm>
            <a:off x="812800" y="2190787"/>
            <a:ext cx="4876800" cy="0"/>
          </a:xfrm>
          <a:prstGeom prst="line">
            <a:avLst/>
          </a:prstGeom>
          <a:noFill/>
          <a:ln w="6350">
            <a:solidFill>
              <a:srgbClr val="3A2C23"/>
            </a:solidFill>
            <a:prstDash val="solid"/>
          </a:ln>
        </p:spPr>
      </p:sp>
      <p:sp>
        <p:nvSpPr>
          <p:cNvPr id="6" name="Text 4"/>
          <p:cNvSpPr/>
          <p:nvPr/>
        </p:nvSpPr>
        <p:spPr>
          <a:xfrm>
            <a:off x="812800" y="2319452"/>
            <a:ext cx="5023104" cy="248671"/>
          </a:xfrm>
          <a:prstGeom prst="rect">
            <a:avLst/>
          </a:prstGeom>
          <a:noFill/>
          <a:ln/>
        </p:spPr>
        <p:txBody>
          <a:bodyPr wrap="square" lIns="0" tIns="0" rIns="0" bIns="0" rtlCol="0" anchor="t">
            <a:normAutofit/>
          </a:bodyPr>
          <a:lstStyle/>
          <a:p>
            <a:pPr algn="l" indent="0" marL="0">
              <a:lnSpc>
                <a:spcPts val="1538"/>
              </a:lnSpc>
              <a:buNone/>
            </a:pPr>
            <a:r>
              <a:rPr lang="en-US" sz="1099" dirty="0">
                <a:solidFill>
                  <a:srgbClr val="F08A57"/>
                </a:solidFill>
                <a:latin typeface="JetBrains Mono" pitchFamily="49" charset="0"/>
                <a:ea typeface="JetBrains Mono" pitchFamily="49" charset="-122"/>
                <a:cs typeface="JetBrains Mono" pitchFamily="49" charset="-120"/>
              </a:rPr>
              <a:t>Open-source maintainers</a:t>
            </a:r>
            <a:endParaRPr lang="en-US" sz="1099" dirty="0"/>
          </a:p>
        </p:txBody>
      </p:sp>
      <p:sp>
        <p:nvSpPr>
          <p:cNvPr id="7" name="Text 5"/>
          <p:cNvSpPr/>
          <p:nvPr/>
        </p:nvSpPr>
        <p:spPr>
          <a:xfrm>
            <a:off x="812800" y="2580822"/>
            <a:ext cx="5023104" cy="323056"/>
          </a:xfrm>
          <a:prstGeom prst="rect">
            <a:avLst/>
          </a:prstGeom>
          <a:noFill/>
          <a:ln/>
        </p:spPr>
        <p:txBody>
          <a:bodyPr wrap="square" lIns="0" tIns="0" rIns="0" bIns="0" rtlCol="0" anchor="t">
            <a:normAutofit/>
          </a:bodyPr>
          <a:lstStyle/>
          <a:p>
            <a:pPr algn="l" indent="0" marL="0">
              <a:lnSpc>
                <a:spcPts val="2065"/>
              </a:lnSpc>
              <a:buNone/>
            </a:pPr>
            <a:r>
              <a:rPr lang="en-US" sz="1475" dirty="0">
                <a:solidFill>
                  <a:srgbClr val="F2EDE8"/>
                </a:solidFill>
                <a:latin typeface="Inter" pitchFamily="34" charset="0"/>
                <a:ea typeface="Inter" pitchFamily="34" charset="-122"/>
                <a:cs typeface="Inter" pitchFamily="34" charset="-120"/>
              </a:rPr>
              <a:t>Clear the bug backlog with proven PRs.</a:t>
            </a:r>
            <a:endParaRPr lang="en-US" sz="1475" dirty="0"/>
          </a:p>
        </p:txBody>
      </p:sp>
      <p:sp>
        <p:nvSpPr>
          <p:cNvPr id="8" name="Shape 6"/>
          <p:cNvSpPr/>
          <p:nvPr/>
        </p:nvSpPr>
        <p:spPr>
          <a:xfrm>
            <a:off x="812800" y="3034054"/>
            <a:ext cx="4876800" cy="0"/>
          </a:xfrm>
          <a:prstGeom prst="line">
            <a:avLst/>
          </a:prstGeom>
          <a:noFill/>
          <a:ln w="6350">
            <a:solidFill>
              <a:srgbClr val="3A2C23"/>
            </a:solidFill>
            <a:prstDash val="solid"/>
          </a:ln>
        </p:spPr>
      </p:sp>
      <p:sp>
        <p:nvSpPr>
          <p:cNvPr id="9" name="Text 7"/>
          <p:cNvSpPr/>
          <p:nvPr/>
        </p:nvSpPr>
        <p:spPr>
          <a:xfrm>
            <a:off x="812800" y="3162715"/>
            <a:ext cx="5023104" cy="248633"/>
          </a:xfrm>
          <a:prstGeom prst="rect">
            <a:avLst/>
          </a:prstGeom>
          <a:noFill/>
          <a:ln/>
        </p:spPr>
        <p:txBody>
          <a:bodyPr wrap="square" lIns="0" tIns="0" rIns="0" bIns="0" rtlCol="0" anchor="t">
            <a:normAutofit/>
          </a:bodyPr>
          <a:lstStyle/>
          <a:p>
            <a:pPr algn="l" indent="0" marL="0">
              <a:lnSpc>
                <a:spcPts val="1538"/>
              </a:lnSpc>
              <a:buNone/>
            </a:pPr>
            <a:r>
              <a:rPr lang="en-US" sz="1099" dirty="0">
                <a:solidFill>
                  <a:srgbClr val="F08A57"/>
                </a:solidFill>
                <a:latin typeface="JetBrains Mono" pitchFamily="49" charset="0"/>
                <a:ea typeface="JetBrains Mono" pitchFamily="49" charset="-122"/>
                <a:cs typeface="JetBrains Mono" pitchFamily="49" charset="-120"/>
              </a:rPr>
              <a:t>New contributors</a:t>
            </a:r>
            <a:endParaRPr lang="en-US" sz="1099" dirty="0"/>
          </a:p>
        </p:txBody>
      </p:sp>
      <p:sp>
        <p:nvSpPr>
          <p:cNvPr id="10" name="Text 8"/>
          <p:cNvSpPr/>
          <p:nvPr/>
        </p:nvSpPr>
        <p:spPr>
          <a:xfrm>
            <a:off x="812800" y="3424048"/>
            <a:ext cx="5023104" cy="323056"/>
          </a:xfrm>
          <a:prstGeom prst="rect">
            <a:avLst/>
          </a:prstGeom>
          <a:noFill/>
          <a:ln/>
        </p:spPr>
        <p:txBody>
          <a:bodyPr wrap="square" lIns="0" tIns="0" rIns="0" bIns="0" rtlCol="0" anchor="t">
            <a:normAutofit/>
          </a:bodyPr>
          <a:lstStyle/>
          <a:p>
            <a:pPr algn="l" indent="0" marL="0">
              <a:lnSpc>
                <a:spcPts val="2065"/>
              </a:lnSpc>
              <a:buNone/>
            </a:pPr>
            <a:r>
              <a:rPr lang="en-US" sz="1475" dirty="0">
                <a:solidFill>
                  <a:srgbClr val="F2EDE8"/>
                </a:solidFill>
                <a:latin typeface="Inter" pitchFamily="34" charset="0"/>
                <a:ea typeface="Inter" pitchFamily="34" charset="-122"/>
                <a:cs typeface="Inter" pitchFamily="34" charset="-120"/>
              </a:rPr>
              <a:t>Learn a codebase in plain language.</a:t>
            </a:r>
            <a:endParaRPr lang="en-US" sz="1475" dirty="0"/>
          </a:p>
        </p:txBody>
      </p:sp>
      <p:sp>
        <p:nvSpPr>
          <p:cNvPr id="11" name="Shape 9"/>
          <p:cNvSpPr/>
          <p:nvPr/>
        </p:nvSpPr>
        <p:spPr>
          <a:xfrm>
            <a:off x="812800" y="3877280"/>
            <a:ext cx="4876800" cy="0"/>
          </a:xfrm>
          <a:prstGeom prst="line">
            <a:avLst/>
          </a:prstGeom>
          <a:noFill/>
          <a:ln w="6350">
            <a:solidFill>
              <a:srgbClr val="3A2C23"/>
            </a:solidFill>
            <a:prstDash val="solid"/>
          </a:ln>
        </p:spPr>
      </p:sp>
      <p:sp>
        <p:nvSpPr>
          <p:cNvPr id="12" name="Text 10"/>
          <p:cNvSpPr/>
          <p:nvPr/>
        </p:nvSpPr>
        <p:spPr>
          <a:xfrm>
            <a:off x="812800" y="4005945"/>
            <a:ext cx="5023104" cy="248671"/>
          </a:xfrm>
          <a:prstGeom prst="rect">
            <a:avLst/>
          </a:prstGeom>
          <a:noFill/>
          <a:ln/>
        </p:spPr>
        <p:txBody>
          <a:bodyPr wrap="square" lIns="0" tIns="0" rIns="0" bIns="0" rtlCol="0" anchor="t">
            <a:normAutofit/>
          </a:bodyPr>
          <a:lstStyle/>
          <a:p>
            <a:pPr algn="l" indent="0" marL="0">
              <a:lnSpc>
                <a:spcPts val="1538"/>
              </a:lnSpc>
              <a:buNone/>
            </a:pPr>
            <a:r>
              <a:rPr lang="en-US" sz="1099" dirty="0">
                <a:solidFill>
                  <a:srgbClr val="F08A57"/>
                </a:solidFill>
                <a:latin typeface="JetBrains Mono" pitchFamily="49" charset="0"/>
                <a:ea typeface="JetBrains Mono" pitchFamily="49" charset="-122"/>
                <a:cs typeface="JetBrains Mono" pitchFamily="49" charset="-120"/>
              </a:rPr>
              <a:t>Teams (next)</a:t>
            </a:r>
            <a:endParaRPr lang="en-US" sz="1099" dirty="0"/>
          </a:p>
        </p:txBody>
      </p:sp>
      <p:sp>
        <p:nvSpPr>
          <p:cNvPr id="13" name="Text 11"/>
          <p:cNvSpPr/>
          <p:nvPr/>
        </p:nvSpPr>
        <p:spPr>
          <a:xfrm>
            <a:off x="812800" y="4267315"/>
            <a:ext cx="5023104" cy="323056"/>
          </a:xfrm>
          <a:prstGeom prst="rect">
            <a:avLst/>
          </a:prstGeom>
          <a:noFill/>
          <a:ln/>
        </p:spPr>
        <p:txBody>
          <a:bodyPr wrap="square" lIns="0" tIns="0" rIns="0" bIns="0" rtlCol="0" anchor="t">
            <a:normAutofit/>
          </a:bodyPr>
          <a:lstStyle/>
          <a:p>
            <a:pPr algn="l" indent="0" marL="0">
              <a:lnSpc>
                <a:spcPts val="2065"/>
              </a:lnSpc>
              <a:buNone/>
            </a:pPr>
            <a:r>
              <a:rPr lang="en-US" sz="1475" dirty="0">
                <a:solidFill>
                  <a:srgbClr val="F2EDE8"/>
                </a:solidFill>
                <a:latin typeface="Inter" pitchFamily="34" charset="0"/>
                <a:ea typeface="Inter" pitchFamily="34" charset="-122"/>
                <a:cs typeface="Inter" pitchFamily="34" charset="-120"/>
              </a:rPr>
              <a:t>Private repositories and team plans.</a:t>
            </a:r>
            <a:endParaRPr lang="en-US" sz="1475" dirty="0"/>
          </a:p>
        </p:txBody>
      </p:sp>
      <p:sp>
        <p:nvSpPr>
          <p:cNvPr id="14" name="Shape 12"/>
          <p:cNvSpPr/>
          <p:nvPr/>
        </p:nvSpPr>
        <p:spPr>
          <a:xfrm>
            <a:off x="812800" y="4720546"/>
            <a:ext cx="4876800" cy="0"/>
          </a:xfrm>
          <a:prstGeom prst="line">
            <a:avLst/>
          </a:prstGeom>
          <a:noFill/>
          <a:ln w="6350">
            <a:solidFill>
              <a:srgbClr val="3A2C23"/>
            </a:solidFill>
            <a:prstDash val="solid"/>
          </a:ln>
        </p:spPr>
      </p:sp>
      <p:sp>
        <p:nvSpPr>
          <p:cNvPr id="15" name="Text 13"/>
          <p:cNvSpPr/>
          <p:nvPr/>
        </p:nvSpPr>
        <p:spPr>
          <a:xfrm>
            <a:off x="812800" y="4849208"/>
            <a:ext cx="5023104" cy="248671"/>
          </a:xfrm>
          <a:prstGeom prst="rect">
            <a:avLst/>
          </a:prstGeom>
          <a:noFill/>
          <a:ln/>
        </p:spPr>
        <p:txBody>
          <a:bodyPr wrap="square" lIns="0" tIns="0" rIns="0" bIns="0" rtlCol="0" anchor="t">
            <a:normAutofit/>
          </a:bodyPr>
          <a:lstStyle/>
          <a:p>
            <a:pPr algn="l" indent="0" marL="0">
              <a:lnSpc>
                <a:spcPts val="1538"/>
              </a:lnSpc>
              <a:buNone/>
            </a:pPr>
            <a:r>
              <a:rPr lang="en-US" sz="1099" dirty="0">
                <a:solidFill>
                  <a:srgbClr val="F08A57"/>
                </a:solidFill>
                <a:latin typeface="JetBrains Mono" pitchFamily="49" charset="0"/>
                <a:ea typeface="JetBrains Mono" pitchFamily="49" charset="-122"/>
                <a:cs typeface="JetBrains Mono" pitchFamily="49" charset="-120"/>
              </a:rPr>
              <a:t>Our promise</a:t>
            </a:r>
            <a:endParaRPr lang="en-US" sz="1099" dirty="0"/>
          </a:p>
        </p:txBody>
      </p:sp>
      <p:sp>
        <p:nvSpPr>
          <p:cNvPr id="16" name="Text 14"/>
          <p:cNvSpPr/>
          <p:nvPr/>
        </p:nvSpPr>
        <p:spPr>
          <a:xfrm>
            <a:off x="812800" y="5110578"/>
            <a:ext cx="5023104" cy="323056"/>
          </a:xfrm>
          <a:prstGeom prst="rect">
            <a:avLst/>
          </a:prstGeom>
          <a:noFill/>
          <a:ln/>
        </p:spPr>
        <p:txBody>
          <a:bodyPr wrap="square" lIns="0" tIns="0" rIns="0" bIns="0" rtlCol="0" anchor="t">
            <a:normAutofit/>
          </a:bodyPr>
          <a:lstStyle/>
          <a:p>
            <a:pPr algn="l" indent="0" marL="0">
              <a:lnSpc>
                <a:spcPts val="2065"/>
              </a:lnSpc>
              <a:buNone/>
            </a:pPr>
            <a:r>
              <a:rPr lang="en-US" sz="1475" dirty="0">
                <a:solidFill>
                  <a:srgbClr val="F2EDE8"/>
                </a:solidFill>
                <a:latin typeface="Inter" pitchFamily="34" charset="0"/>
                <a:ea typeface="Inter" pitchFamily="34" charset="-122"/>
                <a:cs typeface="Inter" pitchFamily="34" charset="-120"/>
              </a:rPr>
              <a:t>It proves the fix, or says it can't.</a:t>
            </a:r>
            <a:endParaRPr lang="en-US" sz="1475" dirty="0"/>
          </a:p>
        </p:txBody>
      </p:sp>
      <p:sp>
        <p:nvSpPr>
          <p:cNvPr id="17" name="Text 15"/>
          <p:cNvSpPr/>
          <p:nvPr/>
        </p:nvSpPr>
        <p:spPr>
          <a:xfrm>
            <a:off x="812800" y="5611434"/>
            <a:ext cx="5023104" cy="255965"/>
          </a:xfrm>
          <a:prstGeom prst="rect">
            <a:avLst/>
          </a:prstGeom>
          <a:noFill/>
          <a:ln/>
        </p:spPr>
        <p:txBody>
          <a:bodyPr wrap="square" lIns="0" tIns="0" rIns="0" bIns="0" rtlCol="0" anchor="t">
            <a:normAutofit/>
          </a:bodyPr>
          <a:lstStyle/>
          <a:p>
            <a:pPr algn="l" indent="0" marL="0">
              <a:lnSpc>
                <a:spcPts val="1300"/>
              </a:lnSpc>
              <a:buNone/>
            </a:pPr>
            <a:r>
              <a:rPr lang="en-US" sz="950" dirty="0">
                <a:solidFill>
                  <a:srgbClr val="A89C92"/>
                </a:solidFill>
                <a:latin typeface="JetBrains Mono" pitchFamily="49" charset="0"/>
                <a:ea typeface="JetBrains Mono" pitchFamily="49" charset="-122"/>
                <a:cs typeface="JetBrains Mono" pitchFamily="49" charset="-120"/>
              </a:rPr>
              <a:t>Niranjan Iyer · Swarali Patil · Devansh Narlawar · Sarthak Viche</a:t>
            </a:r>
            <a:endParaRPr lang="en-US" sz="950" dirty="0"/>
          </a:p>
        </p:txBody>
      </p:sp>
      <p:pic>
        <p:nvPicPr>
          <p:cNvPr id="18" name="Image 0" descr="Ring with a check mark">    </p:cNvPr>
          <p:cNvPicPr>
            <a:picLocks noChangeAspect="1"/>
          </p:cNvPicPr>
          <p:nvPr/>
        </p:nvPicPr>
        <p:blipFill>
          <a:blip r:embed="rId1"/>
          <a:srcRect l="0" r="0" t="0" b="0"/>
          <a:stretch/>
        </p:blipFill>
        <p:spPr>
          <a:xfrm>
            <a:off x="6502400" y="1109058"/>
            <a:ext cx="812800" cy="812800"/>
          </a:xfrm>
          <a:prstGeom prst="rect">
            <a:avLst/>
          </a:prstGeom>
        </p:spPr>
      </p:pic>
      <p:sp>
        <p:nvSpPr>
          <p:cNvPr id="19" name="Text 16"/>
          <p:cNvSpPr/>
          <p:nvPr/>
        </p:nvSpPr>
        <p:spPr>
          <a:xfrm>
            <a:off x="6502400" y="2125058"/>
            <a:ext cx="5023104" cy="270744"/>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40C07"/>
                </a:solidFill>
                <a:latin typeface="JetBrains Mono" pitchFamily="49" charset="0"/>
                <a:ea typeface="JetBrains Mono" pitchFamily="49" charset="-122"/>
                <a:cs typeface="JetBrains Mono" pitchFamily="49" charset="-120"/>
              </a:rPr>
              <a:t>[ In one line ]</a:t>
            </a:r>
            <a:endParaRPr lang="en-US" sz="1200" dirty="0"/>
          </a:p>
        </p:txBody>
      </p:sp>
      <p:sp>
        <p:nvSpPr>
          <p:cNvPr id="20" name="Text 17"/>
          <p:cNvSpPr/>
          <p:nvPr>
            <p:ph type="title"/>
          </p:nvPr>
        </p:nvSpPr>
        <p:spPr>
          <a:xfrm>
            <a:off x="6502400" y="2573604"/>
            <a:ext cx="5023104" cy="1813001"/>
          </a:xfrm>
          <a:prstGeom prst="rect">
            <a:avLst/>
          </a:prstGeom>
          <a:noFill/>
          <a:ln/>
        </p:spPr>
        <p:txBody>
          <a:bodyPr wrap="square" lIns="0" tIns="0" rIns="0" bIns="0" rtlCol="0" anchor="t">
            <a:normAutofit/>
          </a:bodyPr>
          <a:lstStyle/>
          <a:p>
            <a:pPr algn="l" indent="0" marL="0">
              <a:lnSpc>
                <a:spcPts val="6120"/>
              </a:lnSpc>
              <a:buNone/>
            </a:pPr>
            <a:r>
              <a:rPr lang="en-US" sz="6000" b="1" i="0" spc="-150" kern="0" dirty="0">
                <a:solidFill>
                  <a:srgbClr val="140C07"/>
                </a:solidFill>
                <a:latin typeface="Inter" pitchFamily="34" charset="0"/>
                <a:ea typeface="Inter" pitchFamily="34" charset="-122"/>
                <a:cs typeface="Inter" pitchFamily="34" charset="-120"/>
              </a:rPr>
              <a:t>Bugs in. Proof out.</a:t>
            </a:r>
            <a:endParaRPr lang="en-US" sz="6000" dirty="0"/>
          </a:p>
        </p:txBody>
      </p:sp>
      <p:sp>
        <p:nvSpPr>
          <p:cNvPr id="21" name="Text 18"/>
          <p:cNvSpPr/>
          <p:nvPr/>
        </p:nvSpPr>
        <p:spPr>
          <a:xfrm>
            <a:off x="6502400" y="4564404"/>
            <a:ext cx="5023104" cy="1006702"/>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140C07"/>
                </a:solidFill>
                <a:latin typeface="Inter" pitchFamily="34" charset="0"/>
                <a:ea typeface="Inter" pitchFamily="34" charset="-122"/>
                <a:cs typeface="Inter" pitchFamily="34" charset="-120"/>
              </a:rPr>
              <a:t>PatchPilot turns a GitHub issue into a verified fix and a draft PR. A human approves every one.</a:t>
            </a:r>
            <a:endParaRPr lang="en-US" sz="1600" dirty="0"/>
          </a:p>
        </p:txBody>
      </p:sp>
      <p:sp>
        <p:nvSpPr>
          <p:cNvPr id="22" name="Text 19"/>
          <p:cNvSpPr/>
          <p:nvPr/>
        </p:nvSpPr>
        <p:spPr>
          <a:xfrm>
            <a:off x="812800" y="6206257"/>
            <a:ext cx="3924300" cy="270744"/>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89C92"/>
                </a:solidFill>
                <a:latin typeface="JetBrains Mono" pitchFamily="49" charset="0"/>
                <a:ea typeface="JetBrains Mono" pitchFamily="49" charset="-122"/>
                <a:cs typeface="JetBrains Mono" pitchFamily="49" charset="-120"/>
              </a:rPr>
              <a:t>PatchPilot</a:t>
            </a:r>
            <a:endParaRPr lang="en-US" sz="1200" dirty="0"/>
          </a:p>
        </p:txBody>
      </p:sp>
      <p:sp>
        <p:nvSpPr>
          <p:cNvPr id="23" name="Text 20"/>
          <p:cNvSpPr/>
          <p:nvPr/>
        </p:nvSpPr>
        <p:spPr>
          <a:xfrm>
            <a:off x="7454900" y="6206257"/>
            <a:ext cx="3924300" cy="270744"/>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140C07"/>
                </a:solidFill>
                <a:latin typeface="JetBrains Mono" pitchFamily="49" charset="0"/>
                <a:ea typeface="JetBrains Mono" pitchFamily="49" charset="-122"/>
                <a:cs typeface="JetBrains Mono" pitchFamily="49" charset="-120"/>
              </a:rPr>
              <a:t>06 / 06</a:t>
            </a:r>
            <a:endParaRPr lang="en-US" sz="1200" dirty="0"/>
          </a:p>
        </p:txBody>
      </p:sp>
    </p:spTree>
  </p:cSld>
  <p:clrMapOvr>
    <a:masterClrMapping/>
  </p:clrMapOvr>
</p:sld>
</file>

<file path=ppt/theme/theme1.xml><?xml version="1.0" encoding="utf-8"?>
<a:theme xmlns:a="http://schemas.openxmlformats.org/drawingml/2006/main" name="PatchPilot">
  <a:themeElements>
    <a:clrScheme name="PatchPilot">
      <a:dk1>
        <a:srgbClr val="3B1B0D"/>
      </a:dk1>
      <a:lt1>
        <a:srgbClr val="F2EDE8"/>
      </a:lt1>
      <a:dk2>
        <a:srgbClr val="4D3023"/>
      </a:dk2>
      <a:lt2>
        <a:srgbClr val="C4B9B1"/>
      </a:lt2>
      <a:accent1>
        <a:srgbClr val="F08A57"/>
      </a:accent1>
      <a:accent2>
        <a:srgbClr val="E8652B"/>
      </a:accent2>
      <a:accent3>
        <a:srgbClr val="F7955A"/>
      </a:accent3>
      <a:accent4>
        <a:srgbClr val="C4511E"/>
      </a:accent4>
      <a:accent5>
        <a:srgbClr val="8A5A25"/>
      </a:accent5>
      <a:accent6>
        <a:srgbClr val="B2430F"/>
      </a:accent6>
      <a:hlink>
        <a:srgbClr val="0563C1"/>
      </a:hlink>
      <a:folHlink>
        <a:srgbClr val="954F72"/>
      </a:folHlink>
    </a:clrScheme>
    <a:fontScheme name="PatchPilot">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PatchPilot</dc:title>
  <dc:subject/>
  <dc:description>The font files embedded in this presentation (stored inside it under ppt/fonts/) are files Google Fonts served when the presentation was exported, unpacked from WOFF2 to TrueType and wrapped as Embedded OpenType, the form PowerPoint reads. A file that named another cut of its family, unless it reserves that name, was also changed where it could be, so that PowerPoint matches it to this presentation’s text: its family and style names and the weight and style it declares were rewritten, and any digital signature, which no longer matched, was removed. Google Fonts serves each family in parts, one file per range of characters, so these may not be a family’s complete files. Each family’s copyright lines and license follow, and each family stays under its own license; if you pass this file on, keep these notices with it.
Inter
Copyright 2020 The Inter Project Authors (https://github.com/rsms/inter)
This Font Software is licensed under the SIL Open Font License, Version 1.1.
This license is copied below, and is also available with a FAQ at:
https://scripts.sil.org/OFL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created using the fonts or their derivatives.
DEFINITIONS
"Font Software" refers to the set of files released by the Copyright
Holder(s) under this license and clearly marked as such. This may
include source files, build scripts and documentation.
"Reserved Font Name" refers to any names specified as such after the
copyright statement(s).
"Original Version" refers to the collection of Font Software components as
distributed by the Copyright Holder(s).
"Modified Version" refers to any derivative made by adding to, deleting,
or substituting -- in part or in whole -- any of the components of the
Original Version, by changing formats or by porting the Font Software to a
new environment.
"Author" refers to any designer, engineer, programmer, technical
writer or other person who contributed to the Font Software.
PERMISSION &amp; CONDITIONS
Permission is hereby granted, free of charge, to any person obtaining
a copy of the Font Software, to use, study, copy, merge, embed, modify,
redistribute, and sell modified and unmodified copies of the Font
Software, subject to the following conditions:
1) Neither the Font Software nor any of its individual components,
in Original or Modified Versions, may be sold by itself.
2) Original or Modified Versions of the Font Software may be bundled,
redistributed and/or sold with any software, provided that each copy
contains the above copyright notice and this license. These can be
included either as stand-alone text files, human-readable headers or
in the appropriate machine-readable metadata fields within text or
binary files as long as those fields can be easily viewed by the user.
3) No Modified Version of the Font Software may use the Reserved Font
Name(s) unless explicit written permission is granted by the corresponding
Copyright Holder. This restriction only applies to the primary font name as
presented to the users.
4) The name(s) of the Copyright Holder(s) or the Author(s) of the Font
Software shall not be used to promote, endorse or advertise any
Modified Version, except to acknowledge the contribution(s) of the
Copyright Holder(s) and the Author(s) or with their explicit written
permission.
5) The Font Software, modified or unmodified, in part or in whole,
must be distributed entirely under this license, and must not be
distributed under any other license. The requirement for fonts to
remain under this license does not apply to any document created
using the Font Software.
TERMINATION
This license becomes null and void if any of the above conditions are
not met.
DISCLAIMER
THE FONT SOFTWARE IS PROVIDED "AS IS", WITHOUT WARRANTY OF ANY KIND,
EXPRESS OR IMPLIED, INCLUDING BUT NOT LIMITED TO ANY WARRANTIES OF
MERCHANTABILITY, FITNESS FOR A PARTICULAR PURPOSE AND NONINFRINGEMENT
OF COPYRIGHT, PATENT, TRADEMARK, OR OTHER RIGHT. IN NO EVENT SHALL THE
COPYRIGHT HOLDER BE LIABLE FOR ANY CLAIM, DAMAGES OR OTHER LIABILITY,
INCLUDING ANY GENERAL, SPECIAL, INDIRECT, INCIDENTAL, OR CONSEQUENTIAL
DAMAGES, WHETHER IN AN ACTION OF CONTRACT, TORT OR OTHERWISE, ARISING
FROM, OUT OF THE USE OR INABILITY TO USE THE FONT SOFTWARE OR FROM
OTHER DEALINGS IN THE FONT SOFTWARE.
JetBrains Mono
Copyright 2020 The JetBrains Mono Project Authors (https://github.com/JetBrains/JetBrainsMono)
This Font Software is licensed under the SIL Open Font License, Version 1.1.
This license is copied below, and is also available with a FAQ at: https://scripts.sil.org/OFL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created using the fonts or their derivatives.
DEFINITIONS
"Font Software" refers to the set of files released by the Copyright
Holder(s) under this license and clearly marked as such. This may
include source files, build scripts and documentation.
"Reserved Font Name" refers to any names specified as such after the
copyright statement(s).
"Original Version" refers to the collection of Font Software components as
distributed by the Copyright Holder(s).
"Modified Version" refers to any derivative made by adding to, deleting,
or substituting -- in part or in whole -- any of the components of the
Original Version, by changing formats or by porting the Font Software to a
new environment.
"Author" refers to any designer, engineer, programmer, technical
writer or other person who contributed to the Font Software.
PERMISSION &amp; CONDITIONS
Permission is hereby granted, free of charge, to any person obtaining
a copy of the Font Software, to use, study, copy, merge, embed, modify,
redistribute, and sell modified and unmodified copies of the Font
Software, subject to the following conditions:
1) Neither the Font Software nor any of its individual components,
in Original or Modified Versions, may be sold by itself.
2) Original or Modified Versions of the Font Software may be bundled,
redistributed and/or sold with any software, provided that each copy
contains the above copyright notice and this license. These can be
included either as stand-alone text files, human-readable headers or
in the appropriate machine-readable metadata fields within text or
binary files as long as those fields can be easily viewed by the user.
3) No Modified Version of the Font Software may use the Reserved Font
Name(s) unless explicit written permission is granted by the corresponding
Copyright Holder. This restriction only applies to the primary font name as
presented to the users.
4) The name(s) of the Copyright Holder(s) or the Author(s) of the Font
Software shall not be used to promote, endorse or advertise any
Modified Version, except to acknowledge the contribution(s) of the
Copyright Holder(s) and the Author(s) or with their explicit written
permission.
5) The Font Software, modified or unmodified, in part or in whole,
must be distributed entirely under this license, and must not be
distributed under any other license. The requirement for fonts to
remain under this license does not apply to any document created
using the Font Software.
TERMINATION
This license becomes null and void if any of the above conditions are
not met.
DISCLAIMER
THE FONT SOFTWARE IS PROVIDED "AS IS", WITHOUT WARRANTY OF ANY KIND,
EXPRESS OR IMPLIED, INCLUDING BUT NOT LIMITED TO ANY WARRANTIES OF
MERCHANTABILITY, FITNESS FOR A PARTICULAR PURPOSE AND NONINFRINGEMENT
OF COPYRIGHT, PATENT, TRADEMARK, OR OTHER RIGHT. IN NO EVENT SHALL THE
COPYRIGHT HOLDER BE LIABLE FOR ANY CLAIM, DAMAGES OR OTHER LIABILITY,
INCLUDING ANY GENERAL, SPECIAL, INDIRECT, INCIDENTAL, OR CONSEQUENTIAL
DAMAGES, WHETHER IN AN ACTION OF CONTRACT, TORT OR OTHERWISE, ARISING
FROM, OUT OF THE USE OR INABILITY TO USE THE FONT SOFTWARE OR FROM
OTHER DEALINGS IN THE FONT SOFTWARE.
</dc:description>
  <dc:creator/>
  <cp:lastModifiedBy/>
  <cp:revision>1</cp:revision>
  <dcterms:created xsi:type="dcterms:W3CDTF">2026-10-30T06:48:39Z</dcterms:created>
  <dcterms:modified xsi:type="dcterms:W3CDTF">2026-10-30T06:48:39Z</dcterms:modified>
</cp:coreProperties>
</file>