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60" r:id="rId6"/>
    <p:sldId id="259" r:id="rId5"/>
    <p:sldId id="258" r:id="rId4"/>
    <p:sldId id="261" r:id="rId7"/>
  </p:sldIdLst>
  <p:notesMasterIdLst>
    <p:notesMasterId r:id="rId8"/>
  </p:notesMasterIdLst>
  <p:sldSz cx="12192000" cy="6858000"/>
  <p:notesSz cx="6858000" cy="12192000"/>
  <p:embeddedFontLst>
    <p:embeddedFont>
      <p:font typeface="Inter" panose="02000503000000020004" pitchFamily="34" charset="0"/>
      <p:regular r:id="rId13"/>
      <p:bold r:id="rId14"/>
    </p:embeddedFont>
    <p:embeddedFont>
      <p:font typeface="JetBrains Mono" panose="02000009000000000000" pitchFamily="49"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in one breath: triage eats hours before a fix can even start. PatchPilot's answer is a fix you can check: a test that fails before and passes after, and a PR you approve.</a:t>
            </a:r>
          </a:p>
          <a:p>
            <a:r>
              <a:rPr lang="en-US" dirty="0"/>
              <a:t>Introduce the team.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problem: before anyone can write a fix, someone has to decode the report, reproduce it by hand and find the code responsible. Stripe's 2018 survey puts debugging and maintenance at about 17 hours a week per developer.</a:t>
            </a:r>
          </a:p>
          <a:p>
            <a:r>
              <a:rPr lang="en-US" dirty="0"/>
              <a:t>Right, the solution in one line: paste an issue link, get a proven fix. Four steps: reproduce the bug with a failing test, fix it, verify the test now passes in a fresh sandbox, and you approve before any pull request opens.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view, kept light on purpose. Read it left to right. The user talks to a UI and an API that never runs repository code. The orchestrator owns state and gates.</a:t>
            </a:r>
          </a:p>
          <a:p>
            <a:r>
              <a:rPr lang="en-US" dirty="0"/>
              <a:t>Anything that runs repository code lives in the untrusted Docker zone, with no credentials and no network after setup. Only the publisher holds a GitHub write token.</a:t>
            </a:r>
          </a:p>
          <a:p>
            <a:r>
              <a:rPr lang="en-US" dirty="0"/>
              <a:t>SupplyGuard is our dependency scanner: it checks the repo's lock file before anything is installed.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run, left to right, and the only place the pipeline appears. Orange dots are AI roles that propose work. Diamonds are code gates that run the tests and decide pass or fail; the AI never writes a status.</a:t>
            </a:r>
          </a:p>
          <a:p>
            <a:r>
              <a:rPr lang="en-US" dirty="0"/>
              <a:t>If Verify fails, the run goes back to Fix: the Fixer gets up to three tries, then one re-diagnosis, then the run ends with a triage report (config/limits.toml: fixer = 3, rediagnose = 1).</a:t>
            </a:r>
          </a:p>
          <a:p>
            <a:r>
              <a:rPr lang="en-US" dirty="0"/>
              <a:t>A human approves the exact diff before anything is published.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PatchPilot run (about 7 minutes) on a bug we planted in tinycalc, our own small demo repo. Every gate passed, and we checked the fix by hand.</a:t>
            </a:r>
          </a:p>
          <a:p>
            <a:r>
              <a:rPr lang="en-US" dirty="0"/>
              <a:t>Today PatchPilot fixed all 3 planted bugs (2 verified, 1 where the reviewer flagged a behaviour change), and the full path ran twice on the public URL with real GitHub sign-in, opening draft PRs tinycalc #4 and #5.</a:t>
            </a:r>
          </a:p>
          <a:p>
            <a:r>
              <a:rPr lang="en-US" dirty="0"/>
              <a:t>1: the new test fails twice on the original code and passes twice after the fix, in a fresh sandbox.</a:t>
            </a:r>
          </a:p>
          <a:p>
            <a:r>
              <a:rPr lang="en-US" dirty="0"/>
              <a:t>2: the fix also passes a hidden variant of the test that the Fixer never saw, so it can't just special-case the test.</a:t>
            </a:r>
          </a:p>
          <a:p>
            <a:r>
              <a:rPr lang="en-US" dirty="0"/>
              <a:t>3: nothing is published until a human reads and approves this exact diff.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screen for Q&amp;A. Left: who it's for. Maintainers get proven PRs, newcomers get explanations, teams come next (a proposal, not a commitment).</a:t>
            </a:r>
          </a:p>
          <a:p>
            <a:r>
              <a:rPr lang="en-US" dirty="0"/>
              <a:t>What sets it apart: other coding agents open a PR and hope. PatchPilot proves the fix with a test that fails before and passes after, or hands back an honest triage report.</a:t>
            </a:r>
          </a:p>
          <a:p>
            <a:r>
              <a:rPr lang="en-US" dirty="0"/>
              <a:t>Right: bugs in, proof 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3B1B0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9745"/>
            <a:ext cx="10566400" cy="449792"/>
          </a:xfrm>
          <a:prstGeom prst="rect">
            <a:avLst/>
          </a:prstGeom>
          <a:noFill/>
          <a:ln/>
        </p:spPr>
        <p:txBody>
          <a:bodyPr wrap="square" lIns="0" tIns="0" rIns="0" bIns="0" rtlCol="0" anchor="t"/>
          <a:lstStyle>
            <a:lvl1pPr algn="l" indent="0" marL="0">
              <a:lnSpc>
                <a:spcPct val="115000"/>
              </a:lnSpc>
              <a:buNone/>
              <a:defRPr lang="en-US" sz="2800" dirty="0">
                <a:solidFill>
                  <a:srgbClr val="F2EDE8"/>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14337"/>
            <a:ext cx="10566400" cy="4130863"/>
          </a:xfrm>
          <a:prstGeom prst="rect">
            <a:avLst/>
          </a:prstGeom>
          <a:noFill/>
          <a:ln/>
        </p:spPr>
        <p:txBody>
          <a:bodyPr wrap="square" lIns="0" tIns="0" rIns="0" bIns="0" rtlCol="0" anchor="t"/>
          <a:lstStyle>
            <a:lvl1pPr algn="l" indent="0" marL="0">
              <a:lnSpc>
                <a:spcPct val="140000"/>
              </a:lnSpc>
              <a:buNone/>
              <a:defRPr lang="en-US" sz="1600" dirty="0">
                <a:solidFill>
                  <a:srgbClr val="F2EDE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59745"/>
            <a:ext cx="10566400" cy="449792"/>
          </a:xfrm>
          <a:prstGeom prst="rect">
            <a:avLst/>
          </a:prstGeom>
          <a:noFill/>
          <a:ln/>
        </p:spPr>
        <p:txBody>
          <a:bodyPr wrap="square" lIns="0" tIns="0" rIns="0" bIns="0" rtlCol="0" anchor="t"/>
          <a:lstStyle>
            <a:lvl1pPr algn="l" indent="0" marL="0">
              <a:lnSpc>
                <a:spcPct val="115000"/>
              </a:lnSpc>
              <a:buNone/>
              <a:defRPr lang="en-US" sz="2800" dirty="0">
                <a:solidFill>
                  <a:srgbClr val="F2EDE8"/>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14337"/>
            <a:ext cx="10566400" cy="4130863"/>
          </a:xfrm>
          <a:prstGeom prst="rect">
            <a:avLst/>
          </a:prstGeom>
          <a:noFill/>
          <a:ln/>
        </p:spPr>
        <p:txBody>
          <a:bodyPr wrap="square" lIns="0" tIns="0" rIns="0" bIns="0" rtlCol="0" anchor="t"/>
          <a:lstStyle>
            <a:lvl1pPr algn="l" indent="0" marL="0">
              <a:lnSpc>
                <a:spcPct val="140000"/>
              </a:lnSpc>
              <a:buNone/>
              <a:defRPr lang="en-US" sz="1600" dirty="0">
                <a:solidFill>
                  <a:srgbClr val="F2EDE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59745"/>
            <a:ext cx="10566400" cy="449792"/>
          </a:xfrm>
          <a:prstGeom prst="rect">
            <a:avLst/>
          </a:prstGeom>
          <a:noFill/>
          <a:ln/>
        </p:spPr>
        <p:txBody>
          <a:bodyPr wrap="square" lIns="0" tIns="0" rIns="0" bIns="0" rtlCol="0" anchor="t"/>
          <a:lstStyle>
            <a:lvl1pPr algn="l" indent="0" marL="0">
              <a:lnSpc>
                <a:spcPct val="115000"/>
              </a:lnSpc>
              <a:buNone/>
              <a:defRPr lang="en-US" sz="2800" dirty="0">
                <a:solidFill>
                  <a:srgbClr val="F2EDE8"/>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14337"/>
            <a:ext cx="10566400" cy="4130863"/>
          </a:xfrm>
          <a:prstGeom prst="rect">
            <a:avLst/>
          </a:prstGeom>
          <a:noFill/>
          <a:ln/>
        </p:spPr>
        <p:txBody>
          <a:bodyPr wrap="square" lIns="0" tIns="0" rIns="0" bIns="0" rtlCol="0" anchor="t"/>
          <a:lstStyle>
            <a:lvl1pPr algn="l" indent="0" marL="0">
              <a:lnSpc>
                <a:spcPct val="140000"/>
              </a:lnSpc>
              <a:buNone/>
              <a:defRPr lang="en-US" sz="1600" dirty="0">
                <a:solidFill>
                  <a:srgbClr val="F2EDE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B1B0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9745"/>
            <a:ext cx="10566400" cy="449792"/>
          </a:xfrm>
          <a:prstGeom prst="rect">
            <a:avLst/>
          </a:prstGeom>
          <a:noFill/>
          <a:ln/>
        </p:spPr>
        <p:txBody>
          <a:bodyPr wrap="square" lIns="0" tIns="0" rIns="0" bIns="0" rtlCol="0" anchor="t"/>
          <a:lstStyle>
            <a:lvl1pPr algn="l" indent="0" marL="0">
              <a:lnSpc>
                <a:spcPct val="115000"/>
              </a:lnSpc>
              <a:buNone/>
              <a:defRPr lang="en-US" sz="2800" dirty="0">
                <a:solidFill>
                  <a:srgbClr val="F2EDE8"/>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14337"/>
            <a:ext cx="10566400" cy="4130863"/>
          </a:xfrm>
          <a:prstGeom prst="rect">
            <a:avLst/>
          </a:prstGeom>
          <a:noFill/>
          <a:ln/>
        </p:spPr>
        <p:txBody>
          <a:bodyPr wrap="square" lIns="0" tIns="0" rIns="0" bIns="0" rtlCol="0" anchor="t"/>
          <a:lstStyle>
            <a:lvl1pPr algn="l" indent="0" marL="0">
              <a:lnSpc>
                <a:spcPct val="140000"/>
              </a:lnSpc>
              <a:buNone/>
              <a:defRPr lang="en-US" sz="1600" dirty="0">
                <a:solidFill>
                  <a:srgbClr val="F2EDE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slideLayout" Target="../slideLayouts/slideLayout2.xml"/><Relationship Id="rId1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4.xml"/><Relationship Id="rId9" Type="http://schemas.openxmlformats.org/officeDocument/2006/relationships/notesSlide" Target="../notesSlides/notesSlide5.xml"/><Relationship Id="rIdShot0" Type="http://schemas.openxmlformats.org/officeDocument/2006/relationships/image" Target="../media/w-run.png"/><Relationship Id="rIdShot1" Type="http://schemas.openxmlformats.org/officeDocument/2006/relationships/image" Target="../media/w-review.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range orb with a check mark, ringed by dotted lines and code lines">    </p:cNvPr>
          <p:cNvPicPr>
            <a:picLocks noChangeAspect="1"/>
          </p:cNvPicPr>
          <p:nvPr/>
        </p:nvPicPr>
        <p:blipFill>
          <a:blip r:embed="rId1"/>
          <a:srcRect l="0" r="0" t="0" b="0"/>
          <a:stretch/>
        </p:blipFill>
        <p:spPr>
          <a:xfrm>
            <a:off x="6400800" y="1066800"/>
            <a:ext cx="4978400" cy="4978400"/>
          </a:xfrm>
          <a:prstGeom prst="rect">
            <a:avLst/>
          </a:prstGeom>
        </p:spPr>
      </p:pic>
      <p:sp>
        <p:nvSpPr>
          <p:cNvPr id="3" name="Text 0"/>
          <p:cNvSpPr/>
          <p:nvPr/>
        </p:nvSpPr>
        <p:spPr>
          <a:xfrm>
            <a:off x="812800" y="812800"/>
            <a:ext cx="10883392"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8A57"/>
                </a:solidFill>
                <a:latin typeface="JetBrains Mono" pitchFamily="49" charset="0"/>
                <a:ea typeface="JetBrains Mono" pitchFamily="49" charset="-122"/>
                <a:cs typeface="JetBrains Mono" pitchFamily="49" charset="-120"/>
              </a:rPr>
              <a:t>[ PS-05 · Bug-fix agent ]</a:t>
            </a:r>
            <a:endParaRPr lang="en-US" sz="1400" dirty="0"/>
          </a:p>
        </p:txBody>
      </p:sp>
      <p:sp>
        <p:nvSpPr>
          <p:cNvPr id="4" name="Text 1"/>
          <p:cNvSpPr/>
          <p:nvPr>
            <p:ph type="title"/>
          </p:nvPr>
        </p:nvSpPr>
        <p:spPr>
          <a:xfrm>
            <a:off x="812800" y="1291620"/>
            <a:ext cx="10883392" cy="1374888"/>
          </a:xfrm>
          <a:prstGeom prst="rect">
            <a:avLst/>
          </a:prstGeom>
          <a:noFill/>
          <a:ln/>
        </p:spPr>
        <p:txBody>
          <a:bodyPr wrap="square" lIns="0" tIns="0" rIns="0" bIns="0" rtlCol="0" anchor="t">
            <a:normAutofit/>
          </a:bodyPr>
          <a:lstStyle/>
          <a:p>
            <a:pPr algn="l" indent="0" marL="0">
              <a:lnSpc>
                <a:spcPts val="9240"/>
              </a:lnSpc>
              <a:buNone/>
            </a:pPr>
            <a:r>
              <a:rPr lang="en-US" sz="8800" b="1" i="0" spc="-200" kern="0" dirty="0">
                <a:solidFill>
                  <a:srgbClr val="F2EDE8"/>
                </a:solidFill>
                <a:latin typeface="Inter" pitchFamily="34" charset="0"/>
                <a:ea typeface="Inter" pitchFamily="34" charset="-122"/>
                <a:cs typeface="Inter" pitchFamily="34" charset="-120"/>
              </a:rPr>
              <a:t>PatchPilot</a:t>
            </a:r>
            <a:endParaRPr lang="en-US" sz="8800" dirty="0"/>
          </a:p>
        </p:txBody>
      </p:sp>
      <p:sp>
        <p:nvSpPr>
          <p:cNvPr id="5" name="Text 2"/>
          <p:cNvSpPr/>
          <p:nvPr/>
        </p:nvSpPr>
        <p:spPr>
          <a:xfrm>
            <a:off x="812800" y="2844309"/>
            <a:ext cx="6540500" cy="1320000"/>
          </a:xfrm>
          <a:prstGeom prst="rect">
            <a:avLst/>
          </a:prstGeom>
          <a:noFill/>
          <a:ln/>
        </p:spPr>
        <p:txBody>
          <a:bodyPr wrap="square" lIns="0" tIns="0" rIns="0" bIns="0" rtlCol="0" anchor="t">
            <a:normAutofit/>
          </a:bodyPr>
          <a:lstStyle/>
          <a:p>
            <a:pPr algn="l" indent="0" marL="0">
              <a:lnSpc>
                <a:spcPts val="3220"/>
              </a:lnSpc>
              <a:buNone/>
            </a:pPr>
            <a:r>
              <a:rPr lang="en-US" sz="2800" dirty="0">
                <a:solidFill>
                  <a:srgbClr val="F2EDE8"/>
                </a:solidFill>
                <a:latin typeface="Inter" pitchFamily="34" charset="0"/>
                <a:ea typeface="Inter" pitchFamily="34" charset="-122"/>
                <a:cs typeface="Inter" pitchFamily="34" charset="-120"/>
              </a:rPr>
              <a:t>Paste a GitHub issue. Get a fix proven by a failing-then-passing test, and a PR you approve.</a:t>
            </a:r>
            <a:endParaRPr lang="en-US" sz="2800" dirty="0"/>
          </a:p>
        </p:txBody>
      </p:sp>
      <p:sp>
        <p:nvSpPr>
          <p:cNvPr id="9" name="Text 6"/>
          <p:cNvSpPr/>
          <p:nvPr/>
        </p:nvSpPr>
        <p:spPr>
          <a:xfrm>
            <a:off x="812800" y="5799856"/>
            <a:ext cx="1088339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JetBrains Mono" pitchFamily="49" charset="0"/>
                <a:ea typeface="JetBrains Mono" pitchFamily="49" charset="-122"/>
                <a:cs typeface="JetBrains Mono" pitchFamily="49" charset="-120"/>
              </a:rPr>
              <a:t>Team · Niranjan Iyer · Swarali Patil · Devansh Narlawar · Sarthak Viche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12800" y="812800"/>
            <a:ext cx="327025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7"/>
                </a:solidFill>
                <a:latin typeface="JetBrains Mono" pitchFamily="49" charset="0"/>
                <a:ea typeface="JetBrains Mono" pitchFamily="49" charset="-122"/>
                <a:cs typeface="JetBrains Mono" pitchFamily="49" charset="-120"/>
              </a:rPr>
              <a:t>[ The problem ]</a:t>
            </a:r>
            <a:endParaRPr lang="en-US" sz="1200" dirty="0"/>
          </a:p>
        </p:txBody>
      </p:sp>
      <p:sp>
        <p:nvSpPr>
          <p:cNvPr id="3" name="Text 1"/>
          <p:cNvSpPr/>
          <p:nvPr/>
        </p:nvSpPr>
        <p:spPr>
          <a:xfrm>
            <a:off x="812800" y="1261345"/>
            <a:ext cx="3270250" cy="1374775"/>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F2EDE8"/>
                </a:solidFill>
                <a:latin typeface="Inter" pitchFamily="34" charset="0"/>
                <a:ea typeface="Inter" pitchFamily="34" charset="-122"/>
                <a:cs typeface="Inter" pitchFamily="34" charset="-120"/>
              </a:rPr>
              <a:t>Bugs eat hours before any fix begins.</a:t>
            </a:r>
            <a:endParaRPr lang="en-US" sz="2800" dirty="0"/>
          </a:p>
        </p:txBody>
      </p:sp>
      <p:sp>
        <p:nvSpPr>
          <p:cNvPr id="4" name="Shape 2"/>
          <p:cNvSpPr/>
          <p:nvPr/>
        </p:nvSpPr>
        <p:spPr>
          <a:xfrm>
            <a:off x="812800" y="2817095"/>
            <a:ext cx="3175000" cy="0"/>
          </a:xfrm>
          <a:prstGeom prst="line">
            <a:avLst/>
          </a:prstGeom>
          <a:noFill/>
          <a:ln w="6350">
            <a:solidFill>
              <a:srgbClr val="3A2C23"/>
            </a:solidFill>
            <a:prstDash val="solid"/>
          </a:ln>
        </p:spPr>
      </p:sp>
      <p:sp>
        <p:nvSpPr>
          <p:cNvPr id="5" name="Text 3"/>
          <p:cNvSpPr/>
          <p:nvPr/>
        </p:nvSpPr>
        <p:spPr>
          <a:xfrm>
            <a:off x="812800" y="3021957"/>
            <a:ext cx="3270250" cy="30143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BDB3"/>
                </a:solidFill>
                <a:latin typeface="Inter" pitchFamily="34" charset="0"/>
                <a:ea typeface="Inter" pitchFamily="34" charset="-122"/>
                <a:cs typeface="Inter" pitchFamily="34" charset="-120"/>
              </a:rPr>
              <a:t>Decode what the reporter meant</a:t>
            </a:r>
            <a:endParaRPr lang="en-US" sz="1400" dirty="0"/>
          </a:p>
        </p:txBody>
      </p:sp>
      <p:sp>
        <p:nvSpPr>
          <p:cNvPr id="6" name="Text 4"/>
          <p:cNvSpPr/>
          <p:nvPr/>
        </p:nvSpPr>
        <p:spPr>
          <a:xfrm>
            <a:off x="812800" y="3424993"/>
            <a:ext cx="3270250" cy="30143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BDB3"/>
                </a:solidFill>
                <a:latin typeface="Inter" pitchFamily="34" charset="0"/>
                <a:ea typeface="Inter" pitchFamily="34" charset="-122"/>
                <a:cs typeface="Inter" pitchFamily="34" charset="-120"/>
              </a:rPr>
              <a:t>Reproduce the bug by hand</a:t>
            </a:r>
            <a:endParaRPr lang="en-US" sz="1400" dirty="0"/>
          </a:p>
        </p:txBody>
      </p:sp>
      <p:sp>
        <p:nvSpPr>
          <p:cNvPr id="7" name="Text 5"/>
          <p:cNvSpPr/>
          <p:nvPr/>
        </p:nvSpPr>
        <p:spPr>
          <a:xfrm>
            <a:off x="812800" y="3828030"/>
            <a:ext cx="3270250" cy="30143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BDB3"/>
                </a:solidFill>
                <a:latin typeface="Inter" pitchFamily="34" charset="0"/>
                <a:ea typeface="Inter" pitchFamily="34" charset="-122"/>
                <a:cs typeface="Inter" pitchFamily="34" charset="-120"/>
              </a:rPr>
              <a:t>Hunt for the code responsible</a:t>
            </a:r>
            <a:endParaRPr lang="en-US" sz="1400" dirty="0"/>
          </a:p>
        </p:txBody>
      </p:sp>
      <p:sp>
        <p:nvSpPr>
          <p:cNvPr id="43" name="Text 3 copy 43"/>
          <p:cNvSpPr/>
          <p:nvPr/>
        </p:nvSpPr>
        <p:spPr>
          <a:xfrm>
            <a:off x="812800" y="4480000"/>
            <a:ext cx="3270250" cy="560000"/>
          </a:xfrm>
          <a:prstGeom prst="rect">
            <a:avLst/>
          </a:prstGeom>
          <a:noFill/>
          <a:ln/>
        </p:spPr>
        <p:txBody>
          <a:bodyPr wrap="square" lIns="0" tIns="0" rIns="0" bIns="0" rtlCol="0" anchor="t">
            <a:normAutofit/>
          </a:bodyPr>
          <a:lstStyle/>
          <a:p>
            <a:pPr algn="l" indent="0" marL="0">
              <a:lnSpc>
                <a:spcPts val="4000"/>
              </a:lnSpc>
              <a:buNone/>
            </a:pPr>
            <a:r>
              <a:rPr lang="en-US" sz="3600" dirty="0" b="1">
                <a:solidFill>
                  <a:srgbClr val="E8652B"/>
                </a:solidFill>
                <a:latin typeface="Inter" pitchFamily="34" charset="0"/>
                <a:ea typeface="Inter" pitchFamily="34" charset="-122"/>
                <a:cs typeface="Inter" pitchFamily="34" charset="-120"/>
              </a:rPr>
              <a:t>17.3 hrs</a:t>
            </a:r>
            <a:endParaRPr lang="en-US" sz="3600" dirty="0"/>
          </a:p>
        </p:txBody>
      </p:sp>
      <p:sp>
        <p:nvSpPr>
          <p:cNvPr id="44" name="Text 3 copy 44"/>
          <p:cNvSpPr/>
          <p:nvPr/>
        </p:nvSpPr>
        <p:spPr>
          <a:xfrm>
            <a:off x="812800" y="5060000"/>
            <a:ext cx="3100000" cy="560000"/>
          </a:xfrm>
          <a:prstGeom prst="rect">
            <a:avLst/>
          </a:prstGeom>
          <a:noFill/>
          <a:ln/>
        </p:spPr>
        <p:txBody>
          <a:bodyPr wrap="square" lIns="0" tIns="0" rIns="0" bIns="0" rtlCol="0" anchor="t">
            <a:normAutofit/>
          </a:bodyPr>
          <a:lstStyle/>
          <a:p>
            <a:pPr algn="l" indent="0" marL="0">
              <a:lnSpc>
                <a:spcPts val="1600"/>
              </a:lnSpc>
              <a:buNone/>
            </a:pPr>
            <a:r>
              <a:rPr lang="en-US" sz="1200" dirty="0">
                <a:solidFill>
                  <a:srgbClr val="A89C92"/>
                </a:solidFill>
                <a:latin typeface="Inter" pitchFamily="34" charset="0"/>
                <a:ea typeface="Inter" pitchFamily="34" charset="-122"/>
                <a:cs typeface="Inter" pitchFamily="34" charset="-120"/>
              </a:rPr>
              <a:t>a week, on average, that a developer spends on debugging and maintenance.</a:t>
            </a:r>
            <a:endParaRPr lang="en-US" sz="1200" dirty="0"/>
          </a:p>
        </p:txBody>
      </p:sp>
      <p:sp>
        <p:nvSpPr>
          <p:cNvPr id="45" name="Text 0 copy 45"/>
          <p:cNvSpPr/>
          <p:nvPr/>
        </p:nvSpPr>
        <p:spPr>
          <a:xfrm>
            <a:off x="812800" y="5700000"/>
            <a:ext cx="3270250" cy="200000"/>
          </a:xfrm>
          <a:prstGeom prst="rect">
            <a:avLst/>
          </a:prstGeom>
          <a:noFill/>
          <a:ln/>
        </p:spPr>
        <p:txBody>
          <a:bodyPr wrap="square" lIns="0" tIns="0" rIns="0" bIns="0" rtlCol="0" anchor="t">
            <a:normAutofit/>
          </a:bodyPr>
          <a:lstStyle/>
          <a:p>
            <a:pPr algn="l" indent="0" marL="0">
              <a:lnSpc>
                <a:spcPts val="1200"/>
              </a:lnSpc>
              <a:buNone/>
            </a:pPr>
            <a:r>
              <a:rPr lang="en-US" sz="900" dirty="0">
                <a:solidFill>
                  <a:srgbClr val="7A6E65"/>
                </a:solidFill>
                <a:latin typeface="JetBrains Mono" pitchFamily="49" charset="0"/>
                <a:ea typeface="JetBrains Mono" pitchFamily="49" charset="-122"/>
                <a:cs typeface="JetBrains Mono" pitchFamily="49" charset="-120"/>
              </a:rPr>
              <a:t>Source: Stripe, Developer Coefficient, 2018</a:t>
            </a:r>
            <a:endParaRPr lang="en-US" sz="900" dirty="0"/>
          </a:p>
        </p:txBody>
      </p:sp>
      <p:sp>
        <p:nvSpPr>
          <p:cNvPr id="8" name="Text 6"/>
          <p:cNvSpPr/>
          <p:nvPr/>
        </p:nvSpPr>
        <p:spPr>
          <a:xfrm>
            <a:off x="4394200" y="812800"/>
            <a:ext cx="719455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7"/>
                </a:solidFill>
                <a:latin typeface="JetBrains Mono" pitchFamily="49" charset="0"/>
                <a:ea typeface="JetBrains Mono" pitchFamily="49" charset="-122"/>
                <a:cs typeface="JetBrains Mono" pitchFamily="49" charset="-120"/>
              </a:rPr>
              <a:t>[ The solution ]</a:t>
            </a:r>
            <a:endParaRPr lang="en-US" sz="1200" dirty="0"/>
          </a:p>
        </p:txBody>
      </p:sp>
      <p:sp>
        <p:nvSpPr>
          <p:cNvPr id="9" name="Text 7"/>
          <p:cNvSpPr/>
          <p:nvPr/>
        </p:nvSpPr>
        <p:spPr>
          <a:xfrm>
            <a:off x="4394200" y="1235945"/>
            <a:ext cx="7797800" cy="475192"/>
          </a:xfrm>
          <a:prstGeom prst="rect">
            <a:avLst/>
          </a:prstGeom>
          <a:noFill/>
          <a:ln/>
        </p:spPr>
        <p:txBody>
          <a:bodyPr wrap="square" lIns="0" tIns="0" rIns="0" bIns="0" rtlCol="0" anchor="t">
            <a:normAutofit/>
          </a:bodyPr>
          <a:lstStyle/>
          <a:p>
            <a:pPr algn="l" indent="0" marL="0">
              <a:lnSpc>
                <a:spcPts val="3080"/>
              </a:lnSpc>
              <a:buNone/>
            </a:pPr>
            <a:r>
              <a:rPr lang="en-US" sz="2800" b="1" spc="-50" kern="0" dirty="0">
                <a:solidFill>
                  <a:srgbClr val="F2EDE8"/>
                </a:solidFill>
                <a:latin typeface="Inter" pitchFamily="34" charset="0"/>
                <a:ea typeface="Inter" pitchFamily="34" charset="-122"/>
                <a:cs typeface="Inter" pitchFamily="34" charset="-120"/>
              </a:rPr>
              <a:t>Paste an issue link. Get a proven fix.</a:t>
            </a:r>
            <a:endParaRPr lang="en-US" sz="2800" dirty="0"/>
          </a:p>
        </p:txBody>
      </p:sp>
      <p:sp>
        <p:nvSpPr>
          <p:cNvPr id="10" name="Text 8"/>
          <p:cNvSpPr/>
          <p:nvPr/>
        </p:nvSpPr>
        <p:spPr>
          <a:xfrm>
            <a:off x="4394200" y="1863536"/>
            <a:ext cx="7194550" cy="11705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BDB3"/>
                </a:solidFill>
                <a:latin typeface="Inter" pitchFamily="34" charset="0"/>
                <a:ea typeface="Inter" pitchFamily="34" charset="-122"/>
                <a:cs typeface="Inter" pitchFamily="34" charset="-120"/>
              </a:rPr>
              <a:t>PatchPilot reproduces the bug in a locked-down sandbox and writes a small fix. It proves the fix with a test that fails before and passes after, and opens a pull request only when you approve.</a:t>
            </a:r>
            <a:endParaRPr lang="en-US" sz="1400" dirty="0"/>
          </a:p>
        </p:txBody>
      </p:sp>
      <p:sp>
        <p:nvSpPr>
          <p:cNvPr id="11" name="Text 9"/>
          <p:cNvSpPr/>
          <p:nvPr/>
        </p:nvSpPr>
        <p:spPr>
          <a:xfrm>
            <a:off x="4400550" y="3500000"/>
            <a:ext cx="292100" cy="292100"/>
          </a:xfrm>
          <a:custGeom>
            <a:avLst/>
            <a:gdLst/>
            <a:ahLst/>
            <a:cxnLst/>
            <a:rect l="l" t="t" r="r" b="b"/>
            <a:pathLst>
              <a:path w="292100" h="292100">
                <a:moveTo>
                  <a:pt x="146050" y="0"/>
                </a:moveTo>
                <a:lnTo>
                  <a:pt x="146050" y="0"/>
                </a:lnTo>
                <a:arcTo hR="146050" wR="146050" stAng="16200000" swAng="5400000"/>
                <a:lnTo>
                  <a:pt x="292100" y="146050"/>
                </a:lnTo>
                <a:arcTo hR="146050" wR="146050" stAng="0" swAng="5400000"/>
                <a:lnTo>
                  <a:pt x="146050" y="292100"/>
                </a:lnTo>
                <a:arcTo hR="146050" wR="146050" stAng="5400000" swAng="5400000"/>
                <a:lnTo>
                  <a:pt x="0" y="146050"/>
                </a:lnTo>
                <a:arcTo hR="146050" wR="146050" stAng="10800000" swAng="5400000"/>
                <a:close/>
              </a:path>
            </a:pathLst>
          </a:custGeom>
          <a:noFill/>
          <a:ln w="12700">
            <a:solidFill>
              <a:srgbClr val="E8652B"/>
            </a:solidFill>
            <a:prstDash val="solid"/>
          </a:ln>
        </p:spPr>
        <p:txBody>
          <a:bodyPr wrap="square" lIns="5745" tIns="5745" rIns="5745" bIns="5745" rtlCol="0" anchor="ctr">
            <a:normAutofit/>
          </a:bodyPr>
          <a:lstStyle/>
          <a:p>
            <a:pPr algn="ctr" indent="0" marL="0">
              <a:lnSpc>
                <a:spcPts val="1680"/>
              </a:lnSpc>
              <a:buNone/>
            </a:pPr>
            <a:r>
              <a:rPr lang="en-US" sz="1200" dirty="0">
                <a:solidFill>
                  <a:srgbClr val="F08A57"/>
                </a:solidFill>
                <a:latin typeface="JetBrains Mono" pitchFamily="49" charset="0"/>
                <a:ea typeface="JetBrains Mono" pitchFamily="49" charset="-122"/>
                <a:cs typeface="JetBrains Mono" pitchFamily="49" charset="-120"/>
              </a:rPr>
              <a:t>1</a:t>
            </a:r>
            <a:endParaRPr lang="en-US" sz="1200" dirty="0"/>
          </a:p>
        </p:txBody>
      </p:sp>
      <p:sp>
        <p:nvSpPr>
          <p:cNvPr id="12" name="Text 10"/>
          <p:cNvSpPr/>
          <p:nvPr/>
        </p:nvSpPr>
        <p:spPr>
          <a:xfrm>
            <a:off x="4826000" y="3394355"/>
            <a:ext cx="3000000" cy="27078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EDE8"/>
                </a:solidFill>
                <a:latin typeface="Inter" pitchFamily="34" charset="0"/>
                <a:ea typeface="Inter" pitchFamily="34" charset="-122"/>
                <a:cs typeface="Inter" pitchFamily="34" charset="-120"/>
              </a:rPr>
              <a:t>Reproduce</a:t>
            </a:r>
            <a:endParaRPr lang="en-US" sz="1400" dirty="0"/>
          </a:p>
        </p:txBody>
      </p:sp>
      <p:sp>
        <p:nvSpPr>
          <p:cNvPr id="13" name="Text 11"/>
          <p:cNvSpPr/>
          <p:nvPr/>
        </p:nvSpPr>
        <p:spPr>
          <a:xfrm>
            <a:off x="4826000" y="3652437"/>
            <a:ext cx="310000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Inter" pitchFamily="34" charset="0"/>
                <a:ea typeface="Inter" pitchFamily="34" charset="-122"/>
                <a:cs typeface="Inter" pitchFamily="34" charset="-120"/>
              </a:rPr>
              <a:t>A test that fails because of the bug</a:t>
            </a:r>
            <a:endParaRPr lang="en-US" sz="1200" dirty="0"/>
          </a:p>
        </p:txBody>
      </p:sp>
      <p:sp>
        <p:nvSpPr>
          <p:cNvPr id="14" name="Shape 12"/>
          <p:cNvSpPr/>
          <p:nvPr/>
        </p:nvSpPr>
        <p:spPr>
          <a:xfrm>
            <a:off x="4540250" y="3897781"/>
            <a:ext cx="12700" cy="496538"/>
          </a:xfrm>
          <a:prstGeom prst="rect">
            <a:avLst/>
          </a:prstGeom>
          <a:solidFill>
            <a:srgbClr val="5A4435"/>
          </a:solidFill>
          <a:ln/>
        </p:spPr>
      </p:sp>
      <p:sp>
        <p:nvSpPr>
          <p:cNvPr id="15" name="Text 13"/>
          <p:cNvSpPr/>
          <p:nvPr/>
        </p:nvSpPr>
        <p:spPr>
          <a:xfrm>
            <a:off x="4400550" y="4500000"/>
            <a:ext cx="292100" cy="292100"/>
          </a:xfrm>
          <a:custGeom>
            <a:avLst/>
            <a:gdLst/>
            <a:ahLst/>
            <a:cxnLst/>
            <a:rect l="l" t="t" r="r" b="b"/>
            <a:pathLst>
              <a:path w="292100" h="292100">
                <a:moveTo>
                  <a:pt x="146050" y="0"/>
                </a:moveTo>
                <a:lnTo>
                  <a:pt x="146050" y="0"/>
                </a:lnTo>
                <a:arcTo hR="146050" wR="146050" stAng="16200000" swAng="5400000"/>
                <a:lnTo>
                  <a:pt x="292100" y="146050"/>
                </a:lnTo>
                <a:arcTo hR="146050" wR="146050" stAng="0" swAng="5400000"/>
                <a:lnTo>
                  <a:pt x="146050" y="292100"/>
                </a:lnTo>
                <a:arcTo hR="146050" wR="146050" stAng="5400000" swAng="5400000"/>
                <a:lnTo>
                  <a:pt x="0" y="146050"/>
                </a:lnTo>
                <a:arcTo hR="146050" wR="146050" stAng="10800000" swAng="5400000"/>
                <a:close/>
              </a:path>
            </a:pathLst>
          </a:custGeom>
          <a:noFill/>
          <a:ln w="12700">
            <a:solidFill>
              <a:srgbClr val="E8652B"/>
            </a:solidFill>
            <a:prstDash val="solid"/>
          </a:ln>
        </p:spPr>
        <p:txBody>
          <a:bodyPr wrap="square" lIns="5745" tIns="5745" rIns="5745" bIns="5745" rtlCol="0" anchor="ctr">
            <a:normAutofit/>
          </a:bodyPr>
          <a:lstStyle/>
          <a:p>
            <a:pPr algn="ctr" indent="0" marL="0">
              <a:lnSpc>
                <a:spcPts val="1680"/>
              </a:lnSpc>
              <a:buNone/>
            </a:pPr>
            <a:r>
              <a:rPr lang="en-US" sz="1200" dirty="0">
                <a:solidFill>
                  <a:srgbClr val="F08A57"/>
                </a:solidFill>
                <a:latin typeface="JetBrains Mono" pitchFamily="49" charset="0"/>
                <a:ea typeface="JetBrains Mono" pitchFamily="49" charset="-122"/>
                <a:cs typeface="JetBrains Mono" pitchFamily="49" charset="-120"/>
              </a:rPr>
              <a:t>2</a:t>
            </a:r>
            <a:endParaRPr lang="en-US" sz="1200" dirty="0"/>
          </a:p>
        </p:txBody>
      </p:sp>
      <p:sp>
        <p:nvSpPr>
          <p:cNvPr id="16" name="Text 14"/>
          <p:cNvSpPr/>
          <p:nvPr/>
        </p:nvSpPr>
        <p:spPr>
          <a:xfrm>
            <a:off x="4826000" y="4394355"/>
            <a:ext cx="3000000" cy="27078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EDE8"/>
                </a:solidFill>
                <a:latin typeface="Inter" pitchFamily="34" charset="0"/>
                <a:ea typeface="Inter" pitchFamily="34" charset="-122"/>
                <a:cs typeface="Inter" pitchFamily="34" charset="-120"/>
              </a:rPr>
              <a:t>Fix</a:t>
            </a:r>
            <a:endParaRPr lang="en-US" sz="1400" dirty="0"/>
          </a:p>
        </p:txBody>
      </p:sp>
      <p:sp>
        <p:nvSpPr>
          <p:cNvPr id="17" name="Text 15"/>
          <p:cNvSpPr/>
          <p:nvPr/>
        </p:nvSpPr>
        <p:spPr>
          <a:xfrm>
            <a:off x="4826000" y="4652437"/>
            <a:ext cx="310000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Inter" pitchFamily="34" charset="0"/>
                <a:ea typeface="Inter" pitchFamily="34" charset="-122"/>
                <a:cs typeface="Inter" pitchFamily="34" charset="-120"/>
              </a:rPr>
              <a:t>A small, focused change</a:t>
            </a:r>
            <a:endParaRPr lang="en-US" sz="1200" dirty="0"/>
          </a:p>
        </p:txBody>
      </p:sp>
      <p:sp>
        <p:nvSpPr>
          <p:cNvPr id="26" name="Text 24"/>
          <p:cNvSpPr/>
          <p:nvPr/>
        </p:nvSpPr>
        <p:spPr>
          <a:xfrm>
            <a:off x="8045450" y="3500000"/>
            <a:ext cx="292100" cy="292100"/>
          </a:xfrm>
          <a:custGeom>
            <a:avLst/>
            <a:gdLst/>
            <a:ahLst/>
            <a:cxnLst/>
            <a:rect l="l" t="t" r="r" b="b"/>
            <a:pathLst>
              <a:path w="292100" h="292100">
                <a:moveTo>
                  <a:pt x="146050" y="0"/>
                </a:moveTo>
                <a:lnTo>
                  <a:pt x="146050" y="0"/>
                </a:lnTo>
                <a:arcTo hR="146050" wR="146050" stAng="16200000" swAng="5400000"/>
                <a:lnTo>
                  <a:pt x="292100" y="146050"/>
                </a:lnTo>
                <a:arcTo hR="146050" wR="146050" stAng="0" swAng="5400000"/>
                <a:lnTo>
                  <a:pt x="146050" y="292100"/>
                </a:lnTo>
                <a:arcTo hR="146050" wR="146050" stAng="5400000" swAng="5400000"/>
                <a:lnTo>
                  <a:pt x="0" y="146050"/>
                </a:lnTo>
                <a:arcTo hR="146050" wR="146050" stAng="10800000" swAng="5400000"/>
                <a:close/>
              </a:path>
            </a:pathLst>
          </a:custGeom>
          <a:noFill/>
          <a:ln w="12700">
            <a:solidFill>
              <a:srgbClr val="E8652B"/>
            </a:solidFill>
            <a:prstDash val="solid"/>
          </a:ln>
        </p:spPr>
        <p:txBody>
          <a:bodyPr wrap="square" lIns="5745" tIns="5745" rIns="5745" bIns="5745" rtlCol="0" anchor="ctr">
            <a:normAutofit/>
          </a:bodyPr>
          <a:lstStyle/>
          <a:p>
            <a:pPr algn="ctr" indent="0" marL="0">
              <a:lnSpc>
                <a:spcPts val="1680"/>
              </a:lnSpc>
              <a:buNone/>
            </a:pPr>
            <a:r>
              <a:rPr lang="en-US" sz="1200" dirty="0">
                <a:solidFill>
                  <a:srgbClr val="F08A57"/>
                </a:solidFill>
                <a:latin typeface="JetBrains Mono" pitchFamily="49" charset="0"/>
                <a:ea typeface="JetBrains Mono" pitchFamily="49" charset="-122"/>
                <a:cs typeface="JetBrains Mono" pitchFamily="49" charset="-120"/>
              </a:rPr>
              <a:t>3</a:t>
            </a:r>
            <a:endParaRPr lang="en-US" sz="1200" dirty="0"/>
          </a:p>
        </p:txBody>
      </p:sp>
      <p:sp>
        <p:nvSpPr>
          <p:cNvPr id="27" name="Text 25"/>
          <p:cNvSpPr/>
          <p:nvPr/>
        </p:nvSpPr>
        <p:spPr>
          <a:xfrm>
            <a:off x="8470900" y="3394355"/>
            <a:ext cx="3000000" cy="27078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EDE8"/>
                </a:solidFill>
                <a:latin typeface="Inter" pitchFamily="34" charset="0"/>
                <a:ea typeface="Inter" pitchFamily="34" charset="-122"/>
                <a:cs typeface="Inter" pitchFamily="34" charset="-120"/>
              </a:rPr>
              <a:t>Verify</a:t>
            </a:r>
            <a:endParaRPr lang="en-US" sz="1400" dirty="0"/>
          </a:p>
        </p:txBody>
      </p:sp>
      <p:sp>
        <p:nvSpPr>
          <p:cNvPr id="28" name="Text 26"/>
          <p:cNvSpPr/>
          <p:nvPr/>
        </p:nvSpPr>
        <p:spPr>
          <a:xfrm>
            <a:off x="8470900" y="3652437"/>
            <a:ext cx="310000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Inter" pitchFamily="34" charset="0"/>
                <a:ea typeface="Inter" pitchFamily="34" charset="-122"/>
                <a:cs typeface="Inter" pitchFamily="34" charset="-120"/>
              </a:rPr>
              <a:t>The test passes in a fresh sandbox</a:t>
            </a:r>
            <a:endParaRPr lang="en-US" sz="1200" dirty="0"/>
          </a:p>
        </p:txBody>
      </p:sp>
      <p:sp>
        <p:nvSpPr>
          <p:cNvPr id="29" name="Shape 27"/>
          <p:cNvSpPr/>
          <p:nvPr/>
        </p:nvSpPr>
        <p:spPr>
          <a:xfrm>
            <a:off x="8185150" y="3897781"/>
            <a:ext cx="12700" cy="496538"/>
          </a:xfrm>
          <a:prstGeom prst="rect">
            <a:avLst/>
          </a:prstGeom>
          <a:solidFill>
            <a:srgbClr val="5A4435"/>
          </a:solidFill>
          <a:ln/>
        </p:spPr>
      </p:sp>
      <p:sp>
        <p:nvSpPr>
          <p:cNvPr id="38" name="Text 36"/>
          <p:cNvSpPr/>
          <p:nvPr/>
        </p:nvSpPr>
        <p:spPr>
          <a:xfrm>
            <a:off x="8039100" y="4493650"/>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E8652B"/>
          </a:solidFill>
          <a:ln/>
        </p:spPr>
        <p:txBody>
          <a:bodyPr wrap="square" lIns="0" tIns="0" rIns="0" bIns="0" rtlCol="0" anchor="ctr">
            <a:normAutofit/>
          </a:bodyPr>
          <a:lstStyle/>
          <a:p>
            <a:pPr algn="ctr" indent="0" marL="0">
              <a:lnSpc>
                <a:spcPts val="1680"/>
              </a:lnSpc>
              <a:buNone/>
            </a:pPr>
            <a:r>
              <a:rPr lang="en-US" sz="1200" dirty="0">
                <a:solidFill>
                  <a:srgbClr val="140C07"/>
                </a:solidFill>
                <a:latin typeface="JetBrains Mono" pitchFamily="49" charset="0"/>
                <a:ea typeface="JetBrains Mono" pitchFamily="49" charset="-122"/>
                <a:cs typeface="JetBrains Mono" pitchFamily="49" charset="-120"/>
              </a:rPr>
              <a:t>4</a:t>
            </a:r>
            <a:endParaRPr lang="en-US" sz="1200" dirty="0"/>
          </a:p>
        </p:txBody>
      </p:sp>
      <p:sp>
        <p:nvSpPr>
          <p:cNvPr id="39" name="Text 37"/>
          <p:cNvSpPr/>
          <p:nvPr/>
        </p:nvSpPr>
        <p:spPr>
          <a:xfrm>
            <a:off x="8470900" y="4394355"/>
            <a:ext cx="3000000" cy="27078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EDE8"/>
                </a:solidFill>
                <a:latin typeface="Inter" pitchFamily="34" charset="0"/>
                <a:ea typeface="Inter" pitchFamily="34" charset="-122"/>
                <a:cs typeface="Inter" pitchFamily="34" charset="-120"/>
              </a:rPr>
              <a:t>You approve</a:t>
            </a:r>
            <a:endParaRPr lang="en-US" sz="1400" dirty="0"/>
          </a:p>
        </p:txBody>
      </p:sp>
      <p:sp>
        <p:nvSpPr>
          <p:cNvPr id="40" name="Text 38"/>
          <p:cNvSpPr/>
          <p:nvPr/>
        </p:nvSpPr>
        <p:spPr>
          <a:xfrm>
            <a:off x="8470900" y="4652437"/>
            <a:ext cx="310000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Inter" pitchFamily="34" charset="0"/>
                <a:ea typeface="Inter" pitchFamily="34" charset="-122"/>
                <a:cs typeface="Inter" pitchFamily="34" charset="-120"/>
              </a:rPr>
              <a:t>The PR opens only after you say yes</a:t>
            </a:r>
            <a:endParaRPr lang="en-US" sz="1200" dirty="0"/>
          </a:p>
        </p:txBody>
      </p:sp>
      <p:sp>
        <p:nvSpPr>
          <p:cNvPr id="41" name="Text 39"/>
          <p:cNvSpPr/>
          <p:nvPr/>
        </p:nvSpPr>
        <p:spPr>
          <a:xfrm>
            <a:off x="812800" y="6206255"/>
            <a:ext cx="392430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JetBrains Mono" pitchFamily="49" charset="0"/>
                <a:ea typeface="JetBrains Mono" pitchFamily="49" charset="-122"/>
                <a:cs typeface="JetBrains Mono" pitchFamily="49" charset="-120"/>
              </a:rPr>
              <a:t>PatchPilot</a:t>
            </a:r>
            <a:endParaRPr lang="en-US" sz="1200" dirty="0"/>
          </a:p>
        </p:txBody>
      </p:sp>
      <p:sp>
        <p:nvSpPr>
          <p:cNvPr id="42" name="Text 40"/>
          <p:cNvSpPr/>
          <p:nvPr/>
        </p:nvSpPr>
        <p:spPr>
          <a:xfrm>
            <a:off x="7454900" y="6206255"/>
            <a:ext cx="3924300" cy="27074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89C92"/>
                </a:solidFill>
                <a:latin typeface="JetBrains Mono" pitchFamily="49" charset="0"/>
                <a:ea typeface="JetBrains Mono" pitchFamily="49" charset="-122"/>
                <a:cs typeface="JetBrains Mono" pitchFamily="49" charset="-120"/>
              </a:rPr>
              <a:t>02 / 06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511E"/>
                </a:solidFill>
                <a:latin typeface="JetBrains Mono" pitchFamily="49" charset="0"/>
                <a:ea typeface="JetBrains Mono" pitchFamily="49" charset="-122"/>
                <a:cs typeface="JetBrains Mono" pitchFamily="49" charset="-120"/>
              </a:rPr>
              <a:t>[ Why it's safe · system view ]</a:t>
            </a:r>
            <a:endParaRPr lang="en-US" sz="1200" dirty="0"/>
          </a:p>
        </p:txBody>
      </p:sp>
      <p:sp>
        <p:nvSpPr>
          <p:cNvPr id="3" name="Text 1"/>
          <p:cNvSpPr/>
          <p:nvPr>
            <p:ph type="title"/>
          </p:nvPr>
        </p:nvSpPr>
        <p:spPr>
          <a:xfrm>
            <a:off x="812800" y="1159745"/>
            <a:ext cx="10883392" cy="475192"/>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B1410"/>
                </a:solidFill>
                <a:latin typeface="Inter" pitchFamily="34" charset="0"/>
                <a:ea typeface="Inter" pitchFamily="34" charset="-122"/>
                <a:cs typeface="Inter" pitchFamily="34" charset="-120"/>
              </a:rPr>
              <a:t>Three zones. One write token.</a:t>
            </a:r>
            <a:endParaRPr lang="en-US" sz="2800" dirty="0"/>
          </a:p>
        </p:txBody>
      </p:sp>
      <p:sp>
        <p:nvSpPr>
          <p:cNvPr id="64" name="Text 6 copy 64"/>
          <p:cNvSpPr/>
          <p:nvPr/>
        </p:nvSpPr>
        <p:spPr>
          <a:xfrm>
            <a:off x="812800" y="1720000"/>
            <a:ext cx="10883392" cy="300000"/>
          </a:xfrm>
          <a:prstGeom prst="rect">
            <a:avLst/>
          </a:prstGeom>
          <a:noFill/>
          <a:ln/>
        </p:spPr>
        <p:txBody>
          <a:bodyPr wrap="square" lIns="0" tIns="0" rIns="0" bIns="0" rtlCol="0" anchor="t">
            <a:normAutofit/>
          </a:bodyPr>
          <a:lstStyle/>
          <a:p>
            <a:pPr algn="l" indent="0" marL="0">
              <a:lnSpc>
                <a:spcPts val="1800"/>
              </a:lnSpc>
              <a:buNone/>
            </a:pPr>
            <a:r>
              <a:rPr lang="en-US" sz="1400" dirty="0">
                <a:solidFill>
                  <a:srgbClr val="4A3E35"/>
                </a:solidFill>
                <a:latin typeface="Inter" pitchFamily="34" charset="0"/>
                <a:ea typeface="Inter" pitchFamily="34" charset="-122"/>
                <a:cs typeface="Inter" pitchFamily="34" charset="-120"/>
              </a:rPr>
              <a:t>SupplyGuard, our own scanner, checks every dependency before anything installs. The AI never holds the write token.</a:t>
            </a:r>
            <a:endParaRPr lang="en-US" sz="1400" dirty="0"/>
          </a:p>
        </p:txBody>
      </p:sp>
      <p:sp>
        <p:nvSpPr>
          <p:cNvPr id="4" name="Text 2"/>
          <p:cNvSpPr/>
          <p:nvPr/>
        </p:nvSpPr>
        <p:spPr>
          <a:xfrm>
            <a:off x="2597150" y="2128286"/>
            <a:ext cx="3352800" cy="3797300"/>
          </a:xfrm>
          <a:prstGeom prst="roundRect">
            <a:avLst>
              <a:gd name="adj" fmla="val 4356"/>
            </a:avLst>
          </a:prstGeom>
          <a:solidFill>
            <a:srgbClr val="F3EEE8"/>
          </a:solidFill>
          <a:ln w="12700">
            <a:solidFill>
              <a:srgbClr val="B7AB9F"/>
            </a:solidFill>
            <a:prstDash val="dash"/>
          </a:ln>
        </p:spPr>
        <p:txBody>
          <a:bodyPr wrap="square" lIns="115369" tIns="51869" rIns="24273" bIns="51869" rtlCol="0" anchor="t">
            <a:normAutofit/>
          </a:bodyPr>
          <a:lstStyle/>
          <a:p>
            <a:pPr algn="l" indent="0" marL="0">
              <a:lnSpc>
                <a:spcPts val="1680"/>
              </a:lnSpc>
              <a:buNone/>
            </a:pPr>
            <a:r>
              <a:rPr lang="en-US" sz="1200" dirty="0">
                <a:solidFill>
                  <a:srgbClr val="4A3E35"/>
                </a:solidFill>
                <a:latin typeface="JetBrains Mono" pitchFamily="49" charset="0"/>
                <a:ea typeface="JetBrains Mono" pitchFamily="49" charset="-122"/>
                <a:cs typeface="JetBrains Mono" pitchFamily="49" charset="-120"/>
              </a:rPr>
              <a:t>TRUSTED</a:t>
            </a:r>
            <a:endParaRPr lang="en-US" sz="1200" dirty="0"/>
          </a:p>
        </p:txBody>
      </p:sp>
      <p:sp>
        <p:nvSpPr>
          <p:cNvPr id="5" name="Text 3"/>
          <p:cNvSpPr/>
          <p:nvPr/>
        </p:nvSpPr>
        <p:spPr>
          <a:xfrm>
            <a:off x="7740650" y="2128286"/>
            <a:ext cx="3632200" cy="1447800"/>
          </a:xfrm>
          <a:prstGeom prst="roundRect">
            <a:avLst>
              <a:gd name="adj" fmla="val 10088"/>
            </a:avLst>
          </a:prstGeom>
          <a:solidFill>
            <a:srgbClr val="FBF1E4"/>
          </a:solidFill>
          <a:ln w="12700">
            <a:solidFill>
              <a:srgbClr val="D3B08A"/>
            </a:solidFill>
            <a:prstDash val="dash"/>
          </a:ln>
        </p:spPr>
        <p:txBody>
          <a:bodyPr wrap="square" lIns="115369" tIns="51869" rIns="15891" bIns="51869" rtlCol="0" anchor="t">
            <a:normAutofit/>
          </a:bodyPr>
          <a:lstStyle/>
          <a:p>
            <a:pPr algn="l" indent="0" marL="0">
              <a:lnSpc>
                <a:spcPts val="1680"/>
              </a:lnSpc>
              <a:buNone/>
            </a:pPr>
            <a:r>
              <a:rPr lang="en-US" sz="1200" dirty="0">
                <a:solidFill>
                  <a:srgbClr val="8A5A25"/>
                </a:solidFill>
                <a:latin typeface="JetBrains Mono" pitchFamily="49" charset="0"/>
                <a:ea typeface="JetBrains Mono" pitchFamily="49" charset="-122"/>
                <a:cs typeface="JetBrains Mono" pitchFamily="49" charset="-120"/>
              </a:rPr>
              <a:t>SEMI-TRUSTED</a:t>
            </a:r>
            <a:endParaRPr lang="en-US" sz="1200" dirty="0"/>
          </a:p>
        </p:txBody>
      </p:sp>
      <p:sp>
        <p:nvSpPr>
          <p:cNvPr id="6" name="Shape 4"/>
          <p:cNvSpPr/>
          <p:nvPr/>
        </p:nvSpPr>
        <p:spPr>
          <a:xfrm>
            <a:off x="7740650" y="3842786"/>
            <a:ext cx="3632200" cy="2082800"/>
          </a:xfrm>
          <a:prstGeom prst="roundRect">
            <a:avLst>
              <a:gd name="adj" fmla="val 7012"/>
            </a:avLst>
          </a:prstGeom>
          <a:solidFill>
            <a:srgbClr val="FDEBDF"/>
          </a:solidFill>
          <a:ln w="12700">
            <a:solidFill>
              <a:srgbClr val="E8652B"/>
            </a:solidFill>
            <a:prstDash val="dash"/>
          </a:ln>
        </p:spPr>
      </p:sp>
      <p:sp>
        <p:nvSpPr>
          <p:cNvPr id="7" name="Text 5"/>
          <p:cNvSpPr/>
          <p:nvPr/>
        </p:nvSpPr>
        <p:spPr>
          <a:xfrm>
            <a:off x="7898795" y="3937431"/>
            <a:ext cx="3415387"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2430F"/>
                </a:solidFill>
                <a:latin typeface="JetBrains Mono" pitchFamily="49" charset="0"/>
                <a:ea typeface="JetBrains Mono" pitchFamily="49" charset="-122"/>
                <a:cs typeface="JetBrains Mono" pitchFamily="49" charset="-120"/>
              </a:rPr>
              <a:t>UNTRUSTED</a:t>
            </a:r>
            <a:endParaRPr lang="en-US" sz="1200" dirty="0"/>
          </a:p>
        </p:txBody>
      </p:sp>
      <p:sp>
        <p:nvSpPr>
          <p:cNvPr id="8" name="Text 6"/>
          <p:cNvSpPr/>
          <p:nvPr/>
        </p:nvSpPr>
        <p:spPr>
          <a:xfrm>
            <a:off x="7898795" y="5314853"/>
            <a:ext cx="3415387" cy="5160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E35"/>
                </a:solidFill>
                <a:latin typeface="Inter" pitchFamily="34" charset="0"/>
                <a:ea typeface="Inter" pitchFamily="34" charset="-122"/>
                <a:cs typeface="Inter" pitchFamily="34" charset="-120"/>
              </a:rPr>
              <a:t>Setup reaches PyPI only. Every later step runs offline.</a:t>
            </a:r>
            <a:endParaRPr lang="en-US" sz="1200" dirty="0"/>
          </a:p>
        </p:txBody>
      </p:sp>
      <p:sp>
        <p:nvSpPr>
          <p:cNvPr id="9" name="Shape 7"/>
          <p:cNvSpPr/>
          <p:nvPr/>
        </p:nvSpPr>
        <p:spPr>
          <a:xfrm>
            <a:off x="819150" y="2572786"/>
            <a:ext cx="1384300" cy="622300"/>
          </a:xfrm>
          <a:prstGeom prst="roundRect">
            <a:avLst>
              <a:gd name="adj" fmla="val 13265"/>
            </a:avLst>
          </a:prstGeom>
          <a:solidFill>
            <a:srgbClr val="FFFFFF"/>
          </a:solidFill>
          <a:ln w="12700">
            <a:solidFill>
              <a:srgbClr val="D6CDC4"/>
            </a:solidFill>
            <a:prstDash val="solid"/>
          </a:ln>
        </p:spPr>
      </p:sp>
      <p:sp>
        <p:nvSpPr>
          <p:cNvPr id="10" name="Text 8"/>
          <p:cNvSpPr/>
          <p:nvPr/>
        </p:nvSpPr>
        <p:spPr>
          <a:xfrm>
            <a:off x="926495" y="2642031"/>
            <a:ext cx="1220410" cy="260955"/>
          </a:xfrm>
          <a:prstGeom prst="rect">
            <a:avLst/>
          </a:prstGeom>
          <a:noFill/>
          <a:ln/>
        </p:spPr>
        <p:txBody>
          <a:bodyPr wrap="square" lIns="0" tIns="0" rIns="0" bIns="0" rtlCol="0" anchor="t">
            <a:normAutofit/>
          </a:bodyPr>
          <a:lstStyle/>
          <a:p>
            <a:pPr algn="l" indent="0" marL="0">
              <a:lnSpc>
                <a:spcPts val="1627"/>
              </a:lnSpc>
              <a:buNone/>
            </a:pPr>
            <a:r>
              <a:rPr lang="en-US" sz="1163" b="1" dirty="0">
                <a:solidFill>
                  <a:srgbClr val="1B1410"/>
                </a:solidFill>
                <a:latin typeface="Inter" pitchFamily="34" charset="0"/>
                <a:ea typeface="Inter" pitchFamily="34" charset="-122"/>
                <a:cs typeface="Inter" pitchFamily="34" charset="-120"/>
              </a:rPr>
              <a:t>React UI</a:t>
            </a:r>
            <a:endParaRPr lang="en-US" sz="1163" dirty="0"/>
          </a:p>
        </p:txBody>
      </p:sp>
      <p:sp>
        <p:nvSpPr>
          <p:cNvPr id="11" name="Text 9"/>
          <p:cNvSpPr/>
          <p:nvPr/>
        </p:nvSpPr>
        <p:spPr>
          <a:xfrm>
            <a:off x="926495" y="2890286"/>
            <a:ext cx="1220410" cy="260955"/>
          </a:xfrm>
          <a:prstGeom prst="rect">
            <a:avLst/>
          </a:prstGeom>
          <a:noFill/>
          <a:ln/>
        </p:spPr>
        <p:txBody>
          <a:bodyPr wrap="square" lIns="0" tIns="0" rIns="0" bIns="0" rtlCol="0" anchor="t">
            <a:normAutofit/>
          </a:bodyPr>
          <a:lstStyle/>
          <a:p>
            <a:pPr algn="l" indent="0" marL="0">
              <a:lnSpc>
                <a:spcPts val="1627"/>
              </a:lnSpc>
              <a:buNone/>
            </a:pPr>
            <a:r>
              <a:rPr lang="en-US" sz="1163" dirty="0">
                <a:solidFill>
                  <a:srgbClr val="6F6257"/>
                </a:solidFill>
                <a:latin typeface="Inter" pitchFamily="34" charset="0"/>
                <a:ea typeface="Inter" pitchFamily="34" charset="-122"/>
                <a:cs typeface="Inter" pitchFamily="34" charset="-120"/>
              </a:rPr>
              <a:t>run timeline</a:t>
            </a:r>
            <a:endParaRPr lang="en-US" sz="1163" dirty="0"/>
          </a:p>
        </p:txBody>
      </p:sp>
      <p:sp>
        <p:nvSpPr>
          <p:cNvPr id="12" name="Shape 10"/>
          <p:cNvSpPr/>
          <p:nvPr/>
        </p:nvSpPr>
        <p:spPr>
          <a:xfrm>
            <a:off x="819150" y="4414286"/>
            <a:ext cx="1384300" cy="1384300"/>
          </a:xfrm>
          <a:prstGeom prst="roundRect">
            <a:avLst>
              <a:gd name="adj" fmla="val 5963"/>
            </a:avLst>
          </a:prstGeom>
          <a:solidFill>
            <a:srgbClr val="FFFFFF"/>
          </a:solidFill>
          <a:ln w="12700">
            <a:solidFill>
              <a:srgbClr val="D6CDC4"/>
            </a:solidFill>
            <a:prstDash val="solid"/>
          </a:ln>
        </p:spPr>
      </p:sp>
      <p:sp>
        <p:nvSpPr>
          <p:cNvPr id="13" name="Text 11"/>
          <p:cNvSpPr/>
          <p:nvPr/>
        </p:nvSpPr>
        <p:spPr>
          <a:xfrm>
            <a:off x="926495" y="4732051"/>
            <a:ext cx="1220410" cy="27074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410"/>
                </a:solidFill>
                <a:latin typeface="Inter" pitchFamily="34" charset="0"/>
                <a:ea typeface="Inter" pitchFamily="34" charset="-122"/>
                <a:cs typeface="Inter" pitchFamily="34" charset="-120"/>
              </a:rPr>
              <a:t>GitHub</a:t>
            </a:r>
            <a:endParaRPr lang="en-US" sz="1200" dirty="0"/>
          </a:p>
        </p:txBody>
      </p:sp>
      <p:sp>
        <p:nvSpPr>
          <p:cNvPr id="14" name="Text 12"/>
          <p:cNvSpPr/>
          <p:nvPr/>
        </p:nvSpPr>
        <p:spPr>
          <a:xfrm>
            <a:off x="926495" y="4990096"/>
            <a:ext cx="1220410" cy="5160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257"/>
                </a:solidFill>
                <a:latin typeface="Inter" pitchFamily="34" charset="0"/>
                <a:ea typeface="Inter" pitchFamily="34" charset="-122"/>
                <a:cs typeface="Inter" pitchFamily="34" charset="-120"/>
              </a:rPr>
              <a:t>issues and PRs</a:t>
            </a:r>
            <a:endParaRPr lang="en-US" sz="1200" dirty="0"/>
          </a:p>
        </p:txBody>
      </p:sp>
      <p:sp>
        <p:nvSpPr>
          <p:cNvPr id="15" name="Shape 13"/>
          <p:cNvSpPr/>
          <p:nvPr/>
        </p:nvSpPr>
        <p:spPr>
          <a:xfrm>
            <a:off x="2749550" y="2572786"/>
            <a:ext cx="1257300" cy="622300"/>
          </a:xfrm>
          <a:prstGeom prst="roundRect">
            <a:avLst>
              <a:gd name="adj" fmla="val 13265"/>
            </a:avLst>
          </a:prstGeom>
          <a:solidFill>
            <a:srgbClr val="FFFFFF"/>
          </a:solidFill>
          <a:ln w="12700">
            <a:solidFill>
              <a:srgbClr val="D6CDC4"/>
            </a:solidFill>
            <a:prstDash val="solid"/>
          </a:ln>
        </p:spPr>
      </p:sp>
      <p:sp>
        <p:nvSpPr>
          <p:cNvPr id="16" name="Text 14"/>
          <p:cNvSpPr/>
          <p:nvPr/>
        </p:nvSpPr>
        <p:spPr>
          <a:xfrm>
            <a:off x="2856895" y="2642031"/>
            <a:ext cx="1093410" cy="260955"/>
          </a:xfrm>
          <a:prstGeom prst="rect">
            <a:avLst/>
          </a:prstGeom>
          <a:noFill/>
          <a:ln/>
        </p:spPr>
        <p:txBody>
          <a:bodyPr wrap="square" lIns="0" tIns="0" rIns="0" bIns="0" rtlCol="0" anchor="t">
            <a:normAutofit/>
          </a:bodyPr>
          <a:lstStyle/>
          <a:p>
            <a:pPr algn="l" indent="0" marL="0">
              <a:lnSpc>
                <a:spcPts val="1627"/>
              </a:lnSpc>
              <a:buNone/>
            </a:pPr>
            <a:r>
              <a:rPr lang="en-US" sz="1163" b="1" dirty="0">
                <a:solidFill>
                  <a:srgbClr val="1B1410"/>
                </a:solidFill>
                <a:latin typeface="Inter" pitchFamily="34" charset="0"/>
                <a:ea typeface="Inter" pitchFamily="34" charset="-122"/>
                <a:cs typeface="Inter" pitchFamily="34" charset="-120"/>
              </a:rPr>
              <a:t>FastAPI</a:t>
            </a:r>
            <a:endParaRPr lang="en-US" sz="1163" dirty="0"/>
          </a:p>
        </p:txBody>
      </p:sp>
      <p:sp>
        <p:nvSpPr>
          <p:cNvPr id="17" name="Text 15"/>
          <p:cNvSpPr/>
          <p:nvPr/>
        </p:nvSpPr>
        <p:spPr>
          <a:xfrm>
            <a:off x="2856895" y="2890286"/>
            <a:ext cx="1093410" cy="260955"/>
          </a:xfrm>
          <a:prstGeom prst="rect">
            <a:avLst/>
          </a:prstGeom>
          <a:noFill/>
          <a:ln/>
        </p:spPr>
        <p:txBody>
          <a:bodyPr wrap="square" lIns="0" tIns="0" rIns="0" bIns="0" rtlCol="0" anchor="t">
            <a:normAutofit/>
          </a:bodyPr>
          <a:lstStyle/>
          <a:p>
            <a:pPr algn="l" indent="0" marL="0">
              <a:lnSpc>
                <a:spcPts val="1627"/>
              </a:lnSpc>
              <a:buNone/>
            </a:pPr>
            <a:r>
              <a:rPr lang="en-US" sz="1163" dirty="0">
                <a:solidFill>
                  <a:srgbClr val="6F6257"/>
                </a:solidFill>
                <a:latin typeface="Inter" pitchFamily="34" charset="0"/>
                <a:ea typeface="Inter" pitchFamily="34" charset="-122"/>
                <a:cs typeface="Inter" pitchFamily="34" charset="-120"/>
              </a:rPr>
              <a:t>REST + SSE</a:t>
            </a:r>
            <a:endParaRPr lang="en-US" sz="1163" dirty="0"/>
          </a:p>
        </p:txBody>
      </p:sp>
      <p:sp>
        <p:nvSpPr>
          <p:cNvPr id="18" name="Shape 16"/>
          <p:cNvSpPr/>
          <p:nvPr/>
        </p:nvSpPr>
        <p:spPr>
          <a:xfrm>
            <a:off x="2749550" y="3525286"/>
            <a:ext cx="1257300" cy="622300"/>
          </a:xfrm>
          <a:prstGeom prst="roundRect">
            <a:avLst>
              <a:gd name="adj" fmla="val 13265"/>
            </a:avLst>
          </a:prstGeom>
          <a:solidFill>
            <a:srgbClr val="FFFFFF"/>
          </a:solidFill>
          <a:ln w="12700">
            <a:solidFill>
              <a:srgbClr val="D6CDC4"/>
            </a:solidFill>
            <a:prstDash val="solid"/>
          </a:ln>
        </p:spPr>
      </p:sp>
      <p:sp>
        <p:nvSpPr>
          <p:cNvPr id="19" name="Text 17"/>
          <p:cNvSpPr/>
          <p:nvPr/>
        </p:nvSpPr>
        <p:spPr>
          <a:xfrm>
            <a:off x="2856895" y="3594531"/>
            <a:ext cx="1093410" cy="260955"/>
          </a:xfrm>
          <a:prstGeom prst="rect">
            <a:avLst/>
          </a:prstGeom>
          <a:noFill/>
          <a:ln/>
        </p:spPr>
        <p:txBody>
          <a:bodyPr wrap="square" lIns="0" tIns="0" rIns="0" bIns="0" rtlCol="0" anchor="t">
            <a:normAutofit/>
          </a:bodyPr>
          <a:lstStyle/>
          <a:p>
            <a:pPr algn="l" indent="0" marL="0">
              <a:lnSpc>
                <a:spcPts val="1627"/>
              </a:lnSpc>
              <a:buNone/>
            </a:pPr>
            <a:r>
              <a:rPr lang="en-US" sz="1163" b="1" dirty="0">
                <a:solidFill>
                  <a:srgbClr val="1B1410"/>
                </a:solidFill>
                <a:latin typeface="Inter" pitchFamily="34" charset="0"/>
                <a:ea typeface="Inter" pitchFamily="34" charset="-122"/>
                <a:cs typeface="Inter" pitchFamily="34" charset="-120"/>
              </a:rPr>
              <a:t>Job queue</a:t>
            </a:r>
            <a:endParaRPr lang="en-US" sz="1163" dirty="0"/>
          </a:p>
        </p:txBody>
      </p:sp>
      <p:sp>
        <p:nvSpPr>
          <p:cNvPr id="20" name="Text 18"/>
          <p:cNvSpPr/>
          <p:nvPr/>
        </p:nvSpPr>
        <p:spPr>
          <a:xfrm>
            <a:off x="2856895" y="3842786"/>
            <a:ext cx="1093410" cy="260955"/>
          </a:xfrm>
          <a:prstGeom prst="rect">
            <a:avLst/>
          </a:prstGeom>
          <a:noFill/>
          <a:ln/>
        </p:spPr>
        <p:txBody>
          <a:bodyPr wrap="square" lIns="0" tIns="0" rIns="0" bIns="0" rtlCol="0" anchor="t">
            <a:normAutofit/>
          </a:bodyPr>
          <a:lstStyle/>
          <a:p>
            <a:pPr algn="l" indent="0" marL="0">
              <a:lnSpc>
                <a:spcPts val="1627"/>
              </a:lnSpc>
              <a:buNone/>
            </a:pPr>
            <a:r>
              <a:rPr lang="en-US" sz="1163" dirty="0">
                <a:solidFill>
                  <a:srgbClr val="6F6257"/>
                </a:solidFill>
                <a:latin typeface="Inter" pitchFamily="34" charset="0"/>
                <a:ea typeface="Inter" pitchFamily="34" charset="-122"/>
                <a:cs typeface="Inter" pitchFamily="34" charset="-120"/>
              </a:rPr>
              <a:t>async runs</a:t>
            </a:r>
            <a:endParaRPr lang="en-US" sz="1163" dirty="0"/>
          </a:p>
        </p:txBody>
      </p:sp>
      <p:sp>
        <p:nvSpPr>
          <p:cNvPr id="21" name="Shape 19"/>
          <p:cNvSpPr/>
          <p:nvPr/>
        </p:nvSpPr>
        <p:spPr>
          <a:xfrm>
            <a:off x="2749550" y="4414286"/>
            <a:ext cx="1257300" cy="558800"/>
          </a:xfrm>
          <a:prstGeom prst="roundRect">
            <a:avLst>
              <a:gd name="adj" fmla="val 14773"/>
            </a:avLst>
          </a:prstGeom>
          <a:solidFill>
            <a:srgbClr val="FFFFFF"/>
          </a:solidFill>
          <a:ln w="12700">
            <a:solidFill>
              <a:srgbClr val="D6CDC4"/>
            </a:solidFill>
            <a:prstDash val="solid"/>
          </a:ln>
        </p:spPr>
      </p:sp>
      <p:sp>
        <p:nvSpPr>
          <p:cNvPr id="22" name="Text 20"/>
          <p:cNvSpPr/>
          <p:nvPr/>
        </p:nvSpPr>
        <p:spPr>
          <a:xfrm>
            <a:off x="2856895" y="4483531"/>
            <a:ext cx="1093410" cy="229205"/>
          </a:xfrm>
          <a:prstGeom prst="rect">
            <a:avLst/>
          </a:prstGeom>
          <a:noFill/>
          <a:ln/>
        </p:spPr>
        <p:txBody>
          <a:bodyPr wrap="square" lIns="0" tIns="0" rIns="0" bIns="0" rtlCol="0" anchor="t">
            <a:normAutofit/>
          </a:bodyPr>
          <a:lstStyle/>
          <a:p>
            <a:pPr algn="l" indent="0" marL="0">
              <a:lnSpc>
                <a:spcPts val="1412"/>
              </a:lnSpc>
              <a:buNone/>
            </a:pPr>
            <a:r>
              <a:rPr lang="en-US" sz="1009" b="1" dirty="0">
                <a:solidFill>
                  <a:srgbClr val="1B1410"/>
                </a:solidFill>
                <a:latin typeface="Inter" pitchFamily="34" charset="0"/>
                <a:ea typeface="Inter" pitchFamily="34" charset="-122"/>
                <a:cs typeface="Inter" pitchFamily="34" charset="-120"/>
              </a:rPr>
              <a:t>Intake</a:t>
            </a:r>
            <a:endParaRPr lang="en-US" sz="1009" dirty="0"/>
          </a:p>
        </p:txBody>
      </p:sp>
      <p:sp>
        <p:nvSpPr>
          <p:cNvPr id="23" name="Text 21"/>
          <p:cNvSpPr/>
          <p:nvPr/>
        </p:nvSpPr>
        <p:spPr>
          <a:xfrm>
            <a:off x="2856895" y="4700036"/>
            <a:ext cx="1093410" cy="229205"/>
          </a:xfrm>
          <a:prstGeom prst="rect">
            <a:avLst/>
          </a:prstGeom>
          <a:noFill/>
          <a:ln/>
        </p:spPr>
        <p:txBody>
          <a:bodyPr wrap="square" lIns="0" tIns="0" rIns="0" bIns="0" rtlCol="0" anchor="t">
            <a:normAutofit/>
          </a:bodyPr>
          <a:lstStyle/>
          <a:p>
            <a:pPr algn="l" indent="0" marL="0">
              <a:lnSpc>
                <a:spcPts val="1412"/>
              </a:lnSpc>
              <a:buNone/>
            </a:pPr>
            <a:r>
              <a:rPr lang="en-US" sz="1009" dirty="0">
                <a:solidFill>
                  <a:srgbClr val="6F6257"/>
                </a:solidFill>
                <a:latin typeface="Inter" pitchFamily="34" charset="0"/>
                <a:ea typeface="Inter" pitchFamily="34" charset="-122"/>
                <a:cs typeface="Inter" pitchFamily="34" charset="-120"/>
              </a:rPr>
              <a:t>read-only</a:t>
            </a:r>
            <a:endParaRPr lang="en-US" sz="1009" dirty="0"/>
          </a:p>
        </p:txBody>
      </p:sp>
      <p:sp>
        <p:nvSpPr>
          <p:cNvPr id="24" name="Shape 22"/>
          <p:cNvSpPr/>
          <p:nvPr/>
        </p:nvSpPr>
        <p:spPr>
          <a:xfrm>
            <a:off x="2749550" y="5176286"/>
            <a:ext cx="1257300" cy="622300"/>
          </a:xfrm>
          <a:prstGeom prst="roundRect">
            <a:avLst>
              <a:gd name="adj" fmla="val 13265"/>
            </a:avLst>
          </a:prstGeom>
          <a:solidFill>
            <a:srgbClr val="FFFFFF"/>
          </a:solidFill>
          <a:ln w="12700">
            <a:solidFill>
              <a:srgbClr val="D6CDC4"/>
            </a:solidFill>
            <a:prstDash val="solid"/>
          </a:ln>
        </p:spPr>
      </p:sp>
      <p:sp>
        <p:nvSpPr>
          <p:cNvPr id="25" name="Text 23"/>
          <p:cNvSpPr/>
          <p:nvPr/>
        </p:nvSpPr>
        <p:spPr>
          <a:xfrm>
            <a:off x="2856895" y="5245531"/>
            <a:ext cx="1093410" cy="260955"/>
          </a:xfrm>
          <a:prstGeom prst="rect">
            <a:avLst/>
          </a:prstGeom>
          <a:noFill/>
          <a:ln/>
        </p:spPr>
        <p:txBody>
          <a:bodyPr wrap="square" lIns="0" tIns="0" rIns="0" bIns="0" rtlCol="0" anchor="t">
            <a:normAutofit/>
          </a:bodyPr>
          <a:lstStyle/>
          <a:p>
            <a:pPr algn="l" indent="0" marL="0">
              <a:lnSpc>
                <a:spcPts val="1627"/>
              </a:lnSpc>
              <a:buNone/>
            </a:pPr>
            <a:r>
              <a:rPr lang="en-US" sz="1163" b="1" dirty="0">
                <a:solidFill>
                  <a:srgbClr val="1B1410"/>
                </a:solidFill>
                <a:latin typeface="Inter" pitchFamily="34" charset="0"/>
                <a:ea typeface="Inter" pitchFamily="34" charset="-122"/>
                <a:cs typeface="Inter" pitchFamily="34" charset="-120"/>
              </a:rPr>
              <a:t>Publisher</a:t>
            </a:r>
            <a:endParaRPr lang="en-US" sz="1163" dirty="0"/>
          </a:p>
        </p:txBody>
      </p:sp>
      <p:sp>
        <p:nvSpPr>
          <p:cNvPr id="26" name="Text 24"/>
          <p:cNvSpPr/>
          <p:nvPr/>
        </p:nvSpPr>
        <p:spPr>
          <a:xfrm>
            <a:off x="2856895" y="5493786"/>
            <a:ext cx="1093410" cy="260955"/>
          </a:xfrm>
          <a:prstGeom prst="rect">
            <a:avLst/>
          </a:prstGeom>
          <a:noFill/>
          <a:ln/>
        </p:spPr>
        <p:txBody>
          <a:bodyPr wrap="square" lIns="0" tIns="0" rIns="0" bIns="0" rtlCol="0" anchor="t">
            <a:normAutofit/>
          </a:bodyPr>
          <a:lstStyle/>
          <a:p>
            <a:pPr algn="l" indent="0" marL="0">
              <a:lnSpc>
                <a:spcPts val="1627"/>
              </a:lnSpc>
              <a:buNone/>
            </a:pPr>
            <a:r>
              <a:rPr lang="en-US" sz="1163" dirty="0">
                <a:solidFill>
                  <a:srgbClr val="6F6257"/>
                </a:solidFill>
                <a:latin typeface="Inter" pitchFamily="34" charset="0"/>
                <a:ea typeface="Inter" pitchFamily="34" charset="-122"/>
                <a:cs typeface="Inter" pitchFamily="34" charset="-120"/>
              </a:rPr>
              <a:t>write token</a:t>
            </a:r>
            <a:endParaRPr lang="en-US" sz="1163" dirty="0"/>
          </a:p>
        </p:txBody>
      </p:sp>
      <p:sp>
        <p:nvSpPr>
          <p:cNvPr id="27" name="Shape 25"/>
          <p:cNvSpPr/>
          <p:nvPr/>
        </p:nvSpPr>
        <p:spPr>
          <a:xfrm>
            <a:off x="4375150" y="2572786"/>
            <a:ext cx="1384300" cy="1574800"/>
          </a:xfrm>
          <a:prstGeom prst="roundRect">
            <a:avLst>
              <a:gd name="adj" fmla="val 5963"/>
            </a:avLst>
          </a:prstGeom>
          <a:solidFill>
            <a:srgbClr val="FFF1E7"/>
          </a:solidFill>
          <a:ln w="12700">
            <a:solidFill>
              <a:srgbClr val="E8652B"/>
            </a:solidFill>
            <a:prstDash val="solid"/>
          </a:ln>
        </p:spPr>
      </p:sp>
      <p:sp>
        <p:nvSpPr>
          <p:cNvPr id="28" name="Text 26"/>
          <p:cNvSpPr/>
          <p:nvPr/>
        </p:nvSpPr>
        <p:spPr>
          <a:xfrm>
            <a:off x="4482495" y="2850448"/>
            <a:ext cx="1220410" cy="27074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410"/>
                </a:solidFill>
                <a:latin typeface="Inter" pitchFamily="34" charset="0"/>
                <a:ea typeface="Inter" pitchFamily="34" charset="-122"/>
                <a:cs typeface="Inter" pitchFamily="34" charset="-120"/>
              </a:rPr>
              <a:t>Orchestrator</a:t>
            </a:r>
            <a:endParaRPr lang="en-US" sz="1200" dirty="0"/>
          </a:p>
        </p:txBody>
      </p:sp>
      <p:sp>
        <p:nvSpPr>
          <p:cNvPr id="29" name="Text 27"/>
          <p:cNvSpPr/>
          <p:nvPr/>
        </p:nvSpPr>
        <p:spPr>
          <a:xfrm>
            <a:off x="4482495" y="3108493"/>
            <a:ext cx="122041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257"/>
                </a:solidFill>
                <a:latin typeface="Inter" pitchFamily="34" charset="0"/>
                <a:ea typeface="Inter" pitchFamily="34" charset="-122"/>
                <a:cs typeface="Inter" pitchFamily="34" charset="-120"/>
              </a:rPr>
              <a:t>LangGraph</a:t>
            </a:r>
            <a:endParaRPr lang="en-US" sz="1200" dirty="0"/>
          </a:p>
        </p:txBody>
      </p:sp>
      <p:sp>
        <p:nvSpPr>
          <p:cNvPr id="30" name="Text 28"/>
          <p:cNvSpPr/>
          <p:nvPr/>
        </p:nvSpPr>
        <p:spPr>
          <a:xfrm>
            <a:off x="4482495" y="3366536"/>
            <a:ext cx="122041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257"/>
                </a:solidFill>
                <a:latin typeface="Inter" pitchFamily="34" charset="0"/>
                <a:ea typeface="Inter" pitchFamily="34" charset="-122"/>
                <a:cs typeface="Inter" pitchFamily="34" charset="-120"/>
              </a:rPr>
              <a:t>7 gates</a:t>
            </a:r>
            <a:endParaRPr lang="en-US" sz="1200" dirty="0"/>
          </a:p>
        </p:txBody>
      </p:sp>
      <p:sp>
        <p:nvSpPr>
          <p:cNvPr id="31" name="Text 29"/>
          <p:cNvSpPr/>
          <p:nvPr/>
        </p:nvSpPr>
        <p:spPr>
          <a:xfrm>
            <a:off x="4482495" y="3624581"/>
            <a:ext cx="122041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257"/>
                </a:solidFill>
                <a:latin typeface="Inter" pitchFamily="34" charset="0"/>
                <a:ea typeface="Inter" pitchFamily="34" charset="-122"/>
                <a:cs typeface="Inter" pitchFamily="34" charset="-120"/>
              </a:rPr>
              <a:t>Human gate</a:t>
            </a:r>
            <a:endParaRPr lang="en-US" sz="1200" dirty="0"/>
          </a:p>
        </p:txBody>
      </p:sp>
      <p:sp>
        <p:nvSpPr>
          <p:cNvPr id="32" name="Shape 30"/>
          <p:cNvSpPr/>
          <p:nvPr/>
        </p:nvSpPr>
        <p:spPr>
          <a:xfrm>
            <a:off x="4375150" y="4414286"/>
            <a:ext cx="1193800" cy="558800"/>
          </a:xfrm>
          <a:prstGeom prst="roundRect">
            <a:avLst>
              <a:gd name="adj" fmla="val 14773"/>
            </a:avLst>
          </a:prstGeom>
          <a:solidFill>
            <a:srgbClr val="FFFFFF"/>
          </a:solidFill>
          <a:ln w="12700">
            <a:solidFill>
              <a:srgbClr val="D6CDC4"/>
            </a:solidFill>
            <a:prstDash val="solid"/>
          </a:ln>
        </p:spPr>
      </p:sp>
      <p:sp>
        <p:nvSpPr>
          <p:cNvPr id="33" name="Text 31"/>
          <p:cNvSpPr/>
          <p:nvPr/>
        </p:nvSpPr>
        <p:spPr>
          <a:xfrm>
            <a:off x="4469795" y="4483531"/>
            <a:ext cx="1092805" cy="297165"/>
          </a:xfrm>
          <a:prstGeom prst="rect">
            <a:avLst/>
          </a:prstGeom>
          <a:noFill/>
          <a:ln/>
        </p:spPr>
        <p:txBody>
          <a:bodyPr wrap="square" lIns="0" tIns="0" rIns="0" bIns="0" rtlCol="0" anchor="t">
            <a:normAutofit/>
          </a:bodyPr>
          <a:lstStyle/>
          <a:p>
            <a:pPr algn="l" indent="0" marL="0">
              <a:lnSpc>
                <a:spcPts val="1523"/>
              </a:lnSpc>
              <a:buNone/>
            </a:pPr>
            <a:r>
              <a:rPr lang="en-US" sz="1088" b="1" dirty="0">
                <a:solidFill>
                  <a:srgbClr val="1B1410"/>
                </a:solidFill>
                <a:latin typeface="Inter" pitchFamily="34" charset="0"/>
                <a:ea typeface="Inter" pitchFamily="34" charset="-122"/>
                <a:cs typeface="Inter" pitchFamily="34" charset="-120"/>
              </a:rPr>
              <a:t>SupplyGuard</a:t>
            </a:r>
            <a:endParaRPr lang="en-US" sz="1088" dirty="0"/>
          </a:p>
        </p:txBody>
      </p:sp>
      <p:sp>
        <p:nvSpPr>
          <p:cNvPr id="34" name="Text 32"/>
          <p:cNvSpPr/>
          <p:nvPr/>
        </p:nvSpPr>
        <p:spPr>
          <a:xfrm>
            <a:off x="4469795" y="4767996"/>
            <a:ext cx="1055310" cy="180000"/>
          </a:xfrm>
          <a:prstGeom prst="rect">
            <a:avLst/>
          </a:prstGeom>
          <a:noFill/>
          <a:ln/>
        </p:spPr>
        <p:txBody>
          <a:bodyPr wrap="square" lIns="0" tIns="0" rIns="0" bIns="0" rtlCol="0" anchor="t">
            <a:normAutofit/>
          </a:bodyPr>
          <a:lstStyle/>
          <a:p>
            <a:pPr algn="l" indent="0" marL="0">
              <a:lnSpc>
                <a:spcPts val="1000"/>
              </a:lnSpc>
              <a:buNone/>
            </a:pPr>
            <a:r>
              <a:rPr lang="en-US" sz="800" dirty="0">
                <a:solidFill>
                  <a:srgbClr val="6F6257"/>
                </a:solidFill>
                <a:latin typeface="Inter" pitchFamily="34" charset="0"/>
                <a:ea typeface="Inter" pitchFamily="34" charset="-122"/>
                <a:cs typeface="Inter" pitchFamily="34" charset="-120"/>
              </a:rPr>
              <a:t>dependency scanner</a:t>
            </a:r>
            <a:endParaRPr lang="en-US" sz="800" dirty="0"/>
          </a:p>
        </p:txBody>
      </p:sp>
      <p:sp>
        <p:nvSpPr>
          <p:cNvPr id="35" name="Shape 33"/>
          <p:cNvSpPr/>
          <p:nvPr/>
        </p:nvSpPr>
        <p:spPr>
          <a:xfrm>
            <a:off x="4375150" y="5176286"/>
            <a:ext cx="1384300" cy="622300"/>
          </a:xfrm>
          <a:prstGeom prst="roundRect">
            <a:avLst>
              <a:gd name="adj" fmla="val 13265"/>
            </a:avLst>
          </a:prstGeom>
          <a:solidFill>
            <a:srgbClr val="FFFFFF"/>
          </a:solidFill>
          <a:ln w="12700">
            <a:solidFill>
              <a:srgbClr val="D6CDC4"/>
            </a:solidFill>
            <a:prstDash val="solid"/>
          </a:ln>
        </p:spPr>
      </p:sp>
      <p:sp>
        <p:nvSpPr>
          <p:cNvPr id="36" name="Text 34"/>
          <p:cNvSpPr/>
          <p:nvPr/>
        </p:nvSpPr>
        <p:spPr>
          <a:xfrm>
            <a:off x="4482495" y="5245531"/>
            <a:ext cx="1220410" cy="260955"/>
          </a:xfrm>
          <a:prstGeom prst="rect">
            <a:avLst/>
          </a:prstGeom>
          <a:noFill/>
          <a:ln/>
        </p:spPr>
        <p:txBody>
          <a:bodyPr wrap="square" lIns="0" tIns="0" rIns="0" bIns="0" rtlCol="0" anchor="t">
            <a:normAutofit/>
          </a:bodyPr>
          <a:lstStyle/>
          <a:p>
            <a:pPr algn="l" indent="0" marL="0">
              <a:lnSpc>
                <a:spcPts val="1627"/>
              </a:lnSpc>
              <a:buNone/>
            </a:pPr>
            <a:r>
              <a:rPr lang="en-US" sz="1163" b="1" dirty="0">
                <a:solidFill>
                  <a:srgbClr val="1B1410"/>
                </a:solidFill>
                <a:latin typeface="Inter" pitchFamily="34" charset="0"/>
                <a:ea typeface="Inter" pitchFamily="34" charset="-122"/>
                <a:cs typeface="Inter" pitchFamily="34" charset="-120"/>
              </a:rPr>
              <a:t>State store</a:t>
            </a:r>
            <a:endParaRPr lang="en-US" sz="1163" dirty="0"/>
          </a:p>
        </p:txBody>
      </p:sp>
      <p:sp>
        <p:nvSpPr>
          <p:cNvPr id="37" name="Text 35"/>
          <p:cNvSpPr/>
          <p:nvPr/>
        </p:nvSpPr>
        <p:spPr>
          <a:xfrm>
            <a:off x="4482495" y="5493786"/>
            <a:ext cx="1220410" cy="260955"/>
          </a:xfrm>
          <a:prstGeom prst="rect">
            <a:avLst/>
          </a:prstGeom>
          <a:noFill/>
          <a:ln/>
        </p:spPr>
        <p:txBody>
          <a:bodyPr wrap="square" lIns="0" tIns="0" rIns="0" bIns="0" rtlCol="0" anchor="t">
            <a:normAutofit/>
          </a:bodyPr>
          <a:lstStyle/>
          <a:p>
            <a:pPr algn="l" indent="0" marL="0">
              <a:lnSpc>
                <a:spcPts val="1627"/>
              </a:lnSpc>
              <a:buNone/>
            </a:pPr>
            <a:r>
              <a:rPr lang="en-US" sz="1163" dirty="0">
                <a:solidFill>
                  <a:srgbClr val="6F6257"/>
                </a:solidFill>
                <a:latin typeface="Inter" pitchFamily="34" charset="0"/>
                <a:ea typeface="Inter" pitchFamily="34" charset="-122"/>
                <a:cs typeface="Inter" pitchFamily="34" charset="-120"/>
              </a:rPr>
              <a:t>SQLite</a:t>
            </a:r>
            <a:endParaRPr lang="en-US" sz="1163" dirty="0"/>
          </a:p>
        </p:txBody>
      </p:sp>
      <p:sp>
        <p:nvSpPr>
          <p:cNvPr id="38" name="Shape 36"/>
          <p:cNvSpPr/>
          <p:nvPr/>
        </p:nvSpPr>
        <p:spPr>
          <a:xfrm>
            <a:off x="7893050" y="2572786"/>
            <a:ext cx="3327400" cy="812800"/>
          </a:xfrm>
          <a:prstGeom prst="roundRect">
            <a:avLst>
              <a:gd name="adj" fmla="val 10156"/>
            </a:avLst>
          </a:prstGeom>
          <a:solidFill>
            <a:srgbClr val="FFFFFF"/>
          </a:solidFill>
          <a:ln w="12700">
            <a:solidFill>
              <a:srgbClr val="D6CDC4"/>
            </a:solidFill>
            <a:prstDash val="solid"/>
          </a:ln>
        </p:spPr>
      </p:sp>
      <p:sp>
        <p:nvSpPr>
          <p:cNvPr id="39" name="Text 37"/>
          <p:cNvSpPr/>
          <p:nvPr/>
        </p:nvSpPr>
        <p:spPr>
          <a:xfrm>
            <a:off x="8000395" y="2642031"/>
            <a:ext cx="3206091" cy="245911"/>
          </a:xfrm>
          <a:prstGeom prst="rect">
            <a:avLst/>
          </a:prstGeom>
          <a:noFill/>
          <a:ln/>
        </p:spPr>
        <p:txBody>
          <a:bodyPr wrap="square" lIns="0" tIns="0" rIns="0" bIns="0" rtlCol="0" anchor="t">
            <a:normAutofit/>
          </a:bodyPr>
          <a:lstStyle/>
          <a:p>
            <a:pPr algn="l" indent="0" marL="0">
              <a:lnSpc>
                <a:spcPts val="1538"/>
              </a:lnSpc>
              <a:buNone/>
            </a:pPr>
            <a:r>
              <a:rPr lang="en-US" sz="1099" b="1" dirty="0">
                <a:solidFill>
                  <a:srgbClr val="1B1410"/>
                </a:solidFill>
                <a:latin typeface="Inter" pitchFamily="34" charset="0"/>
                <a:ea typeface="Inter" pitchFamily="34" charset="-122"/>
                <a:cs typeface="Inter" pitchFamily="34" charset="-120"/>
              </a:rPr>
              <a:t>LLM gateway</a:t>
            </a:r>
            <a:endParaRPr lang="en-US" sz="1099" dirty="0"/>
          </a:p>
        </p:txBody>
      </p:sp>
      <p:sp>
        <p:nvSpPr>
          <p:cNvPr id="40" name="Text 38"/>
          <p:cNvSpPr/>
          <p:nvPr/>
        </p:nvSpPr>
        <p:spPr>
          <a:xfrm>
            <a:off x="8000395" y="2875243"/>
            <a:ext cx="3206091" cy="466498"/>
          </a:xfrm>
          <a:prstGeom prst="rect">
            <a:avLst/>
          </a:prstGeom>
          <a:noFill/>
          <a:ln/>
        </p:spPr>
        <p:txBody>
          <a:bodyPr wrap="square" lIns="0" tIns="0" rIns="0" bIns="0" rtlCol="0" anchor="t">
            <a:normAutofit/>
          </a:bodyPr>
          <a:lstStyle/>
          <a:p>
            <a:pPr algn="l" indent="0" marL="0">
              <a:lnSpc>
                <a:spcPts val="1507"/>
              </a:lnSpc>
              <a:buNone/>
            </a:pPr>
            <a:r>
              <a:rPr lang="en-US" sz="1076" dirty="0">
                <a:solidFill>
                  <a:srgbClr val="6F6257"/>
                </a:solidFill>
                <a:latin typeface="Inter" pitchFamily="34" charset="0"/>
                <a:ea typeface="Inter" pitchFamily="34" charset="-122"/>
                <a:cs typeface="Inter" pitchFamily="34" charset="-120"/>
              </a:rPr>
              <a:t>LiteLLM: Groq, then Nebius, then Gemini by quota. Budgets and logs.</a:t>
            </a:r>
            <a:endParaRPr lang="en-US" sz="1076" dirty="0"/>
          </a:p>
        </p:txBody>
      </p:sp>
      <p:sp>
        <p:nvSpPr>
          <p:cNvPr id="41" name="Shape 39"/>
          <p:cNvSpPr/>
          <p:nvPr/>
        </p:nvSpPr>
        <p:spPr>
          <a:xfrm>
            <a:off x="7893050" y="4223786"/>
            <a:ext cx="3327400" cy="812800"/>
          </a:xfrm>
          <a:prstGeom prst="roundRect">
            <a:avLst>
              <a:gd name="adj" fmla="val 10156"/>
            </a:avLst>
          </a:prstGeom>
          <a:solidFill>
            <a:srgbClr val="FFFFFF"/>
          </a:solidFill>
          <a:ln w="12700">
            <a:solidFill>
              <a:srgbClr val="D6CDC4"/>
            </a:solidFill>
            <a:prstDash val="solid"/>
          </a:ln>
        </p:spPr>
      </p:sp>
      <p:sp>
        <p:nvSpPr>
          <p:cNvPr id="42" name="Text 40"/>
          <p:cNvSpPr/>
          <p:nvPr/>
        </p:nvSpPr>
        <p:spPr>
          <a:xfrm>
            <a:off x="8000395" y="4293031"/>
            <a:ext cx="3206091" cy="245911"/>
          </a:xfrm>
          <a:prstGeom prst="rect">
            <a:avLst/>
          </a:prstGeom>
          <a:noFill/>
          <a:ln/>
        </p:spPr>
        <p:txBody>
          <a:bodyPr wrap="square" lIns="0" tIns="0" rIns="0" bIns="0" rtlCol="0" anchor="t">
            <a:normAutofit/>
          </a:bodyPr>
          <a:lstStyle/>
          <a:p>
            <a:pPr algn="l" indent="0" marL="0">
              <a:lnSpc>
                <a:spcPts val="1538"/>
              </a:lnSpc>
              <a:buNone/>
            </a:pPr>
            <a:r>
              <a:rPr lang="en-US" sz="1099" b="1" dirty="0">
                <a:solidFill>
                  <a:srgbClr val="1B1410"/>
                </a:solidFill>
                <a:latin typeface="Inter" pitchFamily="34" charset="0"/>
                <a:ea typeface="Inter" pitchFamily="34" charset="-122"/>
                <a:cs typeface="Inter" pitchFamily="34" charset="-120"/>
              </a:rPr>
              <a:t>Docker sandbox</a:t>
            </a:r>
            <a:endParaRPr lang="en-US" sz="1099" dirty="0"/>
          </a:p>
        </p:txBody>
      </p:sp>
      <p:sp>
        <p:nvSpPr>
          <p:cNvPr id="43" name="Text 41"/>
          <p:cNvSpPr/>
          <p:nvPr/>
        </p:nvSpPr>
        <p:spPr>
          <a:xfrm>
            <a:off x="8000395" y="4526243"/>
            <a:ext cx="3206091" cy="466498"/>
          </a:xfrm>
          <a:prstGeom prst="rect">
            <a:avLst/>
          </a:prstGeom>
          <a:noFill/>
          <a:ln/>
        </p:spPr>
        <p:txBody>
          <a:bodyPr wrap="square" lIns="0" tIns="0" rIns="0" bIns="0" rtlCol="0" anchor="t">
            <a:normAutofit/>
          </a:bodyPr>
          <a:lstStyle/>
          <a:p>
            <a:pPr algn="l" indent="0" marL="0">
              <a:lnSpc>
                <a:spcPts val="1507"/>
              </a:lnSpc>
              <a:buNone/>
            </a:pPr>
            <a:r>
              <a:rPr lang="en-US" sz="1076" dirty="0">
                <a:solidFill>
                  <a:srgbClr val="6F6257"/>
                </a:solidFill>
                <a:latin typeface="Inter" pitchFamily="34" charset="0"/>
                <a:ea typeface="Inter" pitchFamily="34" charset="-122"/>
                <a:cs typeface="Inter" pitchFamily="34" charset="-120"/>
              </a:rPr>
              <a:t>One container per step, deleted after the run.</a:t>
            </a:r>
            <a:endParaRPr lang="en-US" sz="1076" dirty="0"/>
          </a:p>
        </p:txBody>
      </p:sp>
      <p:pic>
        <p:nvPicPr>
          <p:cNvPr id="44" name="Image 0" descr="connector">    </p:cNvPr>
          <p:cNvPicPr>
            <a:picLocks noChangeAspect="1"/>
          </p:cNvPicPr>
          <p:nvPr/>
        </p:nvPicPr>
        <p:blipFill>
          <a:blip r:embed="rId1"/>
          <a:srcRect l="0" r="0" t="0" b="0"/>
          <a:stretch/>
        </p:blipFill>
        <p:spPr>
          <a:xfrm>
            <a:off x="2171700" y="2845836"/>
            <a:ext cx="609600" cy="76200"/>
          </a:xfrm>
          <a:prstGeom prst="rect">
            <a:avLst/>
          </a:prstGeom>
        </p:spPr>
      </p:pic>
      <p:pic>
        <p:nvPicPr>
          <p:cNvPr id="45" name="Image 1" descr="connector">    </p:cNvPr>
          <p:cNvPicPr>
            <a:picLocks noChangeAspect="1"/>
          </p:cNvPicPr>
          <p:nvPr/>
        </p:nvPicPr>
        <p:blipFill>
          <a:blip r:embed="rId2"/>
          <a:srcRect l="0" r="0" t="0" b="0"/>
          <a:stretch/>
        </p:blipFill>
        <p:spPr>
          <a:xfrm>
            <a:off x="3340100" y="3163336"/>
            <a:ext cx="76200" cy="393700"/>
          </a:xfrm>
          <a:prstGeom prst="rect">
            <a:avLst/>
          </a:prstGeom>
        </p:spPr>
      </p:pic>
      <p:pic>
        <p:nvPicPr>
          <p:cNvPr id="46" name="Image 2" descr="connector">    </p:cNvPr>
          <p:cNvPicPr>
            <a:picLocks noChangeAspect="1"/>
          </p:cNvPicPr>
          <p:nvPr/>
        </p:nvPicPr>
        <p:blipFill>
          <a:blip r:embed="rId3"/>
          <a:srcRect l="0" r="0" t="0" b="0"/>
          <a:stretch/>
        </p:blipFill>
        <p:spPr>
          <a:xfrm>
            <a:off x="3975100" y="3798336"/>
            <a:ext cx="431800" cy="76200"/>
          </a:xfrm>
          <a:prstGeom prst="rect">
            <a:avLst/>
          </a:prstGeom>
        </p:spPr>
      </p:pic>
      <p:pic>
        <p:nvPicPr>
          <p:cNvPr id="47" name="Image 3" descr="connector">    </p:cNvPr>
          <p:cNvPicPr>
            <a:picLocks noChangeAspect="1"/>
          </p:cNvPicPr>
          <p:nvPr/>
        </p:nvPicPr>
        <p:blipFill>
          <a:blip r:embed="rId4"/>
          <a:srcRect l="0" r="0" t="0" b="0"/>
          <a:stretch/>
        </p:blipFill>
        <p:spPr>
          <a:xfrm>
            <a:off x="2171700" y="4655586"/>
            <a:ext cx="609600" cy="76200"/>
          </a:xfrm>
          <a:prstGeom prst="rect">
            <a:avLst/>
          </a:prstGeom>
        </p:spPr>
      </p:pic>
      <p:pic>
        <p:nvPicPr>
          <p:cNvPr id="48" name="Image 4" descr="connector">    </p:cNvPr>
          <p:cNvPicPr>
            <a:picLocks noChangeAspect="1"/>
          </p:cNvPicPr>
          <p:nvPr/>
        </p:nvPicPr>
        <p:blipFill>
          <a:blip r:embed="rId5"/>
          <a:srcRect l="0" r="0" t="0" b="0"/>
          <a:stretch/>
        </p:blipFill>
        <p:spPr>
          <a:xfrm>
            <a:off x="3975100" y="3988836"/>
            <a:ext cx="431800" cy="742950"/>
          </a:xfrm>
          <a:prstGeom prst="rect">
            <a:avLst/>
          </a:prstGeom>
        </p:spPr>
      </p:pic>
      <p:pic>
        <p:nvPicPr>
          <p:cNvPr id="49" name="Image 5" descr="connector">    </p:cNvPr>
          <p:cNvPicPr>
            <a:picLocks noChangeAspect="1"/>
          </p:cNvPicPr>
          <p:nvPr/>
        </p:nvPicPr>
        <p:blipFill>
          <a:blip r:embed="rId6"/>
          <a:srcRect l="0" r="0" t="0" b="0"/>
          <a:stretch/>
        </p:blipFill>
        <p:spPr>
          <a:xfrm>
            <a:off x="2171700" y="5449336"/>
            <a:ext cx="609600" cy="76200"/>
          </a:xfrm>
          <a:prstGeom prst="rect">
            <a:avLst/>
          </a:prstGeom>
        </p:spPr>
      </p:pic>
      <p:pic>
        <p:nvPicPr>
          <p:cNvPr id="50" name="Image 6" descr="connector">    </p:cNvPr>
          <p:cNvPicPr>
            <a:picLocks noChangeAspect="1"/>
          </p:cNvPicPr>
          <p:nvPr/>
        </p:nvPicPr>
        <p:blipFill>
          <a:blip r:embed="rId7"/>
          <a:srcRect l="0" r="0" t="0" b="0"/>
          <a:stretch/>
        </p:blipFill>
        <p:spPr>
          <a:xfrm>
            <a:off x="4933950" y="4115836"/>
            <a:ext cx="76200" cy="330200"/>
          </a:xfrm>
          <a:prstGeom prst="rect">
            <a:avLst/>
          </a:prstGeom>
        </p:spPr>
      </p:pic>
      <p:pic>
        <p:nvPicPr>
          <p:cNvPr id="52" name="Image 8" descr="connector">    </p:cNvPr>
          <p:cNvPicPr>
            <a:picLocks noChangeAspect="1"/>
          </p:cNvPicPr>
          <p:nvPr/>
        </p:nvPicPr>
        <p:blipFill>
          <a:blip r:embed="rId9"/>
          <a:srcRect l="0" r="0" t="0" b="0"/>
          <a:stretch/>
        </p:blipFill>
        <p:spPr>
          <a:xfrm>
            <a:off x="5715000" y="2928386"/>
            <a:ext cx="2222500" cy="101600"/>
          </a:xfrm>
          <a:prstGeom prst="rect">
            <a:avLst/>
          </a:prstGeom>
        </p:spPr>
      </p:pic>
      <p:pic>
        <p:nvPicPr>
          <p:cNvPr id="53" name="Image 9" descr="connector">    </p:cNvPr>
          <p:cNvPicPr>
            <a:picLocks noChangeAspect="1"/>
          </p:cNvPicPr>
          <p:nvPr/>
        </p:nvPicPr>
        <p:blipFill>
          <a:blip r:embed="rId10"/>
          <a:srcRect l="0" r="0" t="0" b="0"/>
          <a:stretch/>
        </p:blipFill>
        <p:spPr>
          <a:xfrm>
            <a:off x="5715000" y="3658636"/>
            <a:ext cx="2222500" cy="1022350"/>
          </a:xfrm>
          <a:prstGeom prst="rect">
            <a:avLst/>
          </a:prstGeom>
        </p:spPr>
      </p:pic>
      <p:sp>
        <p:nvSpPr>
          <p:cNvPr id="54" name="Text 42"/>
          <p:cNvSpPr/>
          <p:nvPr/>
        </p:nvSpPr>
        <p:spPr>
          <a:xfrm>
            <a:off x="7482986" y="812800"/>
            <a:ext cx="1178416"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257"/>
                </a:solidFill>
                <a:latin typeface="JetBrains Mono" pitchFamily="49" charset="0"/>
                <a:ea typeface="JetBrains Mono" pitchFamily="49" charset="-122"/>
                <a:cs typeface="JetBrains Mono" pitchFamily="49" charset="-120"/>
              </a:rPr>
              <a:t>Built with</a:t>
            </a:r>
            <a:endParaRPr lang="en-US" sz="1200" dirty="0"/>
          </a:p>
        </p:txBody>
      </p:sp>
      <p:pic>
        <p:nvPicPr>
          <p:cNvPr id="55" name="Image 10" descr="React">    </p:cNvPr>
          <p:cNvPicPr>
            <a:picLocks noChangeAspect="1"/>
          </p:cNvPicPr>
          <p:nvPr/>
        </p:nvPicPr>
        <p:blipFill>
          <a:blip r:embed="rId11"/>
          <a:srcRect l="0" r="0" t="0" b="0"/>
          <a:stretch/>
        </p:blipFill>
        <p:spPr>
          <a:xfrm>
            <a:off x="7621587" y="1110000"/>
            <a:ext cx="279400" cy="279400"/>
          </a:xfrm>
          <a:prstGeom prst="rect">
            <a:avLst/>
          </a:prstGeom>
        </p:spPr>
      </p:pic>
      <p:sp>
        <p:nvSpPr>
          <p:cNvPr id="65" name="Text 42 copy 65"/>
          <p:cNvSpPr/>
          <p:nvPr/>
        </p:nvSpPr>
        <p:spPr>
          <a:xfrm>
            <a:off x="7482986" y="1420000"/>
            <a:ext cx="556602" cy="170000"/>
          </a:xfrm>
          <a:prstGeom prst="rect">
            <a:avLst/>
          </a:prstGeom>
          <a:noFill/>
          <a:ln/>
        </p:spPr>
        <p:txBody>
          <a:bodyPr wrap="square" lIns="0" tIns="0" rIns="0" bIns="0" rtlCol="0" anchor="t">
            <a:normAutofit/>
          </a:bodyPr>
          <a:lstStyle/>
          <a:p>
            <a:pPr algn="ctr" indent="0" marL="0">
              <a:lnSpc>
                <a:spcPts val="900"/>
              </a:lnSpc>
              <a:buNone/>
            </a:pPr>
            <a:r>
              <a:rPr lang="en-US" sz="720" dirty="0">
                <a:solidFill>
                  <a:srgbClr val="6F6257"/>
                </a:solidFill>
                <a:latin typeface="JetBrains Mono" pitchFamily="49" charset="0"/>
                <a:ea typeface="JetBrains Mono" pitchFamily="49" charset="-122"/>
                <a:cs typeface="JetBrains Mono" pitchFamily="49" charset="-120"/>
              </a:rPr>
              <a:t>React</a:t>
            </a:r>
            <a:endParaRPr lang="en-US" sz="720" dirty="0"/>
          </a:p>
        </p:txBody>
      </p:sp>
      <p:pic>
        <p:nvPicPr>
          <p:cNvPr id="57" name="Image 12" descr="FastAPI">    </p:cNvPr>
          <p:cNvPicPr>
            <a:picLocks noChangeAspect="1"/>
          </p:cNvPicPr>
          <p:nvPr/>
        </p:nvPicPr>
        <p:blipFill>
          <a:blip r:embed="rId13"/>
          <a:srcRect l="0" r="0" t="0" b="0"/>
          <a:stretch/>
        </p:blipFill>
        <p:spPr>
          <a:xfrm>
            <a:off x="8178189" y="1110000"/>
            <a:ext cx="279400" cy="279400"/>
          </a:xfrm>
          <a:prstGeom prst="rect">
            <a:avLst/>
          </a:prstGeom>
        </p:spPr>
      </p:pic>
      <p:sp>
        <p:nvSpPr>
          <p:cNvPr id="66" name="Text 42 copy 66"/>
          <p:cNvSpPr/>
          <p:nvPr/>
        </p:nvSpPr>
        <p:spPr>
          <a:xfrm>
            <a:off x="8039588" y="1420000"/>
            <a:ext cx="556602" cy="170000"/>
          </a:xfrm>
          <a:prstGeom prst="rect">
            <a:avLst/>
          </a:prstGeom>
          <a:noFill/>
          <a:ln/>
        </p:spPr>
        <p:txBody>
          <a:bodyPr wrap="square" lIns="0" tIns="0" rIns="0" bIns="0" rtlCol="0" anchor="t">
            <a:normAutofit/>
          </a:bodyPr>
          <a:lstStyle/>
          <a:p>
            <a:pPr algn="ctr" indent="0" marL="0">
              <a:lnSpc>
                <a:spcPts val="900"/>
              </a:lnSpc>
              <a:buNone/>
            </a:pPr>
            <a:r>
              <a:rPr lang="en-US" sz="720" dirty="0">
                <a:solidFill>
                  <a:srgbClr val="6F6257"/>
                </a:solidFill>
                <a:latin typeface="JetBrains Mono" pitchFamily="49" charset="0"/>
                <a:ea typeface="JetBrains Mono" pitchFamily="49" charset="-122"/>
                <a:cs typeface="JetBrains Mono" pitchFamily="49" charset="-120"/>
              </a:rPr>
              <a:t>FastAPI</a:t>
            </a:r>
            <a:endParaRPr lang="en-US" sz="720" dirty="0"/>
          </a:p>
        </p:txBody>
      </p:sp>
      <p:sp>
        <p:nvSpPr>
          <p:cNvPr id="67" name="Text 42 copy 67"/>
          <p:cNvSpPr/>
          <p:nvPr/>
        </p:nvSpPr>
        <p:spPr>
          <a:xfrm>
            <a:off x="8734791" y="1110000"/>
            <a:ext cx="279400" cy="279400"/>
          </a:xfrm>
          <a:prstGeom prst="roundRect">
            <a:avLst/>
          </a:prstGeom>
          <a:solidFill>
            <a:srgbClr val="1B1410"/>
          </a:solidFill>
          <a:ln>
            <a:noFill/>
          </a:ln>
        </p:spPr>
        <p:txBody>
          <a:bodyPr wrap="none" lIns="0" tIns="0" rIns="0" bIns="0" rtlCol="0" anchor="ctr">
            <a:normAutofit/>
          </a:bodyPr>
          <a:lstStyle/>
          <a:p>
            <a:pPr algn="ctr" indent="0" marL="0">
              <a:lnSpc>
                <a:spcPts val="1020"/>
              </a:lnSpc>
              <a:buNone/>
            </a:pPr>
            <a:r>
              <a:rPr lang="en-US" sz="850" dirty="0" b="1">
                <a:solidFill>
                  <a:srgbClr val="F3EEE8"/>
                </a:solidFill>
                <a:latin typeface="Inter" pitchFamily="34" charset="0"/>
                <a:ea typeface="Inter" pitchFamily="34" charset="-122"/>
                <a:cs typeface="Inter" pitchFamily="34" charset="-120"/>
              </a:rPr>
              <a:t>LG</a:t>
            </a:r>
            <a:endParaRPr lang="en-US" sz="850" dirty="0"/>
          </a:p>
        </p:txBody>
      </p:sp>
      <p:sp>
        <p:nvSpPr>
          <p:cNvPr id="68" name="Text 42 copy 68"/>
          <p:cNvSpPr/>
          <p:nvPr/>
        </p:nvSpPr>
        <p:spPr>
          <a:xfrm>
            <a:off x="8596190" y="1420000"/>
            <a:ext cx="556602" cy="170000"/>
          </a:xfrm>
          <a:prstGeom prst="rect">
            <a:avLst/>
          </a:prstGeom>
          <a:noFill/>
          <a:ln/>
        </p:spPr>
        <p:txBody>
          <a:bodyPr wrap="square" lIns="0" tIns="0" rIns="0" bIns="0" rtlCol="0" anchor="t">
            <a:normAutofit/>
          </a:bodyPr>
          <a:lstStyle/>
          <a:p>
            <a:pPr algn="ctr" indent="0" marL="0">
              <a:lnSpc>
                <a:spcPts val="900"/>
              </a:lnSpc>
              <a:buNone/>
            </a:pPr>
            <a:r>
              <a:rPr lang="en-US" sz="720" dirty="0">
                <a:solidFill>
                  <a:srgbClr val="6F6257"/>
                </a:solidFill>
                <a:latin typeface="JetBrains Mono" pitchFamily="49" charset="0"/>
                <a:ea typeface="JetBrains Mono" pitchFamily="49" charset="-122"/>
                <a:cs typeface="JetBrains Mono" pitchFamily="49" charset="-120"/>
              </a:rPr>
              <a:t>LangGraph</a:t>
            </a:r>
            <a:endParaRPr lang="en-US" sz="720" dirty="0"/>
          </a:p>
        </p:txBody>
      </p:sp>
      <p:sp>
        <p:nvSpPr>
          <p:cNvPr id="69" name="Text 42 copy 69"/>
          <p:cNvSpPr/>
          <p:nvPr/>
        </p:nvSpPr>
        <p:spPr>
          <a:xfrm>
            <a:off x="9291393" y="1110000"/>
            <a:ext cx="279400" cy="279400"/>
          </a:xfrm>
          <a:prstGeom prst="roundRect">
            <a:avLst/>
          </a:prstGeom>
          <a:solidFill>
            <a:srgbClr val="1B1410"/>
          </a:solidFill>
          <a:ln>
            <a:noFill/>
          </a:ln>
        </p:spPr>
        <p:txBody>
          <a:bodyPr wrap="none" lIns="0" tIns="0" rIns="0" bIns="0" rtlCol="0" anchor="ctr">
            <a:normAutofit/>
          </a:bodyPr>
          <a:lstStyle/>
          <a:p>
            <a:pPr algn="ctr" indent="0" marL="0">
              <a:lnSpc>
                <a:spcPts val="1020"/>
              </a:lnSpc>
              <a:buNone/>
            </a:pPr>
            <a:r>
              <a:rPr lang="en-US" sz="850" dirty="0" b="1">
                <a:solidFill>
                  <a:srgbClr val="F3EEE8"/>
                </a:solidFill>
                <a:latin typeface="Inter" pitchFamily="34" charset="0"/>
                <a:ea typeface="Inter" pitchFamily="34" charset="-122"/>
                <a:cs typeface="Inter" pitchFamily="34" charset="-120"/>
              </a:rPr>
              <a:t>LL</a:t>
            </a:r>
            <a:endParaRPr lang="en-US" sz="850" dirty="0"/>
          </a:p>
        </p:txBody>
      </p:sp>
      <p:sp>
        <p:nvSpPr>
          <p:cNvPr id="70" name="Text 42 copy 70"/>
          <p:cNvSpPr/>
          <p:nvPr/>
        </p:nvSpPr>
        <p:spPr>
          <a:xfrm>
            <a:off x="9152792" y="1420000"/>
            <a:ext cx="556602" cy="170000"/>
          </a:xfrm>
          <a:prstGeom prst="rect">
            <a:avLst/>
          </a:prstGeom>
          <a:noFill/>
          <a:ln/>
        </p:spPr>
        <p:txBody>
          <a:bodyPr wrap="square" lIns="0" tIns="0" rIns="0" bIns="0" rtlCol="0" anchor="t">
            <a:normAutofit/>
          </a:bodyPr>
          <a:lstStyle/>
          <a:p>
            <a:pPr algn="ctr" indent="0" marL="0">
              <a:lnSpc>
                <a:spcPts val="900"/>
              </a:lnSpc>
              <a:buNone/>
            </a:pPr>
            <a:r>
              <a:rPr lang="en-US" sz="720" dirty="0">
                <a:solidFill>
                  <a:srgbClr val="6F6257"/>
                </a:solidFill>
                <a:latin typeface="JetBrains Mono" pitchFamily="49" charset="0"/>
                <a:ea typeface="JetBrains Mono" pitchFamily="49" charset="-122"/>
                <a:cs typeface="JetBrains Mono" pitchFamily="49" charset="-120"/>
              </a:rPr>
              <a:t>LiteLLM</a:t>
            </a:r>
            <a:endParaRPr lang="en-US" sz="720" dirty="0"/>
          </a:p>
        </p:txBody>
      </p:sp>
      <p:pic>
        <p:nvPicPr>
          <p:cNvPr id="58" name="Image 13" descr="Python">    </p:cNvPr>
          <p:cNvPicPr>
            <a:picLocks noChangeAspect="1"/>
          </p:cNvPicPr>
          <p:nvPr/>
        </p:nvPicPr>
        <p:blipFill>
          <a:blip r:embed="rId14"/>
          <a:srcRect l="0" r="0" t="0" b="0"/>
          <a:stretch/>
        </p:blipFill>
        <p:spPr>
          <a:xfrm>
            <a:off x="9847995" y="1110000"/>
            <a:ext cx="279400" cy="279400"/>
          </a:xfrm>
          <a:prstGeom prst="rect">
            <a:avLst/>
          </a:prstGeom>
        </p:spPr>
      </p:pic>
      <p:sp>
        <p:nvSpPr>
          <p:cNvPr id="71" name="Text 42 copy 71"/>
          <p:cNvSpPr/>
          <p:nvPr/>
        </p:nvSpPr>
        <p:spPr>
          <a:xfrm>
            <a:off x="9709394" y="1420000"/>
            <a:ext cx="556602" cy="170000"/>
          </a:xfrm>
          <a:prstGeom prst="rect">
            <a:avLst/>
          </a:prstGeom>
          <a:noFill/>
          <a:ln/>
        </p:spPr>
        <p:txBody>
          <a:bodyPr wrap="square" lIns="0" tIns="0" rIns="0" bIns="0" rtlCol="0" anchor="t">
            <a:normAutofit/>
          </a:bodyPr>
          <a:lstStyle/>
          <a:p>
            <a:pPr algn="ctr" indent="0" marL="0">
              <a:lnSpc>
                <a:spcPts val="900"/>
              </a:lnSpc>
              <a:buNone/>
            </a:pPr>
            <a:r>
              <a:rPr lang="en-US" sz="720" dirty="0">
                <a:solidFill>
                  <a:srgbClr val="6F6257"/>
                </a:solidFill>
                <a:latin typeface="JetBrains Mono" pitchFamily="49" charset="0"/>
                <a:ea typeface="JetBrains Mono" pitchFamily="49" charset="-122"/>
                <a:cs typeface="JetBrains Mono" pitchFamily="49" charset="-120"/>
              </a:rPr>
              <a:t>Python</a:t>
            </a:r>
            <a:endParaRPr lang="en-US" sz="720" dirty="0"/>
          </a:p>
        </p:txBody>
      </p:sp>
      <p:pic>
        <p:nvPicPr>
          <p:cNvPr id="59" name="Image 14" descr="Docker">    </p:cNvPr>
          <p:cNvPicPr>
            <a:picLocks noChangeAspect="1"/>
          </p:cNvPicPr>
          <p:nvPr/>
        </p:nvPicPr>
        <p:blipFill>
          <a:blip r:embed="rId15"/>
          <a:srcRect l="0" r="0" t="0" b="0"/>
          <a:stretch/>
        </p:blipFill>
        <p:spPr>
          <a:xfrm>
            <a:off x="10404597" y="1110000"/>
            <a:ext cx="279400" cy="279400"/>
          </a:xfrm>
          <a:prstGeom prst="rect">
            <a:avLst/>
          </a:prstGeom>
        </p:spPr>
      </p:pic>
      <p:sp>
        <p:nvSpPr>
          <p:cNvPr id="72" name="Text 42 copy 72"/>
          <p:cNvSpPr/>
          <p:nvPr/>
        </p:nvSpPr>
        <p:spPr>
          <a:xfrm>
            <a:off x="10265996" y="1420000"/>
            <a:ext cx="556602" cy="170000"/>
          </a:xfrm>
          <a:prstGeom prst="rect">
            <a:avLst/>
          </a:prstGeom>
          <a:noFill/>
          <a:ln/>
        </p:spPr>
        <p:txBody>
          <a:bodyPr wrap="square" lIns="0" tIns="0" rIns="0" bIns="0" rtlCol="0" anchor="t">
            <a:normAutofit/>
          </a:bodyPr>
          <a:lstStyle/>
          <a:p>
            <a:pPr algn="ctr" indent="0" marL="0">
              <a:lnSpc>
                <a:spcPts val="900"/>
              </a:lnSpc>
              <a:buNone/>
            </a:pPr>
            <a:r>
              <a:rPr lang="en-US" sz="720" dirty="0">
                <a:solidFill>
                  <a:srgbClr val="6F6257"/>
                </a:solidFill>
                <a:latin typeface="JetBrains Mono" pitchFamily="49" charset="0"/>
                <a:ea typeface="JetBrains Mono" pitchFamily="49" charset="-122"/>
                <a:cs typeface="JetBrains Mono" pitchFamily="49" charset="-120"/>
              </a:rPr>
              <a:t>Docker</a:t>
            </a:r>
            <a:endParaRPr lang="en-US" sz="720" dirty="0"/>
          </a:p>
        </p:txBody>
      </p:sp>
      <p:pic>
        <p:nvPicPr>
          <p:cNvPr id="61" name="Image 16" descr="GitHub">    </p:cNvPr>
          <p:cNvPicPr>
            <a:picLocks noChangeAspect="1"/>
          </p:cNvPicPr>
          <p:nvPr/>
        </p:nvPicPr>
        <p:blipFill>
          <a:blip r:embed="rId17"/>
          <a:srcRect l="0" r="0" t="0" b="0"/>
          <a:stretch/>
        </p:blipFill>
        <p:spPr>
          <a:xfrm>
            <a:off x="10961199" y="1110000"/>
            <a:ext cx="279400" cy="279400"/>
          </a:xfrm>
          <a:prstGeom prst="rect">
            <a:avLst/>
          </a:prstGeom>
        </p:spPr>
      </p:pic>
      <p:sp>
        <p:nvSpPr>
          <p:cNvPr id="73" name="Text 42 copy 73"/>
          <p:cNvSpPr/>
          <p:nvPr/>
        </p:nvSpPr>
        <p:spPr>
          <a:xfrm>
            <a:off x="10822598" y="1420000"/>
            <a:ext cx="556602" cy="170000"/>
          </a:xfrm>
          <a:prstGeom prst="rect">
            <a:avLst/>
          </a:prstGeom>
          <a:noFill/>
          <a:ln/>
        </p:spPr>
        <p:txBody>
          <a:bodyPr wrap="square" lIns="0" tIns="0" rIns="0" bIns="0" rtlCol="0" anchor="t">
            <a:normAutofit/>
          </a:bodyPr>
          <a:lstStyle/>
          <a:p>
            <a:pPr algn="ctr" indent="0" marL="0">
              <a:lnSpc>
                <a:spcPts val="900"/>
              </a:lnSpc>
              <a:buNone/>
            </a:pPr>
            <a:r>
              <a:rPr lang="en-US" sz="720" dirty="0">
                <a:solidFill>
                  <a:srgbClr val="6F6257"/>
                </a:solidFill>
                <a:latin typeface="JetBrains Mono" pitchFamily="49" charset="0"/>
                <a:ea typeface="JetBrains Mono" pitchFamily="49" charset="-122"/>
                <a:cs typeface="JetBrains Mono" pitchFamily="49" charset="-120"/>
              </a:rPr>
              <a:t>GitHub</a:t>
            </a:r>
            <a:endParaRPr lang="en-US" sz="720" dirty="0"/>
          </a:p>
        </p:txBody>
      </p:sp>
      <p:sp>
        <p:nvSpPr>
          <p:cNvPr id="62" name="Text 43"/>
          <p:cNvSpPr/>
          <p:nvPr/>
        </p:nvSpPr>
        <p:spPr>
          <a:xfrm>
            <a:off x="812800" y="6206255"/>
            <a:ext cx="392430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257"/>
                </a:solidFill>
                <a:latin typeface="JetBrains Mono" pitchFamily="49" charset="0"/>
                <a:ea typeface="JetBrains Mono" pitchFamily="49" charset="-122"/>
                <a:cs typeface="JetBrains Mono" pitchFamily="49" charset="-120"/>
              </a:rPr>
              <a:t>PatchPilot</a:t>
            </a:r>
            <a:endParaRPr lang="en-US" sz="1200" dirty="0"/>
          </a:p>
        </p:txBody>
      </p:sp>
      <p:sp>
        <p:nvSpPr>
          <p:cNvPr id="63" name="Text 44"/>
          <p:cNvSpPr/>
          <p:nvPr/>
        </p:nvSpPr>
        <p:spPr>
          <a:xfrm>
            <a:off x="7454900" y="6206255"/>
            <a:ext cx="3924300" cy="27074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257"/>
                </a:solidFill>
                <a:latin typeface="JetBrains Mono" pitchFamily="49" charset="0"/>
                <a:ea typeface="JetBrains Mono" pitchFamily="49" charset="-122"/>
                <a:cs typeface="JetBrains Mono" pitchFamily="49" charset="-120"/>
              </a:rPr>
              <a:t>05 / 06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2800" y="812800"/>
            <a:ext cx="1088339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7"/>
                </a:solidFill>
                <a:latin typeface="JetBrains Mono" pitchFamily="49" charset="0"/>
                <a:ea typeface="JetBrains Mono" pitchFamily="49" charset="-122"/>
                <a:cs typeface="JetBrains Mono" pitchFamily="49" charset="-120"/>
              </a:rPr>
              <a:t>[ Agent orchestration ]</a:t>
            </a:r>
            <a:endParaRPr lang="en-US" sz="1200" dirty="0"/>
          </a:p>
        </p:txBody>
      </p:sp>
      <p:sp>
        <p:nvSpPr>
          <p:cNvPr id="3" name="Text 1"/>
          <p:cNvSpPr/>
          <p:nvPr>
            <p:ph type="title"/>
          </p:nvPr>
        </p:nvSpPr>
        <p:spPr>
          <a:xfrm>
            <a:off x="812800" y="1159745"/>
            <a:ext cx="10883392" cy="475192"/>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F2EDE8"/>
                </a:solidFill>
                <a:latin typeface="Inter" pitchFamily="34" charset="0"/>
                <a:ea typeface="Inter" pitchFamily="34" charset="-122"/>
                <a:cs typeface="Inter" pitchFamily="34" charset="-120"/>
              </a:rPr>
              <a:t>Five AI roles. Seven code gates.</a:t>
            </a:r>
            <a:endParaRPr lang="en-US" sz="2800" dirty="0"/>
          </a:p>
        </p:txBody>
      </p:sp>
      <p:pic>
        <p:nvPicPr>
          <p:cNvPr id="4" name="Image 0" descr="One run as a horizontal line of ten stages, AI roles above, gates below, with a retry loop from Verify back to Fix">    </p:cNvPr>
          <p:cNvPicPr>
            <a:picLocks noChangeAspect="1"/>
          </p:cNvPicPr>
          <p:nvPr/>
        </p:nvPicPr>
        <p:blipFill>
          <a:blip r:embed="rId1"/>
          <a:srcRect l="-11" r="-11" t="0" b="0"/>
          <a:stretch/>
        </p:blipFill>
        <p:spPr>
          <a:xfrm>
            <a:off x="812800" y="1761936"/>
            <a:ext cx="10566400" cy="3683000"/>
          </a:xfrm>
          <a:prstGeom prst="rect">
            <a:avLst/>
          </a:prstGeom>
        </p:spPr>
      </p:pic>
      <p:pic>
        <p:nvPicPr>
          <p:cNvPr id="5" name="Image 1" descr="AI role marker">    </p:cNvPr>
          <p:cNvPicPr>
            <a:picLocks noChangeAspect="1"/>
          </p:cNvPicPr>
          <p:nvPr/>
        </p:nvPicPr>
        <p:blipFill>
          <a:blip r:embed="rId2"/>
          <a:srcRect l="0" r="0" t="0" b="0"/>
          <a:stretch/>
        </p:blipFill>
        <p:spPr>
          <a:xfrm>
            <a:off x="812800" y="1909990"/>
            <a:ext cx="152400" cy="152400"/>
          </a:xfrm>
          <a:prstGeom prst="rect">
            <a:avLst/>
          </a:prstGeom>
        </p:spPr>
      </p:pic>
      <p:sp>
        <p:nvSpPr>
          <p:cNvPr id="6" name="Text 2"/>
          <p:cNvSpPr/>
          <p:nvPr/>
        </p:nvSpPr>
        <p:spPr>
          <a:xfrm>
            <a:off x="1041400" y="1863536"/>
            <a:ext cx="1068388"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Inter" pitchFamily="34" charset="0"/>
                <a:ea typeface="Inter" pitchFamily="34" charset="-122"/>
                <a:cs typeface="Inter" pitchFamily="34" charset="-120"/>
              </a:rPr>
              <a:t>AI proposes</a:t>
            </a:r>
            <a:endParaRPr lang="en-US" sz="1200" dirty="0"/>
          </a:p>
        </p:txBody>
      </p:sp>
      <p:pic>
        <p:nvPicPr>
          <p:cNvPr id="7" name="Image 2" descr="Gate marker">    </p:cNvPr>
          <p:cNvPicPr>
            <a:picLocks noChangeAspect="1"/>
          </p:cNvPicPr>
          <p:nvPr/>
        </p:nvPicPr>
        <p:blipFill>
          <a:blip r:embed="rId3"/>
          <a:srcRect l="0" r="0" t="0" b="0"/>
          <a:stretch/>
        </p:blipFill>
        <p:spPr>
          <a:xfrm>
            <a:off x="2109788" y="1909990"/>
            <a:ext cx="152400" cy="152400"/>
          </a:xfrm>
          <a:prstGeom prst="rect">
            <a:avLst/>
          </a:prstGeom>
        </p:spPr>
      </p:pic>
      <p:sp>
        <p:nvSpPr>
          <p:cNvPr id="8" name="Text 3"/>
          <p:cNvSpPr/>
          <p:nvPr/>
        </p:nvSpPr>
        <p:spPr>
          <a:xfrm>
            <a:off x="2338388" y="1863536"/>
            <a:ext cx="1374911"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Inter" pitchFamily="34" charset="0"/>
                <a:ea typeface="Inter" pitchFamily="34" charset="-122"/>
                <a:cs typeface="Inter" pitchFamily="34" charset="-120"/>
              </a:rPr>
              <a:t>Code decides</a:t>
            </a:r>
            <a:endParaRPr lang="en-US" sz="1200" dirty="0"/>
          </a:p>
        </p:txBody>
      </p:sp>
      <p:sp>
        <p:nvSpPr>
          <p:cNvPr id="9" name="Text 4"/>
          <p:cNvSpPr/>
          <p:nvPr/>
        </p:nvSpPr>
        <p:spPr>
          <a:xfrm>
            <a:off x="3933300" y="1952436"/>
            <a:ext cx="4300000"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08A57"/>
                </a:solidFill>
                <a:latin typeface="JetBrains Mono" pitchFamily="49" charset="0"/>
                <a:ea typeface="JetBrains Mono" pitchFamily="49" charset="-122"/>
                <a:cs typeface="JetBrains Mono" pitchFamily="49" charset="-120"/>
              </a:rPr>
              <a:t>fails? back to Fix: 3 tries, then re-diagnose</a:t>
            </a:r>
            <a:endParaRPr lang="en-US" sz="1200" dirty="0"/>
          </a:p>
        </p:txBody>
      </p:sp>
      <p:sp>
        <p:nvSpPr>
          <p:cNvPr id="10" name="Text 5"/>
          <p:cNvSpPr/>
          <p:nvPr/>
        </p:nvSpPr>
        <p:spPr>
          <a:xfrm>
            <a:off x="2952750" y="2706574"/>
            <a:ext cx="1003300" cy="446012"/>
          </a:xfrm>
          <a:prstGeom prst="rect">
            <a:avLst/>
          </a:prstGeom>
          <a:noFill/>
          <a:ln/>
        </p:spPr>
        <p:txBody>
          <a:bodyPr wrap="square" lIns="0" tIns="0" rIns="0" bIns="0" rtlCol="0" anchor="b">
            <a:normAutofit/>
          </a:bodyPr>
          <a:lstStyle/>
          <a:p>
            <a:pPr algn="ctr" indent="0" marL="0">
              <a:lnSpc>
                <a:spcPts val="1440"/>
              </a:lnSpc>
              <a:buNone/>
            </a:pPr>
            <a:r>
              <a:rPr lang="en-US" sz="1200" b="1" dirty="0">
                <a:solidFill>
                  <a:srgbClr val="F2EDE8"/>
                </a:solidFill>
                <a:latin typeface="Inter" pitchFamily="34" charset="0"/>
                <a:ea typeface="Inter" pitchFamily="34" charset="-122"/>
                <a:cs typeface="Inter" pitchFamily="34" charset="-120"/>
              </a:rPr>
              <a:t>Test</a:t>
            </a:r>
            <a:endParaRPr lang="en-US" sz="1200" dirty="0"/>
          </a:p>
          <a:p>
            <a:pPr algn="ctr" indent="0" marL="0">
              <a:lnSpc>
                <a:spcPts val="1440"/>
              </a:lnSpc>
              <a:buNone/>
            </a:pPr>
            <a:r>
              <a:rPr lang="en-US" sz="1200" b="1" dirty="0">
                <a:solidFill>
                  <a:srgbClr val="F2EDE8"/>
                </a:solidFill>
                <a:latin typeface="Inter" pitchFamily="34" charset="0"/>
                <a:ea typeface="Inter" pitchFamily="34" charset="-122"/>
                <a:cs typeface="Inter" pitchFamily="34" charset="-120"/>
              </a:rPr>
              <a:t>designer</a:t>
            </a:r>
            <a:endParaRPr lang="en-US" sz="1200" dirty="0"/>
          </a:p>
        </p:txBody>
      </p:sp>
      <p:sp>
        <p:nvSpPr>
          <p:cNvPr id="11" name="Text 6"/>
          <p:cNvSpPr/>
          <p:nvPr/>
        </p:nvSpPr>
        <p:spPr>
          <a:xfrm>
            <a:off x="3956088" y="2706574"/>
            <a:ext cx="1109965" cy="446012"/>
          </a:xfrm>
          <a:prstGeom prst="rect">
            <a:avLst/>
          </a:prstGeom>
          <a:noFill/>
          <a:ln/>
        </p:spPr>
        <p:txBody>
          <a:bodyPr wrap="square" lIns="0" tIns="0" rIns="0" bIns="0" rtlCol="0" anchor="b">
            <a:normAutofit/>
          </a:bodyPr>
          <a:lstStyle/>
          <a:p>
            <a:pPr algn="ctr" indent="0" marL="0">
              <a:lnSpc>
                <a:spcPts val="1440"/>
              </a:lnSpc>
              <a:buNone/>
            </a:pPr>
            <a:r>
              <a:rPr lang="en-US" sz="1200" b="1" dirty="0">
                <a:solidFill>
                  <a:srgbClr val="F2EDE8"/>
                </a:solidFill>
                <a:latin typeface="Inter" pitchFamily="34" charset="0"/>
                <a:ea typeface="Inter" pitchFamily="34" charset="-122"/>
                <a:cs typeface="Inter" pitchFamily="34" charset="-120"/>
              </a:rPr>
              <a:t>Investigator</a:t>
            </a:r>
            <a:endParaRPr lang="en-US" sz="1200" dirty="0"/>
          </a:p>
        </p:txBody>
      </p:sp>
      <p:sp>
        <p:nvSpPr>
          <p:cNvPr id="12" name="Text 7"/>
          <p:cNvSpPr/>
          <p:nvPr/>
        </p:nvSpPr>
        <p:spPr>
          <a:xfrm>
            <a:off x="5066053" y="2706574"/>
            <a:ext cx="1003300" cy="446012"/>
          </a:xfrm>
          <a:prstGeom prst="rect">
            <a:avLst/>
          </a:prstGeom>
          <a:noFill/>
          <a:ln/>
        </p:spPr>
        <p:txBody>
          <a:bodyPr wrap="square" lIns="0" tIns="0" rIns="0" bIns="0" rtlCol="0" anchor="b">
            <a:normAutofit/>
          </a:bodyPr>
          <a:lstStyle/>
          <a:p>
            <a:pPr algn="ctr" indent="0" marL="0">
              <a:lnSpc>
                <a:spcPts val="1440"/>
              </a:lnSpc>
              <a:buNone/>
            </a:pPr>
            <a:r>
              <a:rPr lang="en-US" sz="1200" b="1" dirty="0">
                <a:solidFill>
                  <a:srgbClr val="F2EDE8"/>
                </a:solidFill>
                <a:latin typeface="Inter" pitchFamily="34" charset="0"/>
                <a:ea typeface="Inter" pitchFamily="34" charset="-122"/>
                <a:cs typeface="Inter" pitchFamily="34" charset="-120"/>
              </a:rPr>
              <a:t>Fixer</a:t>
            </a:r>
            <a:endParaRPr lang="en-US" sz="1200" dirty="0"/>
          </a:p>
        </p:txBody>
      </p:sp>
      <p:sp>
        <p:nvSpPr>
          <p:cNvPr id="13" name="Text 8"/>
          <p:cNvSpPr/>
          <p:nvPr/>
        </p:nvSpPr>
        <p:spPr>
          <a:xfrm>
            <a:off x="7179318" y="2706574"/>
            <a:ext cx="1003300" cy="446012"/>
          </a:xfrm>
          <a:prstGeom prst="rect">
            <a:avLst/>
          </a:prstGeom>
          <a:noFill/>
          <a:ln/>
        </p:spPr>
        <p:txBody>
          <a:bodyPr wrap="square" lIns="0" tIns="0" rIns="0" bIns="0" rtlCol="0" anchor="b">
            <a:normAutofit/>
          </a:bodyPr>
          <a:lstStyle/>
          <a:p>
            <a:pPr algn="ctr" indent="0" marL="0">
              <a:lnSpc>
                <a:spcPts val="1440"/>
              </a:lnSpc>
              <a:buNone/>
            </a:pPr>
            <a:r>
              <a:rPr lang="en-US" sz="1200" b="1" dirty="0">
                <a:solidFill>
                  <a:srgbClr val="F2EDE8"/>
                </a:solidFill>
                <a:latin typeface="Inter" pitchFamily="34" charset="0"/>
                <a:ea typeface="Inter" pitchFamily="34" charset="-122"/>
                <a:cs typeface="Inter" pitchFamily="34" charset="-120"/>
              </a:rPr>
              <a:t>Reviewer</a:t>
            </a:r>
            <a:endParaRPr lang="en-US" sz="1200" dirty="0"/>
          </a:p>
        </p:txBody>
      </p:sp>
      <p:sp>
        <p:nvSpPr>
          <p:cNvPr id="14" name="Text 9"/>
          <p:cNvSpPr/>
          <p:nvPr/>
        </p:nvSpPr>
        <p:spPr>
          <a:xfrm>
            <a:off x="8235950" y="2706574"/>
            <a:ext cx="1003300" cy="446012"/>
          </a:xfrm>
          <a:prstGeom prst="rect">
            <a:avLst/>
          </a:prstGeom>
          <a:noFill/>
          <a:ln/>
        </p:spPr>
        <p:txBody>
          <a:bodyPr wrap="square" lIns="0" tIns="0" rIns="0" bIns="0" rtlCol="0" anchor="b">
            <a:normAutofit/>
          </a:bodyPr>
          <a:lstStyle/>
          <a:p>
            <a:pPr algn="ctr" indent="0" marL="0">
              <a:lnSpc>
                <a:spcPts val="1440"/>
              </a:lnSpc>
              <a:buNone/>
            </a:pPr>
            <a:r>
              <a:rPr lang="en-US" sz="1200" b="1" dirty="0">
                <a:solidFill>
                  <a:srgbClr val="F2EDE8"/>
                </a:solidFill>
                <a:latin typeface="Inter" pitchFamily="34" charset="0"/>
                <a:ea typeface="Inter" pitchFamily="34" charset="-122"/>
                <a:cs typeface="Inter" pitchFamily="34" charset="-120"/>
              </a:rPr>
              <a:t>Explainer</a:t>
            </a:r>
            <a:endParaRPr lang="en-US" sz="1200" dirty="0"/>
          </a:p>
        </p:txBody>
      </p:sp>
      <p:sp>
        <p:nvSpPr>
          <p:cNvPr id="15" name="Text 10"/>
          <p:cNvSpPr/>
          <p:nvPr/>
        </p:nvSpPr>
        <p:spPr>
          <a:xfrm>
            <a:off x="787400" y="3806636"/>
            <a:ext cx="1107433"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EDE8"/>
                </a:solidFill>
                <a:latin typeface="Inter" pitchFamily="34" charset="0"/>
                <a:ea typeface="Inter" pitchFamily="34" charset="-122"/>
                <a:cs typeface="Inter" pitchFamily="34" charset="-120"/>
              </a:rPr>
              <a:t>Intake</a:t>
            </a:r>
            <a:endParaRPr lang="en-US" sz="1200" dirty="0"/>
          </a:p>
        </p:txBody>
      </p:sp>
      <p:sp>
        <p:nvSpPr>
          <p:cNvPr id="16" name="Text 11"/>
          <p:cNvSpPr/>
          <p:nvPr/>
        </p:nvSpPr>
        <p:spPr>
          <a:xfrm>
            <a:off x="1844032" y="3806636"/>
            <a:ext cx="1107470"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EDE8"/>
                </a:solidFill>
                <a:latin typeface="Inter" pitchFamily="34" charset="0"/>
                <a:ea typeface="Inter" pitchFamily="34" charset="-122"/>
                <a:cs typeface="Inter" pitchFamily="34" charset="-120"/>
              </a:rPr>
              <a:t>Setup</a:t>
            </a:r>
            <a:endParaRPr lang="en-US" sz="1200" dirty="0"/>
          </a:p>
        </p:txBody>
      </p:sp>
      <p:sp>
        <p:nvSpPr>
          <p:cNvPr id="17" name="Text 12"/>
          <p:cNvSpPr/>
          <p:nvPr/>
        </p:nvSpPr>
        <p:spPr>
          <a:xfrm>
            <a:off x="2900703" y="3806636"/>
            <a:ext cx="1107433"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EDE8"/>
                </a:solidFill>
                <a:latin typeface="Inter" pitchFamily="34" charset="0"/>
                <a:ea typeface="Inter" pitchFamily="34" charset="-122"/>
                <a:cs typeface="Inter" pitchFamily="34" charset="-120"/>
              </a:rPr>
              <a:t>Reproduce</a:t>
            </a:r>
            <a:endParaRPr lang="en-US" sz="1200" dirty="0"/>
          </a:p>
        </p:txBody>
      </p:sp>
      <p:sp>
        <p:nvSpPr>
          <p:cNvPr id="18" name="Text 13"/>
          <p:cNvSpPr/>
          <p:nvPr/>
        </p:nvSpPr>
        <p:spPr>
          <a:xfrm>
            <a:off x="3957335" y="3806636"/>
            <a:ext cx="1107470"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EDE8"/>
                </a:solidFill>
                <a:latin typeface="Inter" pitchFamily="34" charset="0"/>
                <a:ea typeface="Inter" pitchFamily="34" charset="-122"/>
                <a:cs typeface="Inter" pitchFamily="34" charset="-120"/>
              </a:rPr>
              <a:t>Diagnose</a:t>
            </a:r>
            <a:endParaRPr lang="en-US" sz="1200" dirty="0"/>
          </a:p>
        </p:txBody>
      </p:sp>
      <p:sp>
        <p:nvSpPr>
          <p:cNvPr id="19" name="Text 14"/>
          <p:cNvSpPr/>
          <p:nvPr/>
        </p:nvSpPr>
        <p:spPr>
          <a:xfrm>
            <a:off x="5014006" y="3806636"/>
            <a:ext cx="1107433"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EDE8"/>
                </a:solidFill>
                <a:latin typeface="Inter" pitchFamily="34" charset="0"/>
                <a:ea typeface="Inter" pitchFamily="34" charset="-122"/>
                <a:cs typeface="Inter" pitchFamily="34" charset="-120"/>
              </a:rPr>
              <a:t>Fix</a:t>
            </a:r>
            <a:endParaRPr lang="en-US" sz="1200" dirty="0"/>
          </a:p>
        </p:txBody>
      </p:sp>
      <p:sp>
        <p:nvSpPr>
          <p:cNvPr id="20" name="Text 15"/>
          <p:cNvSpPr/>
          <p:nvPr/>
        </p:nvSpPr>
        <p:spPr>
          <a:xfrm>
            <a:off x="6070638" y="3806636"/>
            <a:ext cx="1107433"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EDE8"/>
                </a:solidFill>
                <a:latin typeface="Inter" pitchFamily="34" charset="0"/>
                <a:ea typeface="Inter" pitchFamily="34" charset="-122"/>
                <a:cs typeface="Inter" pitchFamily="34" charset="-120"/>
              </a:rPr>
              <a:t>Verify</a:t>
            </a:r>
            <a:endParaRPr lang="en-US" sz="1200" dirty="0"/>
          </a:p>
        </p:txBody>
      </p:sp>
      <p:sp>
        <p:nvSpPr>
          <p:cNvPr id="21" name="Text 16"/>
          <p:cNvSpPr/>
          <p:nvPr/>
        </p:nvSpPr>
        <p:spPr>
          <a:xfrm>
            <a:off x="7127270" y="3806636"/>
            <a:ext cx="1107433"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EDE8"/>
                </a:solidFill>
                <a:latin typeface="Inter" pitchFamily="34" charset="0"/>
                <a:ea typeface="Inter" pitchFamily="34" charset="-122"/>
                <a:cs typeface="Inter" pitchFamily="34" charset="-120"/>
              </a:rPr>
              <a:t>Review</a:t>
            </a:r>
            <a:endParaRPr lang="en-US" sz="1200" dirty="0"/>
          </a:p>
        </p:txBody>
      </p:sp>
      <p:sp>
        <p:nvSpPr>
          <p:cNvPr id="22" name="Text 17"/>
          <p:cNvSpPr/>
          <p:nvPr/>
        </p:nvSpPr>
        <p:spPr>
          <a:xfrm>
            <a:off x="8183903" y="3806636"/>
            <a:ext cx="1107433"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EDE8"/>
                </a:solidFill>
                <a:latin typeface="Inter" pitchFamily="34" charset="0"/>
                <a:ea typeface="Inter" pitchFamily="34" charset="-122"/>
                <a:cs typeface="Inter" pitchFamily="34" charset="-120"/>
              </a:rPr>
              <a:t>Report</a:t>
            </a:r>
            <a:endParaRPr lang="en-US" sz="1200" dirty="0"/>
          </a:p>
        </p:txBody>
      </p:sp>
      <p:sp>
        <p:nvSpPr>
          <p:cNvPr id="23" name="Text 18"/>
          <p:cNvSpPr/>
          <p:nvPr/>
        </p:nvSpPr>
        <p:spPr>
          <a:xfrm>
            <a:off x="9240535" y="3806636"/>
            <a:ext cx="1107433"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EDE8"/>
                </a:solidFill>
                <a:latin typeface="Inter" pitchFamily="34" charset="0"/>
                <a:ea typeface="Inter" pitchFamily="34" charset="-122"/>
                <a:cs typeface="Inter" pitchFamily="34" charset="-120"/>
              </a:rPr>
              <a:t>Approve</a:t>
            </a:r>
            <a:endParaRPr lang="en-US" sz="1200" dirty="0"/>
          </a:p>
        </p:txBody>
      </p:sp>
      <p:sp>
        <p:nvSpPr>
          <p:cNvPr id="24" name="Text 19"/>
          <p:cNvSpPr/>
          <p:nvPr/>
        </p:nvSpPr>
        <p:spPr>
          <a:xfrm>
            <a:off x="10297168" y="3806636"/>
            <a:ext cx="1107433"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EDE8"/>
                </a:solidFill>
                <a:latin typeface="Inter" pitchFamily="34" charset="0"/>
                <a:ea typeface="Inter" pitchFamily="34" charset="-122"/>
                <a:cs typeface="Inter" pitchFamily="34" charset="-120"/>
              </a:rPr>
              <a:t>Publish</a:t>
            </a:r>
            <a:endParaRPr lang="en-US" sz="1200" dirty="0"/>
          </a:p>
        </p:txBody>
      </p:sp>
      <p:sp>
        <p:nvSpPr>
          <p:cNvPr id="25" name="Text 20"/>
          <p:cNvSpPr/>
          <p:nvPr/>
        </p:nvSpPr>
        <p:spPr>
          <a:xfrm>
            <a:off x="839447" y="4428936"/>
            <a:ext cx="1003300" cy="25324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C9BDB3"/>
                </a:solidFill>
                <a:latin typeface="Inter" pitchFamily="34" charset="0"/>
                <a:ea typeface="Inter" pitchFamily="34" charset="-122"/>
                <a:cs typeface="Inter" pitchFamily="34" charset="-120"/>
              </a:rPr>
              <a:t>Eligible?</a:t>
            </a:r>
            <a:endParaRPr lang="en-US" sz="1200" dirty="0"/>
          </a:p>
        </p:txBody>
      </p:sp>
      <p:sp>
        <p:nvSpPr>
          <p:cNvPr id="26" name="Text 21"/>
          <p:cNvSpPr/>
          <p:nvPr/>
        </p:nvSpPr>
        <p:spPr>
          <a:xfrm>
            <a:off x="1896118" y="4428936"/>
            <a:ext cx="1003300" cy="481088"/>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C9BDB3"/>
                </a:solidFill>
                <a:latin typeface="Inter" pitchFamily="34" charset="0"/>
                <a:ea typeface="Inter" pitchFamily="34" charset="-122"/>
                <a:cs typeface="Inter" pitchFamily="34" charset="-120"/>
              </a:rPr>
              <a:t>Scan, then install</a:t>
            </a:r>
            <a:endParaRPr lang="en-US" sz="1200" dirty="0"/>
          </a:p>
        </p:txBody>
      </p:sp>
      <p:sp>
        <p:nvSpPr>
          <p:cNvPr id="27" name="Text 22"/>
          <p:cNvSpPr/>
          <p:nvPr/>
        </p:nvSpPr>
        <p:spPr>
          <a:xfrm>
            <a:off x="2952750" y="4428936"/>
            <a:ext cx="1003300" cy="25324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C9BDB3"/>
                </a:solidFill>
                <a:latin typeface="Inter" pitchFamily="34" charset="0"/>
                <a:ea typeface="Inter" pitchFamily="34" charset="-122"/>
                <a:cs typeface="Inter" pitchFamily="34" charset="-120"/>
              </a:rPr>
              <a:t>Fails 2 of 2</a:t>
            </a:r>
            <a:endParaRPr lang="en-US" sz="1200" dirty="0"/>
          </a:p>
        </p:txBody>
      </p:sp>
      <p:sp>
        <p:nvSpPr>
          <p:cNvPr id="28" name="Text 23"/>
          <p:cNvSpPr/>
          <p:nvPr/>
        </p:nvSpPr>
        <p:spPr>
          <a:xfrm>
            <a:off x="5066053" y="4428936"/>
            <a:ext cx="1003300" cy="25324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C9BDB3"/>
                </a:solidFill>
                <a:latin typeface="Inter" pitchFamily="34" charset="0"/>
                <a:ea typeface="Inter" pitchFamily="34" charset="-122"/>
                <a:cs typeface="Inter" pitchFamily="34" charset="-120"/>
              </a:rPr>
              <a:t>Diff rules</a:t>
            </a:r>
            <a:endParaRPr lang="en-US" sz="1200" dirty="0"/>
          </a:p>
        </p:txBody>
      </p:sp>
      <p:sp>
        <p:nvSpPr>
          <p:cNvPr id="29" name="Text 24"/>
          <p:cNvSpPr/>
          <p:nvPr/>
        </p:nvSpPr>
        <p:spPr>
          <a:xfrm>
            <a:off x="6122685" y="4428936"/>
            <a:ext cx="1003300" cy="481088"/>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C9BDB3"/>
                </a:solidFill>
                <a:latin typeface="Inter" pitchFamily="34" charset="0"/>
                <a:ea typeface="Inter" pitchFamily="34" charset="-122"/>
                <a:cs typeface="Inter" pitchFamily="34" charset="-120"/>
              </a:rPr>
              <a:t>Passes 2 of 2</a:t>
            </a:r>
            <a:endParaRPr lang="en-US" sz="1200" dirty="0"/>
          </a:p>
        </p:txBody>
      </p:sp>
      <p:sp>
        <p:nvSpPr>
          <p:cNvPr id="30" name="Text 25"/>
          <p:cNvSpPr/>
          <p:nvPr/>
        </p:nvSpPr>
        <p:spPr>
          <a:xfrm>
            <a:off x="8235950" y="4428936"/>
            <a:ext cx="1003300" cy="481088"/>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C9BDB3"/>
                </a:solidFill>
                <a:latin typeface="Inter" pitchFamily="34" charset="0"/>
                <a:ea typeface="Inter" pitchFamily="34" charset="-122"/>
                <a:cs typeface="Inter" pitchFamily="34" charset="-120"/>
              </a:rPr>
              <a:t>Claims match logs</a:t>
            </a:r>
            <a:endParaRPr lang="en-US" sz="1200" dirty="0"/>
          </a:p>
        </p:txBody>
      </p:sp>
      <p:sp>
        <p:nvSpPr>
          <p:cNvPr id="31" name="Text 26"/>
          <p:cNvSpPr/>
          <p:nvPr/>
        </p:nvSpPr>
        <p:spPr>
          <a:xfrm>
            <a:off x="9292582" y="4428936"/>
            <a:ext cx="1003300" cy="708932"/>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F08A57"/>
                </a:solidFill>
                <a:latin typeface="Inter" pitchFamily="34" charset="0"/>
                <a:ea typeface="Inter" pitchFamily="34" charset="-122"/>
                <a:cs typeface="Inter" pitchFamily="34" charset="-120"/>
              </a:rPr>
              <a:t>You approve the diff</a:t>
            </a:r>
            <a:endParaRPr lang="en-US" sz="1200" dirty="0"/>
          </a:p>
        </p:txBody>
      </p:sp>
      <p:sp>
        <p:nvSpPr>
          <p:cNvPr id="32" name="Text 27"/>
          <p:cNvSpPr/>
          <p:nvPr/>
        </p:nvSpPr>
        <p:spPr>
          <a:xfrm>
            <a:off x="812800" y="5190936"/>
            <a:ext cx="1088339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7"/>
                </a:solidFill>
                <a:latin typeface="JetBrains Mono" pitchFamily="49" charset="0"/>
                <a:ea typeface="JetBrains Mono" pitchFamily="49" charset="-122"/>
                <a:cs typeface="JetBrains Mono" pitchFamily="49" charset="-120"/>
              </a:rPr>
              <a:t>If a fix still can't be proven, the run ends with a triage report. Never a fake fix.</a:t>
            </a:r>
            <a:endParaRPr lang="en-US" sz="1200" dirty="0"/>
          </a:p>
        </p:txBody>
      </p:sp>
      <p:sp>
        <p:nvSpPr>
          <p:cNvPr id="33" name="Text 28"/>
          <p:cNvSpPr/>
          <p:nvPr/>
        </p:nvSpPr>
        <p:spPr>
          <a:xfrm>
            <a:off x="812800" y="6206257"/>
            <a:ext cx="392430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JetBrains Mono" pitchFamily="49" charset="0"/>
                <a:ea typeface="JetBrains Mono" pitchFamily="49" charset="-122"/>
                <a:cs typeface="JetBrains Mono" pitchFamily="49" charset="-120"/>
              </a:rPr>
              <a:t>PatchPilot</a:t>
            </a:r>
            <a:endParaRPr lang="en-US" sz="1200" dirty="0"/>
          </a:p>
        </p:txBody>
      </p:sp>
      <p:sp>
        <p:nvSpPr>
          <p:cNvPr id="34" name="Text 29"/>
          <p:cNvSpPr/>
          <p:nvPr/>
        </p:nvSpPr>
        <p:spPr>
          <a:xfrm>
            <a:off x="7454900" y="6206257"/>
            <a:ext cx="3924300" cy="27074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89C92"/>
                </a:solidFill>
                <a:latin typeface="JetBrains Mono" pitchFamily="49" charset="0"/>
                <a:ea typeface="JetBrains Mono" pitchFamily="49" charset="-122"/>
                <a:cs typeface="JetBrains Mono" pitchFamily="49" charset="-120"/>
              </a:rPr>
              <a:t>04 / 06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12800" y="812800"/>
            <a:ext cx="1088339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7"/>
                </a:solidFill>
                <a:latin typeface="JetBrains Mono" pitchFamily="49" charset="0"/>
                <a:ea typeface="JetBrains Mono" pitchFamily="49" charset="-122"/>
                <a:cs typeface="JetBrains Mono" pitchFamily="49" charset="-120"/>
              </a:rPr>
              <a:t>[ The product ]</a:t>
            </a:r>
            <a:endParaRPr lang="en-US" sz="1200" dirty="0"/>
          </a:p>
        </p:txBody>
      </p:sp>
      <p:sp>
        <p:nvSpPr>
          <p:cNvPr id="3" name="Text 1"/>
          <p:cNvSpPr/>
          <p:nvPr>
            <p:ph type="title"/>
          </p:nvPr>
        </p:nvSpPr>
        <p:spPr>
          <a:xfrm>
            <a:off x="812800" y="1159746"/>
            <a:ext cx="10883392" cy="475192"/>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F2EDE8"/>
                </a:solidFill>
                <a:latin typeface="Inter" pitchFamily="34" charset="0"/>
                <a:ea typeface="Inter" pitchFamily="34" charset="-122"/>
                <a:cs typeface="Inter" pitchFamily="34" charset="-120"/>
              </a:rPr>
              <a:t>One link in. One proven PR out.</a:t>
            </a:r>
            <a:endParaRPr lang="en-US" sz="2800" dirty="0"/>
          </a:p>
        </p:txBody>
      </p:sp>
      <p:pic>
        <p:nvPicPr>
          <p:cNvPr id="42" name="Image 0 copy 42" descr="PatchPilot run page from live run 7b57e1fb: the new test fails twice on the original code and passes twice after the fix, and the fix passes a hidden test variant">    </p:cNvPr>
          <p:cNvPicPr>
            <a:picLocks noChangeAspect="1"/>
          </p:cNvPicPr>
          <p:nvPr/>
        </p:nvPicPr>
        <p:blipFill>
          <a:blip r:embed="rIdShot0"/>
          <a:srcRect l="0" r="0" t="0" b="0"/>
          <a:stretch/>
        </p:blipFill>
        <p:spPr>
          <a:xfrm>
            <a:off x="812800" y="2300000"/>
            <a:ext cx="3289173" cy="3000000"/>
          </a:xfrm>
          <a:prstGeom prst="roundRect">
            <a:avLst>
              <a:gd name="adj" fmla="val 2500"/>
            </a:avLst>
          </a:prstGeom>
          <a:ln w="9525">
            <a:solidFill>
              <a:srgbClr val="3A2C23"/>
            </a:solidFill>
          </a:ln>
        </p:spPr>
      </p:pic>
      <p:pic>
        <p:nvPicPr>
          <p:cNvPr id="43" name="Image 0 copy 43" descr="The exact change from the same run: a new test and a 2-line fix, waiting for approval">    </p:cNvPr>
          <p:cNvPicPr>
            <a:picLocks noChangeAspect="1"/>
          </p:cNvPicPr>
          <p:nvPr/>
        </p:nvPicPr>
        <p:blipFill>
          <a:blip r:embed="rIdShot1"/>
          <a:srcRect l="0" r="0" t="0" b="0"/>
          <a:stretch/>
        </p:blipFill>
        <p:spPr>
          <a:xfrm>
            <a:off x="4351973" y="2300000"/>
            <a:ext cx="3555555" cy="3000000"/>
          </a:xfrm>
          <a:prstGeom prst="roundRect">
            <a:avLst>
              <a:gd name="adj" fmla="val 2500"/>
            </a:avLst>
          </a:prstGeom>
          <a:ln w="9525">
            <a:solidFill>
              <a:srgbClr val="3A2C23"/>
            </a:solidFill>
          </a:ln>
        </p:spPr>
      </p:pic>
      <p:sp>
        <p:nvSpPr>
          <p:cNvPr id="8" name="Text 5"/>
          <p:cNvSpPr/>
          <p:nvPr/>
        </p:nvSpPr>
        <p:spPr>
          <a:xfrm>
            <a:off x="812800" y="1970000"/>
            <a:ext cx="7600000" cy="230000"/>
          </a:xfrm>
          <a:prstGeom prst="rect">
            <a:avLst/>
          </a:prstGeom>
          <a:noFill/>
          <a:ln/>
        </p:spPr>
        <p:txBody>
          <a:bodyPr wrap="square" lIns="0" tIns="0" rIns="0" bIns="0" rtlCol="0" anchor="t">
            <a:normAutofit/>
          </a:bodyPr>
          <a:lstStyle/>
          <a:p>
            <a:pPr algn="l" indent="0" marL="0">
              <a:lnSpc>
                <a:spcPts val="1400"/>
              </a:lnSpc>
              <a:buNone/>
            </a:pPr>
            <a:r>
              <a:rPr lang="en-US" sz="1100" dirty="0">
                <a:solidFill>
                  <a:srgbClr val="A89C92"/>
                </a:solidFill>
                <a:latin typeface="JetBrains Mono" pitchFamily="49" charset="0"/>
                <a:ea typeface="JetBrains Mono" pitchFamily="49" charset="-122"/>
                <a:cs typeface="JetBrains Mono" pitchFamily="49" charset="-120"/>
              </a:rPr>
              <a:t>Live run · a planted bug in our demo repo (tinycalc #1), fixed and verified</a:t>
            </a:r>
            <a:endParaRPr lang="en-US" sz="1100" dirty="0"/>
          </a:p>
        </p:txBody>
      </p:sp>
      <p:sp>
        <p:nvSpPr>
          <p:cNvPr id="44" name="Text 5 copy 44"/>
          <p:cNvSpPr/>
          <p:nvPr/>
        </p:nvSpPr>
        <p:spPr>
          <a:xfrm>
            <a:off x="3739622" y="3179000"/>
            <a:ext cx="330000" cy="330000"/>
          </a:xfrm>
          <a:prstGeom prst="ellipse">
            <a:avLst/>
          </a:prstGeom>
          <a:solidFill>
            <a:srgbClr val="E8652B"/>
          </a:solidFill>
          <a:ln w="19050">
            <a:solidFill>
              <a:srgbClr val="0E0B09"/>
            </a:solidFill>
          </a:ln>
        </p:spPr>
        <p:txBody>
          <a:bodyPr wrap="none" lIns="0" tIns="0" rIns="0" bIns="0" rtlCol="0" anchor="ctr">
            <a:normAutofit/>
          </a:bodyPr>
          <a:lstStyle/>
          <a:p>
            <a:pPr algn="ctr" indent="0" marL="0">
              <a:lnSpc>
                <a:spcPts val="1560"/>
              </a:lnSpc>
              <a:buNone/>
            </a:pPr>
            <a:r>
              <a:rPr lang="en-US" sz="1300" dirty="0" b="1">
                <a:solidFill>
                  <a:srgbClr val="F2EDE8"/>
                </a:solidFill>
                <a:latin typeface="Inter" pitchFamily="34" charset="0"/>
                <a:ea typeface="Inter" pitchFamily="34" charset="-122"/>
                <a:cs typeface="Inter" pitchFamily="34" charset="-120"/>
              </a:rPr>
              <a:t>1</a:t>
            </a:r>
            <a:endParaRPr lang="en-US" sz="1300" dirty="0"/>
          </a:p>
        </p:txBody>
      </p:sp>
      <p:sp>
        <p:nvSpPr>
          <p:cNvPr id="45" name="Text 5 copy 45"/>
          <p:cNvSpPr/>
          <p:nvPr/>
        </p:nvSpPr>
        <p:spPr>
          <a:xfrm>
            <a:off x="3877767" y="4415000"/>
            <a:ext cx="330000" cy="330000"/>
          </a:xfrm>
          <a:prstGeom prst="ellipse">
            <a:avLst/>
          </a:prstGeom>
          <a:solidFill>
            <a:srgbClr val="E8652B"/>
          </a:solidFill>
          <a:ln w="19050">
            <a:solidFill>
              <a:srgbClr val="0E0B09"/>
            </a:solidFill>
          </a:ln>
        </p:spPr>
        <p:txBody>
          <a:bodyPr wrap="none" lIns="0" tIns="0" rIns="0" bIns="0" rtlCol="0" anchor="ctr">
            <a:normAutofit/>
          </a:bodyPr>
          <a:lstStyle/>
          <a:p>
            <a:pPr algn="ctr" indent="0" marL="0">
              <a:lnSpc>
                <a:spcPts val="1560"/>
              </a:lnSpc>
              <a:buNone/>
            </a:pPr>
            <a:r>
              <a:rPr lang="en-US" sz="1300" dirty="0" b="1">
                <a:solidFill>
                  <a:srgbClr val="F2EDE8"/>
                </a:solidFill>
                <a:latin typeface="Inter" pitchFamily="34" charset="0"/>
                <a:ea typeface="Inter" pitchFamily="34" charset="-122"/>
                <a:cs typeface="Inter" pitchFamily="34" charset="-120"/>
              </a:rPr>
              <a:t>2</a:t>
            </a:r>
            <a:endParaRPr lang="en-US" sz="1300" dirty="0"/>
          </a:p>
        </p:txBody>
      </p:sp>
      <p:sp>
        <p:nvSpPr>
          <p:cNvPr id="46" name="Text 5 copy 46"/>
          <p:cNvSpPr/>
          <p:nvPr/>
        </p:nvSpPr>
        <p:spPr>
          <a:xfrm>
            <a:off x="7678528" y="2180000"/>
            <a:ext cx="330000" cy="330000"/>
          </a:xfrm>
          <a:prstGeom prst="ellipse">
            <a:avLst/>
          </a:prstGeom>
          <a:solidFill>
            <a:srgbClr val="E8652B"/>
          </a:solidFill>
          <a:ln w="19050">
            <a:solidFill>
              <a:srgbClr val="0E0B09"/>
            </a:solidFill>
          </a:ln>
        </p:spPr>
        <p:txBody>
          <a:bodyPr wrap="none" lIns="0" tIns="0" rIns="0" bIns="0" rtlCol="0" anchor="ctr">
            <a:normAutofit/>
          </a:bodyPr>
          <a:lstStyle/>
          <a:p>
            <a:pPr algn="ctr" indent="0" marL="0">
              <a:lnSpc>
                <a:spcPts val="1560"/>
              </a:lnSpc>
              <a:buNone/>
            </a:pPr>
            <a:r>
              <a:rPr lang="en-US" sz="1300" dirty="0" b="1">
                <a:solidFill>
                  <a:srgbClr val="F2EDE8"/>
                </a:solidFill>
                <a:latin typeface="Inter" pitchFamily="34" charset="0"/>
                <a:ea typeface="Inter" pitchFamily="34" charset="-122"/>
                <a:cs typeface="Inter" pitchFamily="34" charset="-120"/>
              </a:rPr>
              <a:t>3</a:t>
            </a:r>
            <a:endParaRPr lang="en-US" sz="1300" dirty="0"/>
          </a:p>
        </p:txBody>
      </p:sp>
      <p:sp>
        <p:nvSpPr>
          <p:cNvPr id="47" name="Text 5 copy 47"/>
          <p:cNvSpPr/>
          <p:nvPr/>
        </p:nvSpPr>
        <p:spPr>
          <a:xfrm>
            <a:off x="8287528" y="2320000"/>
            <a:ext cx="330000" cy="330000"/>
          </a:xfrm>
          <a:prstGeom prst="ellipse">
            <a:avLst/>
          </a:prstGeom>
          <a:solidFill>
            <a:srgbClr val="E8652B"/>
          </a:solidFill>
          <a:ln w="19050">
            <a:solidFill>
              <a:srgbClr val="0E0B09"/>
            </a:solidFill>
          </a:ln>
        </p:spPr>
        <p:txBody>
          <a:bodyPr wrap="none" lIns="0" tIns="0" rIns="0" bIns="0" rtlCol="0" anchor="ctr">
            <a:normAutofit/>
          </a:bodyPr>
          <a:lstStyle/>
          <a:p>
            <a:pPr algn="ctr" indent="0" marL="0">
              <a:lnSpc>
                <a:spcPts val="1560"/>
              </a:lnSpc>
              <a:buNone/>
            </a:pPr>
            <a:r>
              <a:rPr lang="en-US" sz="1300" dirty="0" b="1">
                <a:solidFill>
                  <a:srgbClr val="F2EDE8"/>
                </a:solidFill>
                <a:latin typeface="Inter" pitchFamily="34" charset="0"/>
                <a:ea typeface="Inter" pitchFamily="34" charset="-122"/>
                <a:cs typeface="Inter" pitchFamily="34" charset="-120"/>
              </a:rPr>
              <a:t>1</a:t>
            </a:r>
            <a:endParaRPr lang="en-US" sz="1300" dirty="0"/>
          </a:p>
        </p:txBody>
      </p:sp>
      <p:sp>
        <p:nvSpPr>
          <p:cNvPr id="48" name="Text 5 copy 48"/>
          <p:cNvSpPr/>
          <p:nvPr/>
        </p:nvSpPr>
        <p:spPr>
          <a:xfrm>
            <a:off x="8757528" y="2300000"/>
            <a:ext cx="2621672" cy="624200"/>
          </a:xfrm>
          <a:prstGeom prst="rect">
            <a:avLst/>
          </a:prstGeom>
          <a:noFill/>
          <a:ln/>
        </p:spPr>
        <p:txBody>
          <a:bodyPr wrap="square" lIns="0" tIns="0" rIns="0" bIns="0" rtlCol="0" anchor="t">
            <a:normAutofit/>
          </a:bodyPr>
          <a:lstStyle/>
          <a:p>
            <a:pPr algn="l" indent="0" marL="0">
              <a:lnSpc>
                <a:spcPts val="2300"/>
              </a:lnSpc>
              <a:buNone/>
            </a:pPr>
            <a:r>
              <a:rPr lang="en-US" sz="1800" dirty="0" b="0">
                <a:solidFill>
                  <a:srgbClr val="F2EDE8"/>
                </a:solidFill>
                <a:latin typeface="Inter" pitchFamily="34" charset="0"/>
                <a:ea typeface="Inter" pitchFamily="34" charset="-122"/>
                <a:cs typeface="Inter" pitchFamily="34" charset="-120"/>
              </a:rPr>
              <a:t>Fails 2/2 before. Passes 2/2 after.</a:t>
            </a:r>
            <a:endParaRPr lang="en-US" sz="1800" dirty="0"/>
          </a:p>
        </p:txBody>
      </p:sp>
      <p:sp>
        <p:nvSpPr>
          <p:cNvPr id="49" name="Text 5 copy 49"/>
          <p:cNvSpPr/>
          <p:nvPr/>
        </p:nvSpPr>
        <p:spPr>
          <a:xfrm>
            <a:off x="8287528" y="3154200"/>
            <a:ext cx="330000" cy="330000"/>
          </a:xfrm>
          <a:prstGeom prst="ellipse">
            <a:avLst/>
          </a:prstGeom>
          <a:solidFill>
            <a:srgbClr val="E8652B"/>
          </a:solidFill>
          <a:ln w="19050">
            <a:solidFill>
              <a:srgbClr val="0E0B09"/>
            </a:solidFill>
          </a:ln>
        </p:spPr>
        <p:txBody>
          <a:bodyPr wrap="none" lIns="0" tIns="0" rIns="0" bIns="0" rtlCol="0" anchor="ctr">
            <a:normAutofit/>
          </a:bodyPr>
          <a:lstStyle/>
          <a:p>
            <a:pPr algn="ctr" indent="0" marL="0">
              <a:lnSpc>
                <a:spcPts val="1560"/>
              </a:lnSpc>
              <a:buNone/>
            </a:pPr>
            <a:r>
              <a:rPr lang="en-US" sz="1300" dirty="0" b="1">
                <a:solidFill>
                  <a:srgbClr val="F2EDE8"/>
                </a:solidFill>
                <a:latin typeface="Inter" pitchFamily="34" charset="0"/>
                <a:ea typeface="Inter" pitchFamily="34" charset="-122"/>
                <a:cs typeface="Inter" pitchFamily="34" charset="-120"/>
              </a:rPr>
              <a:t>2</a:t>
            </a:r>
            <a:endParaRPr lang="en-US" sz="1300" dirty="0"/>
          </a:p>
        </p:txBody>
      </p:sp>
      <p:sp>
        <p:nvSpPr>
          <p:cNvPr id="50" name="Text 5 copy 50"/>
          <p:cNvSpPr/>
          <p:nvPr/>
        </p:nvSpPr>
        <p:spPr>
          <a:xfrm>
            <a:off x="8757528" y="3134200"/>
            <a:ext cx="2621672" cy="916300"/>
          </a:xfrm>
          <a:prstGeom prst="rect">
            <a:avLst/>
          </a:prstGeom>
          <a:noFill/>
          <a:ln/>
        </p:spPr>
        <p:txBody>
          <a:bodyPr wrap="square" lIns="0" tIns="0" rIns="0" bIns="0" rtlCol="0" anchor="t">
            <a:normAutofit/>
          </a:bodyPr>
          <a:lstStyle/>
          <a:p>
            <a:pPr algn="l" indent="0" marL="0">
              <a:lnSpc>
                <a:spcPts val="2300"/>
              </a:lnSpc>
              <a:buNone/>
            </a:pPr>
            <a:r>
              <a:rPr lang="en-US" sz="1800" dirty="0" b="0">
                <a:solidFill>
                  <a:srgbClr val="F2EDE8"/>
                </a:solidFill>
                <a:latin typeface="Inter" pitchFamily="34" charset="0"/>
                <a:ea typeface="Inter" pitchFamily="34" charset="-122"/>
                <a:cs typeface="Inter" pitchFamily="34" charset="-120"/>
              </a:rPr>
              <a:t>Also passes a hidden test the fixer never saw.</a:t>
            </a:r>
            <a:endParaRPr lang="en-US" sz="1800" dirty="0"/>
          </a:p>
        </p:txBody>
      </p:sp>
      <p:sp>
        <p:nvSpPr>
          <p:cNvPr id="51" name="Text 5 copy 51"/>
          <p:cNvSpPr/>
          <p:nvPr/>
        </p:nvSpPr>
        <p:spPr>
          <a:xfrm>
            <a:off x="8287528" y="4280500"/>
            <a:ext cx="330000" cy="330000"/>
          </a:xfrm>
          <a:prstGeom prst="ellipse">
            <a:avLst/>
          </a:prstGeom>
          <a:solidFill>
            <a:srgbClr val="E8652B"/>
          </a:solidFill>
          <a:ln w="19050">
            <a:solidFill>
              <a:srgbClr val="0E0B09"/>
            </a:solidFill>
          </a:ln>
        </p:spPr>
        <p:txBody>
          <a:bodyPr wrap="none" lIns="0" tIns="0" rIns="0" bIns="0" rtlCol="0" anchor="ctr">
            <a:normAutofit/>
          </a:bodyPr>
          <a:lstStyle/>
          <a:p>
            <a:pPr algn="ctr" indent="0" marL="0">
              <a:lnSpc>
                <a:spcPts val="1560"/>
              </a:lnSpc>
              <a:buNone/>
            </a:pPr>
            <a:r>
              <a:rPr lang="en-US" sz="1300" dirty="0" b="1">
                <a:solidFill>
                  <a:srgbClr val="F2EDE8"/>
                </a:solidFill>
                <a:latin typeface="Inter" pitchFamily="34" charset="0"/>
                <a:ea typeface="Inter" pitchFamily="34" charset="-122"/>
                <a:cs typeface="Inter" pitchFamily="34" charset="-120"/>
              </a:rPr>
              <a:t>3</a:t>
            </a:r>
            <a:endParaRPr lang="en-US" sz="1300" dirty="0"/>
          </a:p>
        </p:txBody>
      </p:sp>
      <p:sp>
        <p:nvSpPr>
          <p:cNvPr id="52" name="Text 5 copy 52"/>
          <p:cNvSpPr/>
          <p:nvPr/>
        </p:nvSpPr>
        <p:spPr>
          <a:xfrm>
            <a:off x="8757528" y="4260500"/>
            <a:ext cx="2621672" cy="916300"/>
          </a:xfrm>
          <a:prstGeom prst="rect">
            <a:avLst/>
          </a:prstGeom>
          <a:noFill/>
          <a:ln/>
        </p:spPr>
        <p:txBody>
          <a:bodyPr wrap="square" lIns="0" tIns="0" rIns="0" bIns="0" rtlCol="0" anchor="t">
            <a:normAutofit/>
          </a:bodyPr>
          <a:lstStyle/>
          <a:p>
            <a:pPr algn="l" indent="0" marL="0">
              <a:lnSpc>
                <a:spcPts val="2300"/>
              </a:lnSpc>
              <a:buNone/>
            </a:pPr>
            <a:r>
              <a:rPr lang="en-US" sz="1800" dirty="0" b="0">
                <a:solidFill>
                  <a:srgbClr val="F2EDE8"/>
                </a:solidFill>
                <a:latin typeface="Inter" pitchFamily="34" charset="0"/>
                <a:ea typeface="Inter" pitchFamily="34" charset="-122"/>
                <a:cs typeface="Inter" pitchFamily="34" charset="-120"/>
              </a:rPr>
              <a:t>You approve this exact diff. Nothing ships without you.</a:t>
            </a:r>
            <a:endParaRPr lang="en-US" sz="1800" dirty="0"/>
          </a:p>
        </p:txBody>
      </p:sp>
      <p:sp>
        <p:nvSpPr>
          <p:cNvPr id="53" name="Text 5 copy 53"/>
          <p:cNvSpPr/>
          <p:nvPr/>
        </p:nvSpPr>
        <p:spPr>
          <a:xfrm>
            <a:off x="812800" y="5500000"/>
            <a:ext cx="10566400" cy="300000"/>
          </a:xfrm>
          <a:prstGeom prst="rect">
            <a:avLst/>
          </a:prstGeom>
          <a:noFill/>
          <a:ln/>
        </p:spPr>
        <p:txBody>
          <a:bodyPr wrap="square" lIns="0" tIns="0" rIns="0" bIns="0" rtlCol="0" anchor="t">
            <a:normAutofit/>
          </a:bodyPr>
          <a:lstStyle/>
          <a:p>
            <a:pPr algn="l" indent="0" marL="0">
              <a:lnSpc>
                <a:spcPts val="1400"/>
              </a:lnSpc>
              <a:buNone/>
            </a:pPr>
            <a:r>
              <a:rPr lang="en-US" sz="1100" dirty="0">
                <a:solidFill>
                  <a:srgbClr val="E8652B"/>
                </a:solidFill>
                <a:latin typeface="JetBrains Mono" pitchFamily="49" charset="0"/>
                <a:ea typeface="JetBrains Mono" pitchFamily="49" charset="-122"/>
                <a:cs typeface="JetBrains Mono" pitchFamily="49" charset="-120"/>
              </a:rPr>
              <a:t>Live today: 3 of 3 planted bugs fixed, 2-7 min each  ·  2 real draft PRs opened (tinycalc #4, #5)</a:t>
            </a:r>
            <a:endParaRPr lang="en-US" sz="1100" dirty="0"/>
          </a:p>
        </p:txBody>
      </p:sp>
      <p:sp>
        <p:nvSpPr>
          <p:cNvPr id="40" name="Text 31"/>
          <p:cNvSpPr/>
          <p:nvPr/>
        </p:nvSpPr>
        <p:spPr>
          <a:xfrm>
            <a:off x="812800" y="6206257"/>
            <a:ext cx="392430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JetBrains Mono" pitchFamily="49" charset="0"/>
                <a:ea typeface="JetBrains Mono" pitchFamily="49" charset="-122"/>
                <a:cs typeface="JetBrains Mono" pitchFamily="49" charset="-120"/>
              </a:rPr>
              <a:t>PatchPilot</a:t>
            </a:r>
            <a:endParaRPr lang="en-US" sz="1200" dirty="0"/>
          </a:p>
        </p:txBody>
      </p:sp>
      <p:sp>
        <p:nvSpPr>
          <p:cNvPr id="41" name="Text 32"/>
          <p:cNvSpPr/>
          <p:nvPr/>
        </p:nvSpPr>
        <p:spPr>
          <a:xfrm>
            <a:off x="7454900" y="6206257"/>
            <a:ext cx="3924300" cy="27074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89C92"/>
                </a:solidFill>
                <a:latin typeface="JetBrains Mono" pitchFamily="49" charset="0"/>
                <a:ea typeface="JetBrains Mono" pitchFamily="49" charset="-122"/>
                <a:cs typeface="JetBrains Mono" pitchFamily="49" charset="-120"/>
              </a:rPr>
              <a:t>03 / 06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B0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E0B09"/>
              </a:gs>
              <a:gs pos="50000">
                <a:srgbClr val="0E0B09"/>
              </a:gs>
              <a:gs pos="50000">
                <a:srgbClr val="E8652B"/>
              </a:gs>
              <a:gs pos="100000">
                <a:srgbClr val="F7955A"/>
              </a:gs>
            </a:gsLst>
            <a:lin ang="0" scaled="0"/>
          </a:gradFill>
          <a:ln/>
        </p:spPr>
      </p:sp>
      <p:sp>
        <p:nvSpPr>
          <p:cNvPr id="3" name="Text 1"/>
          <p:cNvSpPr/>
          <p:nvPr/>
        </p:nvSpPr>
        <p:spPr>
          <a:xfrm>
            <a:off x="812800" y="812800"/>
            <a:ext cx="5023104" cy="254680"/>
          </a:xfrm>
          <a:prstGeom prst="rect">
            <a:avLst/>
          </a:prstGeom>
          <a:noFill/>
          <a:ln/>
        </p:spPr>
        <p:txBody>
          <a:bodyPr wrap="square" lIns="0" tIns="0" rIns="0" bIns="0" rtlCol="0" anchor="t">
            <a:normAutofit/>
          </a:bodyPr>
          <a:lstStyle/>
          <a:p>
            <a:pPr algn="l" indent="0" marL="0">
              <a:lnSpc>
                <a:spcPts val="1585"/>
              </a:lnSpc>
              <a:buNone/>
            </a:pPr>
            <a:r>
              <a:rPr lang="en-US" sz="1133" dirty="0">
                <a:solidFill>
                  <a:srgbClr val="F08A57"/>
                </a:solidFill>
                <a:latin typeface="JetBrains Mono" pitchFamily="49" charset="0"/>
                <a:ea typeface="JetBrains Mono" pitchFamily="49" charset="-122"/>
                <a:cs typeface="JetBrains Mono" pitchFamily="49" charset="-120"/>
              </a:rPr>
              <a:t>[ Who it's for ]</a:t>
            </a:r>
            <a:endParaRPr lang="en-US" sz="1133" dirty="0"/>
          </a:p>
        </p:txBody>
      </p:sp>
      <p:sp>
        <p:nvSpPr>
          <p:cNvPr id="4" name="Text 2"/>
          <p:cNvSpPr/>
          <p:nvPr/>
        </p:nvSpPr>
        <p:spPr>
          <a:xfrm>
            <a:off x="812800" y="1143682"/>
            <a:ext cx="5689600" cy="866133"/>
          </a:xfrm>
          <a:prstGeom prst="rect">
            <a:avLst/>
          </a:prstGeom>
          <a:noFill/>
          <a:ln/>
        </p:spPr>
        <p:txBody>
          <a:bodyPr wrap="square" lIns="0" tIns="0" rIns="0" bIns="0" rtlCol="0" anchor="t">
            <a:normAutofit/>
          </a:bodyPr>
          <a:lstStyle/>
          <a:p>
            <a:pPr algn="l" indent="0" marL="0">
              <a:lnSpc>
                <a:spcPts val="2916"/>
              </a:lnSpc>
              <a:buNone/>
            </a:pPr>
            <a:r>
              <a:rPr lang="en-US" sz="2651" b="1" spc="-50" kern="0" dirty="0">
                <a:solidFill>
                  <a:srgbClr val="F2EDE8"/>
                </a:solidFill>
                <a:latin typeface="Inter" pitchFamily="34" charset="0"/>
                <a:ea typeface="Inter" pitchFamily="34" charset="-122"/>
                <a:cs typeface="Inter" pitchFamily="34" charset="-120"/>
              </a:rPr>
              <a:t>Who gets time back.</a:t>
            </a:r>
            <a:endParaRPr lang="en-US" sz="2651" dirty="0"/>
          </a:p>
        </p:txBody>
      </p:sp>
      <p:sp>
        <p:nvSpPr>
          <p:cNvPr id="5" name="Shape 3"/>
          <p:cNvSpPr/>
          <p:nvPr/>
        </p:nvSpPr>
        <p:spPr>
          <a:xfrm>
            <a:off x="812800" y="2190787"/>
            <a:ext cx="4876800" cy="0"/>
          </a:xfrm>
          <a:prstGeom prst="line">
            <a:avLst/>
          </a:prstGeom>
          <a:noFill/>
          <a:ln w="6350">
            <a:solidFill>
              <a:srgbClr val="3A2C23"/>
            </a:solidFill>
            <a:prstDash val="solid"/>
          </a:ln>
        </p:spPr>
      </p:sp>
      <p:sp>
        <p:nvSpPr>
          <p:cNvPr id="6" name="Text 4"/>
          <p:cNvSpPr/>
          <p:nvPr/>
        </p:nvSpPr>
        <p:spPr>
          <a:xfrm>
            <a:off x="812800" y="2319452"/>
            <a:ext cx="5023104" cy="248671"/>
          </a:xfrm>
          <a:prstGeom prst="rect">
            <a:avLst/>
          </a:prstGeom>
          <a:noFill/>
          <a:ln/>
        </p:spPr>
        <p:txBody>
          <a:bodyPr wrap="square" lIns="0" tIns="0" rIns="0" bIns="0" rtlCol="0" anchor="t">
            <a:normAutofit/>
          </a:bodyPr>
          <a:lstStyle/>
          <a:p>
            <a:pPr algn="l" indent="0" marL="0">
              <a:lnSpc>
                <a:spcPts val="1538"/>
              </a:lnSpc>
              <a:buNone/>
            </a:pPr>
            <a:r>
              <a:rPr lang="en-US" sz="1099" dirty="0">
                <a:solidFill>
                  <a:srgbClr val="F08A57"/>
                </a:solidFill>
                <a:latin typeface="JetBrains Mono" pitchFamily="49" charset="0"/>
                <a:ea typeface="JetBrains Mono" pitchFamily="49" charset="-122"/>
                <a:cs typeface="JetBrains Mono" pitchFamily="49" charset="-120"/>
              </a:rPr>
              <a:t>Open-source maintainers</a:t>
            </a:r>
            <a:endParaRPr lang="en-US" sz="1099" dirty="0"/>
          </a:p>
        </p:txBody>
      </p:sp>
      <p:sp>
        <p:nvSpPr>
          <p:cNvPr id="7" name="Text 5"/>
          <p:cNvSpPr/>
          <p:nvPr/>
        </p:nvSpPr>
        <p:spPr>
          <a:xfrm>
            <a:off x="812800" y="2580822"/>
            <a:ext cx="5023104" cy="323056"/>
          </a:xfrm>
          <a:prstGeom prst="rect">
            <a:avLst/>
          </a:prstGeom>
          <a:noFill/>
          <a:ln/>
        </p:spPr>
        <p:txBody>
          <a:bodyPr wrap="square" lIns="0" tIns="0" rIns="0" bIns="0" rtlCol="0" anchor="t">
            <a:normAutofit/>
          </a:bodyPr>
          <a:lstStyle/>
          <a:p>
            <a:pPr algn="l" indent="0" marL="0">
              <a:lnSpc>
                <a:spcPts val="2065"/>
              </a:lnSpc>
              <a:buNone/>
            </a:pPr>
            <a:r>
              <a:rPr lang="en-US" sz="1475" dirty="0">
                <a:solidFill>
                  <a:srgbClr val="F2EDE8"/>
                </a:solidFill>
                <a:latin typeface="Inter" pitchFamily="34" charset="0"/>
                <a:ea typeface="Inter" pitchFamily="34" charset="-122"/>
                <a:cs typeface="Inter" pitchFamily="34" charset="-120"/>
              </a:rPr>
              <a:t>Clear the bug backlog with proven PRs.</a:t>
            </a:r>
            <a:endParaRPr lang="en-US" sz="1475" dirty="0"/>
          </a:p>
        </p:txBody>
      </p:sp>
      <p:sp>
        <p:nvSpPr>
          <p:cNvPr id="8" name="Shape 6"/>
          <p:cNvSpPr/>
          <p:nvPr/>
        </p:nvSpPr>
        <p:spPr>
          <a:xfrm>
            <a:off x="812800" y="3034054"/>
            <a:ext cx="4876800" cy="0"/>
          </a:xfrm>
          <a:prstGeom prst="line">
            <a:avLst/>
          </a:prstGeom>
          <a:noFill/>
          <a:ln w="6350">
            <a:solidFill>
              <a:srgbClr val="3A2C23"/>
            </a:solidFill>
            <a:prstDash val="solid"/>
          </a:ln>
        </p:spPr>
      </p:sp>
      <p:sp>
        <p:nvSpPr>
          <p:cNvPr id="9" name="Text 7"/>
          <p:cNvSpPr/>
          <p:nvPr/>
        </p:nvSpPr>
        <p:spPr>
          <a:xfrm>
            <a:off x="812800" y="3162715"/>
            <a:ext cx="5023104" cy="248633"/>
          </a:xfrm>
          <a:prstGeom prst="rect">
            <a:avLst/>
          </a:prstGeom>
          <a:noFill/>
          <a:ln/>
        </p:spPr>
        <p:txBody>
          <a:bodyPr wrap="square" lIns="0" tIns="0" rIns="0" bIns="0" rtlCol="0" anchor="t">
            <a:normAutofit/>
          </a:bodyPr>
          <a:lstStyle/>
          <a:p>
            <a:pPr algn="l" indent="0" marL="0">
              <a:lnSpc>
                <a:spcPts val="1538"/>
              </a:lnSpc>
              <a:buNone/>
            </a:pPr>
            <a:r>
              <a:rPr lang="en-US" sz="1099" dirty="0">
                <a:solidFill>
                  <a:srgbClr val="F08A57"/>
                </a:solidFill>
                <a:latin typeface="JetBrains Mono" pitchFamily="49" charset="0"/>
                <a:ea typeface="JetBrains Mono" pitchFamily="49" charset="-122"/>
                <a:cs typeface="JetBrains Mono" pitchFamily="49" charset="-120"/>
              </a:rPr>
              <a:t>New contributors</a:t>
            </a:r>
            <a:endParaRPr lang="en-US" sz="1099" dirty="0"/>
          </a:p>
        </p:txBody>
      </p:sp>
      <p:sp>
        <p:nvSpPr>
          <p:cNvPr id="10" name="Text 8"/>
          <p:cNvSpPr/>
          <p:nvPr/>
        </p:nvSpPr>
        <p:spPr>
          <a:xfrm>
            <a:off x="812800" y="3424048"/>
            <a:ext cx="5023104" cy="323056"/>
          </a:xfrm>
          <a:prstGeom prst="rect">
            <a:avLst/>
          </a:prstGeom>
          <a:noFill/>
          <a:ln/>
        </p:spPr>
        <p:txBody>
          <a:bodyPr wrap="square" lIns="0" tIns="0" rIns="0" bIns="0" rtlCol="0" anchor="t">
            <a:normAutofit/>
          </a:bodyPr>
          <a:lstStyle/>
          <a:p>
            <a:pPr algn="l" indent="0" marL="0">
              <a:lnSpc>
                <a:spcPts val="2065"/>
              </a:lnSpc>
              <a:buNone/>
            </a:pPr>
            <a:r>
              <a:rPr lang="en-US" sz="1475" dirty="0">
                <a:solidFill>
                  <a:srgbClr val="F2EDE8"/>
                </a:solidFill>
                <a:latin typeface="Inter" pitchFamily="34" charset="0"/>
                <a:ea typeface="Inter" pitchFamily="34" charset="-122"/>
                <a:cs typeface="Inter" pitchFamily="34" charset="-120"/>
              </a:rPr>
              <a:t>Learn a codebase in plain language.</a:t>
            </a:r>
            <a:endParaRPr lang="en-US" sz="1475" dirty="0"/>
          </a:p>
        </p:txBody>
      </p:sp>
      <p:sp>
        <p:nvSpPr>
          <p:cNvPr id="11" name="Shape 9"/>
          <p:cNvSpPr/>
          <p:nvPr/>
        </p:nvSpPr>
        <p:spPr>
          <a:xfrm>
            <a:off x="812800" y="3877280"/>
            <a:ext cx="4876800" cy="0"/>
          </a:xfrm>
          <a:prstGeom prst="line">
            <a:avLst/>
          </a:prstGeom>
          <a:noFill/>
          <a:ln w="6350">
            <a:solidFill>
              <a:srgbClr val="3A2C23"/>
            </a:solidFill>
            <a:prstDash val="solid"/>
          </a:ln>
        </p:spPr>
      </p:sp>
      <p:sp>
        <p:nvSpPr>
          <p:cNvPr id="12" name="Text 10"/>
          <p:cNvSpPr/>
          <p:nvPr/>
        </p:nvSpPr>
        <p:spPr>
          <a:xfrm>
            <a:off x="812800" y="4005945"/>
            <a:ext cx="5023104" cy="248671"/>
          </a:xfrm>
          <a:prstGeom prst="rect">
            <a:avLst/>
          </a:prstGeom>
          <a:noFill/>
          <a:ln/>
        </p:spPr>
        <p:txBody>
          <a:bodyPr wrap="square" lIns="0" tIns="0" rIns="0" bIns="0" rtlCol="0" anchor="t">
            <a:normAutofit/>
          </a:bodyPr>
          <a:lstStyle/>
          <a:p>
            <a:pPr algn="l" indent="0" marL="0">
              <a:lnSpc>
                <a:spcPts val="1538"/>
              </a:lnSpc>
              <a:buNone/>
            </a:pPr>
            <a:r>
              <a:rPr lang="en-US" sz="1099" dirty="0">
                <a:solidFill>
                  <a:srgbClr val="F08A57"/>
                </a:solidFill>
                <a:latin typeface="JetBrains Mono" pitchFamily="49" charset="0"/>
                <a:ea typeface="JetBrains Mono" pitchFamily="49" charset="-122"/>
                <a:cs typeface="JetBrains Mono" pitchFamily="49" charset="-120"/>
              </a:rPr>
              <a:t>Teams (next)</a:t>
            </a:r>
            <a:endParaRPr lang="en-US" sz="1099" dirty="0"/>
          </a:p>
        </p:txBody>
      </p:sp>
      <p:sp>
        <p:nvSpPr>
          <p:cNvPr id="13" name="Text 11"/>
          <p:cNvSpPr/>
          <p:nvPr/>
        </p:nvSpPr>
        <p:spPr>
          <a:xfrm>
            <a:off x="812800" y="4267315"/>
            <a:ext cx="5023104" cy="323056"/>
          </a:xfrm>
          <a:prstGeom prst="rect">
            <a:avLst/>
          </a:prstGeom>
          <a:noFill/>
          <a:ln/>
        </p:spPr>
        <p:txBody>
          <a:bodyPr wrap="square" lIns="0" tIns="0" rIns="0" bIns="0" rtlCol="0" anchor="t">
            <a:normAutofit/>
          </a:bodyPr>
          <a:lstStyle/>
          <a:p>
            <a:pPr algn="l" indent="0" marL="0">
              <a:lnSpc>
                <a:spcPts val="2065"/>
              </a:lnSpc>
              <a:buNone/>
            </a:pPr>
            <a:r>
              <a:rPr lang="en-US" sz="1475" dirty="0">
                <a:solidFill>
                  <a:srgbClr val="F2EDE8"/>
                </a:solidFill>
                <a:latin typeface="Inter" pitchFamily="34" charset="0"/>
                <a:ea typeface="Inter" pitchFamily="34" charset="-122"/>
                <a:cs typeface="Inter" pitchFamily="34" charset="-120"/>
              </a:rPr>
              <a:t>Private repositories and team plans.</a:t>
            </a:r>
            <a:endParaRPr lang="en-US" sz="1475" dirty="0"/>
          </a:p>
        </p:txBody>
      </p:sp>
      <p:sp>
        <p:nvSpPr>
          <p:cNvPr id="14" name="Shape 12"/>
          <p:cNvSpPr/>
          <p:nvPr/>
        </p:nvSpPr>
        <p:spPr>
          <a:xfrm>
            <a:off x="812800" y="4720546"/>
            <a:ext cx="4876800" cy="0"/>
          </a:xfrm>
          <a:prstGeom prst="line">
            <a:avLst/>
          </a:prstGeom>
          <a:noFill/>
          <a:ln w="6350">
            <a:solidFill>
              <a:srgbClr val="3A2C23"/>
            </a:solidFill>
            <a:prstDash val="solid"/>
          </a:ln>
        </p:spPr>
      </p:sp>
      <p:sp>
        <p:nvSpPr>
          <p:cNvPr id="15" name="Text 13"/>
          <p:cNvSpPr/>
          <p:nvPr/>
        </p:nvSpPr>
        <p:spPr>
          <a:xfrm>
            <a:off x="812800" y="4849208"/>
            <a:ext cx="5023104" cy="248671"/>
          </a:xfrm>
          <a:prstGeom prst="rect">
            <a:avLst/>
          </a:prstGeom>
          <a:noFill/>
          <a:ln/>
        </p:spPr>
        <p:txBody>
          <a:bodyPr wrap="square" lIns="0" tIns="0" rIns="0" bIns="0" rtlCol="0" anchor="t">
            <a:normAutofit/>
          </a:bodyPr>
          <a:lstStyle/>
          <a:p>
            <a:pPr algn="l" indent="0" marL="0">
              <a:lnSpc>
                <a:spcPts val="1538"/>
              </a:lnSpc>
              <a:buNone/>
            </a:pPr>
            <a:r>
              <a:rPr lang="en-US" sz="1099" dirty="0">
                <a:solidFill>
                  <a:srgbClr val="F08A57"/>
                </a:solidFill>
                <a:latin typeface="JetBrains Mono" pitchFamily="49" charset="0"/>
                <a:ea typeface="JetBrains Mono" pitchFamily="49" charset="-122"/>
                <a:cs typeface="JetBrains Mono" pitchFamily="49" charset="-120"/>
              </a:rPr>
              <a:t>Our promise</a:t>
            </a:r>
            <a:endParaRPr lang="en-US" sz="1099" dirty="0"/>
          </a:p>
        </p:txBody>
      </p:sp>
      <p:sp>
        <p:nvSpPr>
          <p:cNvPr id="16" name="Text 14"/>
          <p:cNvSpPr/>
          <p:nvPr/>
        </p:nvSpPr>
        <p:spPr>
          <a:xfrm>
            <a:off x="812800" y="5110578"/>
            <a:ext cx="5023104" cy="323056"/>
          </a:xfrm>
          <a:prstGeom prst="rect">
            <a:avLst/>
          </a:prstGeom>
          <a:noFill/>
          <a:ln/>
        </p:spPr>
        <p:txBody>
          <a:bodyPr wrap="square" lIns="0" tIns="0" rIns="0" bIns="0" rtlCol="0" anchor="t">
            <a:normAutofit/>
          </a:bodyPr>
          <a:lstStyle/>
          <a:p>
            <a:pPr algn="l" indent="0" marL="0">
              <a:lnSpc>
                <a:spcPts val="2065"/>
              </a:lnSpc>
              <a:buNone/>
            </a:pPr>
            <a:r>
              <a:rPr lang="en-US" sz="1475" dirty="0">
                <a:solidFill>
                  <a:srgbClr val="F2EDE8"/>
                </a:solidFill>
                <a:latin typeface="Inter" pitchFamily="34" charset="0"/>
                <a:ea typeface="Inter" pitchFamily="34" charset="-122"/>
                <a:cs typeface="Inter" pitchFamily="34" charset="-120"/>
              </a:rPr>
              <a:t>It proves the fix, or says it can't.</a:t>
            </a:r>
            <a:endParaRPr lang="en-US" sz="1475" dirty="0"/>
          </a:p>
        </p:txBody>
      </p:sp>
      <p:sp>
        <p:nvSpPr>
          <p:cNvPr id="17" name="Text 15"/>
          <p:cNvSpPr/>
          <p:nvPr/>
        </p:nvSpPr>
        <p:spPr>
          <a:xfrm>
            <a:off x="812800" y="5611434"/>
            <a:ext cx="5023104" cy="255965"/>
          </a:xfrm>
          <a:prstGeom prst="rect">
            <a:avLst/>
          </a:prstGeom>
          <a:noFill/>
          <a:ln/>
        </p:spPr>
        <p:txBody>
          <a:bodyPr wrap="square" lIns="0" tIns="0" rIns="0" bIns="0" rtlCol="0" anchor="t">
            <a:normAutofit/>
          </a:bodyPr>
          <a:lstStyle/>
          <a:p>
            <a:pPr algn="l" indent="0" marL="0">
              <a:lnSpc>
                <a:spcPts val="1300"/>
              </a:lnSpc>
              <a:buNone/>
            </a:pPr>
            <a:r>
              <a:rPr lang="en-US" sz="950" dirty="0">
                <a:solidFill>
                  <a:srgbClr val="A89C92"/>
                </a:solidFill>
                <a:latin typeface="JetBrains Mono" pitchFamily="49" charset="0"/>
                <a:ea typeface="JetBrains Mono" pitchFamily="49" charset="-122"/>
                <a:cs typeface="JetBrains Mono" pitchFamily="49" charset="-120"/>
              </a:rPr>
              <a:t>Niranjan Iyer · Swarali Patil · Devansh Narlawar · Sarthak Viche</a:t>
            </a:r>
            <a:endParaRPr lang="en-US" sz="950" dirty="0"/>
          </a:p>
        </p:txBody>
      </p:sp>
      <p:pic>
        <p:nvPicPr>
          <p:cNvPr id="18" name="Image 0" descr="Ring with a check mark">    </p:cNvPr>
          <p:cNvPicPr>
            <a:picLocks noChangeAspect="1"/>
          </p:cNvPicPr>
          <p:nvPr/>
        </p:nvPicPr>
        <p:blipFill>
          <a:blip r:embed="rId1"/>
          <a:srcRect l="0" r="0" t="0" b="0"/>
          <a:stretch/>
        </p:blipFill>
        <p:spPr>
          <a:xfrm>
            <a:off x="6502400" y="1109058"/>
            <a:ext cx="812800" cy="812800"/>
          </a:xfrm>
          <a:prstGeom prst="rect">
            <a:avLst/>
          </a:prstGeom>
        </p:spPr>
      </p:pic>
      <p:sp>
        <p:nvSpPr>
          <p:cNvPr id="19" name="Text 16"/>
          <p:cNvSpPr/>
          <p:nvPr/>
        </p:nvSpPr>
        <p:spPr>
          <a:xfrm>
            <a:off x="6502400" y="2125058"/>
            <a:ext cx="502310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0C07"/>
                </a:solidFill>
                <a:latin typeface="JetBrains Mono" pitchFamily="49" charset="0"/>
                <a:ea typeface="JetBrains Mono" pitchFamily="49" charset="-122"/>
                <a:cs typeface="JetBrains Mono" pitchFamily="49" charset="-120"/>
              </a:rPr>
              <a:t>[ In one line ]</a:t>
            </a:r>
            <a:endParaRPr lang="en-US" sz="1200" dirty="0"/>
          </a:p>
        </p:txBody>
      </p:sp>
      <p:sp>
        <p:nvSpPr>
          <p:cNvPr id="20" name="Text 17"/>
          <p:cNvSpPr/>
          <p:nvPr>
            <p:ph type="title"/>
          </p:nvPr>
        </p:nvSpPr>
        <p:spPr>
          <a:xfrm>
            <a:off x="6502400" y="2573604"/>
            <a:ext cx="5023104" cy="1813001"/>
          </a:xfrm>
          <a:prstGeom prst="rect">
            <a:avLst/>
          </a:prstGeom>
          <a:noFill/>
          <a:ln/>
        </p:spPr>
        <p:txBody>
          <a:bodyPr wrap="square" lIns="0" tIns="0" rIns="0" bIns="0" rtlCol="0" anchor="t">
            <a:normAutofit/>
          </a:bodyPr>
          <a:lstStyle/>
          <a:p>
            <a:pPr algn="l" indent="0" marL="0">
              <a:lnSpc>
                <a:spcPts val="6120"/>
              </a:lnSpc>
              <a:buNone/>
            </a:pPr>
            <a:r>
              <a:rPr lang="en-US" sz="6000" b="1" i="0" spc="-150" kern="0" dirty="0">
                <a:solidFill>
                  <a:srgbClr val="140C07"/>
                </a:solidFill>
                <a:latin typeface="Inter" pitchFamily="34" charset="0"/>
                <a:ea typeface="Inter" pitchFamily="34" charset="-122"/>
                <a:cs typeface="Inter" pitchFamily="34" charset="-120"/>
              </a:rPr>
              <a:t>Bugs in. Proof out.</a:t>
            </a:r>
            <a:endParaRPr lang="en-US" sz="6000" dirty="0"/>
          </a:p>
        </p:txBody>
      </p:sp>
      <p:sp>
        <p:nvSpPr>
          <p:cNvPr id="21" name="Text 18"/>
          <p:cNvSpPr/>
          <p:nvPr/>
        </p:nvSpPr>
        <p:spPr>
          <a:xfrm>
            <a:off x="6502400" y="4564404"/>
            <a:ext cx="5023104" cy="100670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0C07"/>
                </a:solidFill>
                <a:latin typeface="Inter" pitchFamily="34" charset="0"/>
                <a:ea typeface="Inter" pitchFamily="34" charset="-122"/>
                <a:cs typeface="Inter" pitchFamily="34" charset="-120"/>
              </a:rPr>
              <a:t>PatchPilot turns a GitHub issue into a verified fix and a draft PR. A human approves every one.</a:t>
            </a:r>
            <a:endParaRPr lang="en-US" sz="1600" dirty="0"/>
          </a:p>
        </p:txBody>
      </p:sp>
      <p:sp>
        <p:nvSpPr>
          <p:cNvPr id="22" name="Text 19"/>
          <p:cNvSpPr/>
          <p:nvPr/>
        </p:nvSpPr>
        <p:spPr>
          <a:xfrm>
            <a:off x="812800" y="6206257"/>
            <a:ext cx="392430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C92"/>
                </a:solidFill>
                <a:latin typeface="JetBrains Mono" pitchFamily="49" charset="0"/>
                <a:ea typeface="JetBrains Mono" pitchFamily="49" charset="-122"/>
                <a:cs typeface="JetBrains Mono" pitchFamily="49" charset="-120"/>
              </a:rPr>
              <a:t>PatchPilot</a:t>
            </a:r>
            <a:endParaRPr lang="en-US" sz="1200" dirty="0"/>
          </a:p>
        </p:txBody>
      </p:sp>
      <p:sp>
        <p:nvSpPr>
          <p:cNvPr id="23" name="Text 20"/>
          <p:cNvSpPr/>
          <p:nvPr/>
        </p:nvSpPr>
        <p:spPr>
          <a:xfrm>
            <a:off x="7454900" y="6206257"/>
            <a:ext cx="3924300" cy="27074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40C07"/>
                </a:solidFill>
                <a:latin typeface="JetBrains Mono" pitchFamily="49" charset="0"/>
                <a:ea typeface="JetBrains Mono" pitchFamily="49" charset="-122"/>
                <a:cs typeface="JetBrains Mono" pitchFamily="49" charset="-120"/>
              </a:rPr>
              <a:t>06 / 06</a:t>
            </a:r>
            <a:endParaRPr lang="en-US" sz="1200" dirty="0"/>
          </a:p>
        </p:txBody>
      </p:sp>
    </p:spTree>
  </p:cSld>
  <p:clrMapOvr>
    <a:masterClrMapping/>
  </p:clrMapOvr>
</p:sld>
</file>

<file path=ppt/theme/theme1.xml><?xml version="1.0" encoding="utf-8"?>
<a:theme xmlns:a="http://schemas.openxmlformats.org/drawingml/2006/main" name="PatchPilot">
  <a:themeElements>
    <a:clrScheme name="PatchPilot">
      <a:dk1>
        <a:srgbClr val="3B1B0D"/>
      </a:dk1>
      <a:lt1>
        <a:srgbClr val="F2EDE8"/>
      </a:lt1>
      <a:dk2>
        <a:srgbClr val="4D3023"/>
      </a:dk2>
      <a:lt2>
        <a:srgbClr val="C4B9B1"/>
      </a:lt2>
      <a:accent1>
        <a:srgbClr val="F08A57"/>
      </a:accent1>
      <a:accent2>
        <a:srgbClr val="E8652B"/>
      </a:accent2>
      <a:accent3>
        <a:srgbClr val="F7955A"/>
      </a:accent3>
      <a:accent4>
        <a:srgbClr val="C4511E"/>
      </a:accent4>
      <a:accent5>
        <a:srgbClr val="8A5A25"/>
      </a:accent5>
      <a:accent6>
        <a:srgbClr val="B2430F"/>
      </a:accent6>
      <a:hlink>
        <a:srgbClr val="0563C1"/>
      </a:hlink>
      <a:folHlink>
        <a:srgbClr val="954F72"/>
      </a:folHlink>
    </a:clrScheme>
    <a:fontScheme name="PatchPilot">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PatchPilot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2026-10-30T06:48:39Z</dcterms:created>
  <dcterms:modified xsi:type="dcterms:W3CDTF">2026-10-30T06:48:39Z</dcterms:modified>
</cp:coreProperties>
</file>